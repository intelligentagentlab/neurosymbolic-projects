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56ed98e-531a-9e11-7be0-0512574fd42f}">
          <p14:sldIdLst>
            <p14:sldId id="256"/>
            <p14:sldId id="257"/>
            <p14:sldId id="258"/>
          </p14:sldIdLst>
        </p14:section>
        <p14:section name="배경" id="{eb262b33-ff7c-8044-cec1-28396cdad585}">
          <p14:sldIdLst>
            <p14:sldId id="259"/>
            <p14:sldId id="260"/>
            <p14:sldId id="261"/>
            <p14:sldId id="262"/>
            <p14:sldId id="263"/>
          </p14:sldIdLst>
        </p14:section>
        <p14:section name="의미 손실" id="{800ad76f-ce3b-da1e-23c7-c58d5a6dd8b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실험 설계와 구현" id="{f81f0b1a-842e-9be3-7d60-e39b80148c46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실험 결과" id="{a6441a44-4208-42cb-cb3f-d66c7188dca0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논문 재현하기" id="{ca1d030f-7a0c-546b-4ab3-0c78532c342d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마무리" id="{783ee2c1-6d75-4db1-4512-7f226e765c8d}">
          <p14:sldIdLst>
            <p14:sldId id="292"/>
            <p14:sldId id="293"/>
            <p14:sldId id="294"/>
            <p14:sldId id="295"/>
            <p14:sldId id="296"/>
          </p14:sldIdLst>
        </p14:section>
        <p14:section name="실습" id="{f7d96d28-4a65-bee0-0ce0-39337b533837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+mn-lt"/>
              </a:rPr>
              <a:t>의미 손실: 검증 정확도 (%) vs λ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라벨 100장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0.01</c:v>
                  </c:pt>
                  <c:pt idx="1">
                    <c:v>0.03</c:v>
                  </c:pt>
                  <c:pt idx="2">
                    <c:v>0.1</c:v>
                  </c:pt>
                  <c:pt idx="3">
                    <c:v>0.3</c:v>
                  </c:pt>
                  <c:pt idx="4">
                    <c:v>1</c:v>
                  </c:pt>
                  <c:pt idx="5">
                    <c:v>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80.7</c:v>
                </c:pt>
                <c:pt idx="1">
                  <c:v>82.2</c:v>
                </c:pt>
                <c:pt idx="2">
                  <c:v>84</c:v>
                </c:pt>
                <c:pt idx="3">
                  <c:v>83.5</c:v>
                </c:pt>
                <c:pt idx="4">
                  <c:v>82.9</c:v>
                </c:pt>
                <c:pt idx="5">
                  <c:v>82.5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라벨 500장</c:v>
                </c:pt>
              </c:strCache>
            </c:strRef>
          </c:tx>
          <c:spPr>
            <a:solidFill>
              <a:srgbClr val="1BAF7A"/>
            </a:solidFill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0.01</c:v>
                  </c:pt>
                  <c:pt idx="1">
                    <c:v>0.03</c:v>
                  </c:pt>
                  <c:pt idx="2">
                    <c:v>0.1</c:v>
                  </c:pt>
                  <c:pt idx="3">
                    <c:v>0.3</c:v>
                  </c:pt>
                  <c:pt idx="4">
                    <c:v>1</c:v>
                  </c:pt>
                  <c:pt idx="5">
                    <c:v>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90.5</c:v>
                </c:pt>
                <c:pt idx="1">
                  <c:v>91.2</c:v>
                </c:pt>
                <c:pt idx="2">
                  <c:v>91.4</c:v>
                </c:pt>
                <c:pt idx="3">
                  <c:v>92.3</c:v>
                </c:pt>
                <c:pt idx="4">
                  <c:v>92.9</c:v>
                </c:pt>
                <c:pt idx="5">
                  <c:v>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라벨 1000장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0.01</c:v>
                  </c:pt>
                  <c:pt idx="1">
                    <c:v>0.03</c:v>
                  </c:pt>
                  <c:pt idx="2">
                    <c:v>0.1</c:v>
                  </c:pt>
                  <c:pt idx="3">
                    <c:v>0.3</c:v>
                  </c:pt>
                  <c:pt idx="4">
                    <c:v>1</c:v>
                  </c:pt>
                  <c:pt idx="5">
                    <c:v>3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92.9</c:v>
                </c:pt>
                <c:pt idx="1">
                  <c:v>93.2</c:v>
                </c:pt>
                <c:pt idx="2">
                  <c:v>93.3</c:v>
                </c:pt>
                <c:pt idx="3">
                  <c:v>94</c:v>
                </c:pt>
                <c:pt idx="4">
                  <c:v>93.8</c:v>
                </c:pt>
                <c:pt idx="5">
                  <c:v>94.1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2606D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2606D"/>
                    </a:solidFill>
                    <a:latin typeface="Arial"/>
                  </a:rPr>
                  <a:t>λ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+mn-lt"/>
              </a:rPr>
              <a:t>테스트 정확도 (%), 5시드 평균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76.2</c:v>
                </c:pt>
                <c:pt idx="1">
                  <c:v>90.9</c:v>
                </c:pt>
                <c:pt idx="2">
                  <c:v>93.9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엔트로피 최소화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79.6</c:v>
                </c:pt>
                <c:pt idx="1">
                  <c:v>92.6</c:v>
                </c:pt>
                <c:pt idx="2">
                  <c:v>94.8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의미 손실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80.6</c:v>
                </c:pt>
                <c:pt idx="1">
                  <c:v>93</c:v>
                </c:pt>
                <c:pt idx="2">
                  <c:v>95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+mn-lt"/>
              </a:rPr>
              <a:t>원-핫 비율 (%) : σ(zᵢ) &gt; 0.5인 출력이 정확히 1개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64.1</c:v>
                </c:pt>
                <c:pt idx="1">
                  <c:v>76</c:v>
                </c:pt>
                <c:pt idx="2">
                  <c:v>77.5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엔트로피 최소화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84.5</c:v>
                </c:pt>
                <c:pt idx="1">
                  <c:v>87</c:v>
                </c:pt>
                <c:pt idx="2">
                  <c:v>87.5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의미 손실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라벨 100장</c:v>
                  </c:pt>
                  <c:pt idx="1">
                    <c:v>라벨 500장</c:v>
                  </c:pt>
                  <c:pt idx="2">
                    <c:v>라벨 1000장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99.2</c:v>
                </c:pt>
                <c:pt idx="1">
                  <c:v>99.8</c:v>
                </c:pt>
                <c:pt idx="2">
                  <c:v>99.9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2606D"/>
                </a:solidFill>
                <a:latin typeface="+mn-lt"/>
              </a:rPr>
              <a:t>σ(zᵢ) &gt; 0.5인 출력 개수의 분포 (%), 라벨 100장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0개</c:v>
                  </c:pt>
                  <c:pt idx="1">
                    <c:v>1개</c:v>
                  </c:pt>
                  <c:pt idx="2">
                    <c:v>2개</c:v>
                  </c:pt>
                  <c:pt idx="3">
                    <c:v>3개 이상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60.7</c:v>
                </c:pt>
                <c:pt idx="2">
                  <c:v>30.4</c:v>
                </c:pt>
                <c:pt idx="3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엔트로피 최소화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0개</c:v>
                  </c:pt>
                  <c:pt idx="1">
                    <c:v>1개</c:v>
                  </c:pt>
                  <c:pt idx="2">
                    <c:v>2개</c:v>
                  </c:pt>
                  <c:pt idx="3">
                    <c:v>3개 이상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85.3</c:v>
                </c:pt>
                <c:pt idx="2">
                  <c:v>13.5</c:v>
                </c:pt>
                <c:pt idx="3">
                  <c:v>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의미 손실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0개</c:v>
                  </c:pt>
                  <c:pt idx="1">
                    <c:v>1개</c:v>
                  </c:pt>
                  <c:pt idx="2">
                    <c:v>2개</c:v>
                  </c:pt>
                  <c:pt idx="3">
                    <c:v>3개 이상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</c:v>
                </c:pt>
                <c:pt idx="1">
                  <c:v>99.2</c:v>
                </c:pt>
                <c:pt idx="2">
                  <c:v>0.3</c:v>
                </c:pt>
                <c:pt idx="3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CE만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0.1612</c:v>
                </c:pt>
                <c:pt idx="1">
                  <c:v>0.1969</c:v>
                </c:pt>
                <c:pt idx="2">
                  <c:v>0.8319</c:v>
                </c:pt>
                <c:pt idx="3">
                  <c:v>0.1905</c:v>
                </c:pt>
                <c:pt idx="4">
                  <c:v>0.1097</c:v>
                </c:pt>
                <c:pt idx="5">
                  <c:v>0.7084</c:v>
                </c:pt>
                <c:pt idx="6">
                  <c:v>0.939</c:v>
                </c:pt>
                <c:pt idx="7">
                  <c:v>0.1097</c:v>
                </c:pt>
                <c:pt idx="8">
                  <c:v>0.3289</c:v>
                </c:pt>
                <c:pt idx="9">
                  <c:v>0.0826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엔트로피 최소화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0.0024</c:v>
                </c:pt>
                <c:pt idx="1">
                  <c:v>0.0008</c:v>
                </c:pt>
                <c:pt idx="2">
                  <c:v>1</c:v>
                </c:pt>
                <c:pt idx="3">
                  <c:v>0.0008</c:v>
                </c:pt>
                <c:pt idx="4">
                  <c:v>0.0009</c:v>
                </c:pt>
                <c:pt idx="5">
                  <c:v>0.3589</c:v>
                </c:pt>
                <c:pt idx="6">
                  <c:v>0.0697</c:v>
                </c:pt>
                <c:pt idx="7">
                  <c:v>0.0035</c:v>
                </c:pt>
                <c:pt idx="8">
                  <c:v>0.0106</c:v>
                </c:pt>
                <c:pt idx="9">
                  <c:v>0.0003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의미 손실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0.0002</c:v>
                </c:pt>
                <c:pt idx="1">
                  <c:v>0.0001</c:v>
                </c:pt>
                <c:pt idx="2">
                  <c:v>0.9994</c:v>
                </c:pt>
                <c:pt idx="3">
                  <c:v>0.0001</c:v>
                </c:pt>
                <c:pt idx="4">
                  <c:v>0.0001</c:v>
                </c:pt>
                <c:pt idx="5">
                  <c:v>0.0002</c:v>
                </c:pt>
                <c:pt idx="6">
                  <c:v>0.0003</c:v>
                </c:pt>
                <c:pt idx="7">
                  <c:v>0.0001</c:v>
                </c:pt>
                <c:pt idx="8">
                  <c:v>0.0002</c:v>
                </c:pt>
                <c:pt idx="9">
                  <c:v>0.0001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2606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52606D"/>
                </a:solidFill>
                <a:latin typeface="+mn-lt"/>
              </a:rPr>
              <a:t>라벨 100장, 테스트 정확도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논문 표 1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CE만</c:v>
                  </c:pt>
                  <c:pt idx="1">
                    <c:v>+ 엔트로피</c:v>
                  </c:pt>
                  <c:pt idx="2">
                    <c:v>+ 의미 손실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78.46</c:v>
                </c:pt>
                <c:pt idx="1">
                  <c:v>96.27</c:v>
                </c:pt>
                <c:pt idx="2">
                  <c:v>98.38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우리 실험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CE만</c:v>
                  </c:pt>
                  <c:pt idx="1">
                    <c:v>+ 엔트로피</c:v>
                  </c:pt>
                  <c:pt idx="2">
                    <c:v>+ 의미 손실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76.2</c:v>
                </c:pt>
                <c:pt idx="1">
                  <c:v>79.6</c:v>
                </c:pt>
                <c:pt idx="2">
                  <c:v>80.6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606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시작 · 약 1.3분] 강의 소개. 오늘은 가장 단순한 논리 지식인 '정답은 정확히 하나'를 신경망 학습에 넣는 방법을 배운다. 이론 → 실험 → 논문 재현 순서. CIFAR-100 계층 규칙 강의의 기초편에 해당한다.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 시작 · 약 1.3분] 전체 구성. 1~2부는 개념, 3~4부는 우리 실험, 5부는 원 논문을 직접 재현해 본 이야기. 5부는 연구를 '읽고 확인하는 법'에 관한 내용이다.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 시작 · 약 1.3분] 동기. 같은 신경망이라도 라벨이 100장이면 76%, 55,000장이면 98.8%. 나머지 54,900장의 이미지는 있는데 라벨만 없다. 사람이 아는 '숫자는 정확히 하나'라는 지식으로 이 이미지들을 학습에 쓸 수 있을까? 이것이 오늘의 질문이다.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 시작 · 약 0.6분] 1부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[4:33 시작 · 약 1.9분] MNIST는 28×28 흑백 손글씨 숫자 7만 장. 딥러닝의 'Hello World'. 우리는 학습 6만 장 중 5천 장을 λ 선택용 검증셋으로 떼고, 55,000장에서 라벨을 100/500/1,000장만 남긴다(클래스별 같은 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[6:25 시작 · 약 1.9분] 준지도 학습의 핵심 질문: 라벨 없는 데이터에서 무엇을 배울 수 있나? 교차 엔트로피는 라벨이 있어야 계산된다. 라벨 없는 데이터에 쓸 수 있는 손실이 필요하다 — 오늘은 두 가지: 의미 손실(지식)과 엔트로피 최소화(확신).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[8:17 시작 · 약 1.9분] 같은 10개의 로짓을 두 가지로 확률로 바꿀 수 있다. 소프트맥스는 합이 1인 분포(정확히 하나가 구조적으로 강제됨). 시그모이드는 10개의 독립적인 '예/아니오'. 의미 손실은 시그모이드 해석을 쓴다 — 그래야 '정확히 하나'가 지켜지는지를 물을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[10:08 시작 · 약 1.9분] 지식을 명제논리로 쓴다. 변수 10개(이 이미지는 숫자 i다). '적어도 하나' 절 1개 + '둘 다는 아니다' 절 45개 = 46개 절. 2^10=1,024개 세계 중 만족하는 것은 원-핫 10개뿐. 이 지식은 라벨이 필요 없다: 어떤 이미지든 성립한다.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 시작 · 약 0.7분] 2부: 이론의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 시작 · 약 2.2분] 변수 3개로 줄여서 본다. 출력 p=(0.8, 0.1, 0.1)을 독립 동전 3개로 보면 세계 8개 각각의 확률이 나온다(참이면 p, 거짓이면 1−p를 곱함). 원-핫 세계 3개의 확률을 더하면 0.684 — 이것이 '지식을 만족할 확률'이다.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[14:53 시작 · 약 2.2분] 정의. Pr(α)는 만족하는 세계들의 확률 합, 의미 손실은 그 음의 로그. 출력이 원-핫에 가까울수록 Pr(α)→1, 손실→0. 미분 가능하므로 다른 손실에 더해 역전파할 수 있고, 라벨이 필요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[17:07 시작 · 약 2.2분] 펭귄 예제(P→B, P→¬F)로 원리를 보인다. 원리 1: 변수 하나로 경우를 나누면 겹치지 않으므로 더하면 된다(섀넌 분해). 원리 2: 제약이 없는 변수는 모든 값의 합이 1이라 사라진다. 원리 3: 독립인 부분은 곱으로 쪼개진다. 결과: 세계 5개의 합이 항 2개로 줄어든다. 지식 컴파일(SDD, d-DNNF)은 이 원리를 회로로 자동화한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[19:20 시작 · 약 2.2분] exactly-one에 원리를 적용. 원리 1: '어느 변수가 참인가'로 n개의 겹치지 않는 경우로 나눈다. 원리 3: 각 경우는 독립 곱. 그다음은 대수: 공통 인수 ∏(1−p_j)를 빼면 p_i/(1−p_i)=e^{z_i}(오즈)만 남는다. 로그를 취하면 logsumexp와 softplus — PyTorch에 안정적인 구현이 있다. 계산량 O(n), 1,024개 세계를 나열하지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[21:33 시작 · 약 2.2분] Pr(α)는 각 p_i에 대해 1차식이라 기울기 = (X_i를 참으로 했을 때의 만족 확률) − (거짓으로 했을 때). p=(0.8,0.1,0.1)에서 1등은 +0.63, 나머지는 −0.56. 즉 의미 손실은 이미 앞선 클래스를 더 확신하게 하고 나머지를 끈다. 정답을 모르는 채 '현재 1등'을 밀어준다 — 라벨 없는 데이터에서 '확신'을 만드는 원리이자, 틀린 1등도 밀어줄 수 있는 위험.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[23:47 시작 · 약 2.2분] 의미 손실과 가장 가까운 기존 기법은 엔트로피 최소화(Grandvalet &amp; Bengio, 2005). 소프트맥스 분포의 엔트로피를 줄여 확신하게 만든다. 둘 다 '확신'을 만들지만 대상이 다르다: 엔트로피는 소프트맥스(이동 불변), 의미 손실은 시그모이드의 절대값. 그래서 엔트로피 최소화는 시그모이드 기준의 '정확히 하나'를 보장하지 않는다 — 결과에서 확인한다. 또 엔트로피는 복잡한 논리 규칙으로 일반화하기 어렵다.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[25:60 시작 · 약 0.5분] 3부.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[26:30 시작 · 약 1.6분] 두 가지 질문. Q1은 원 논문의 주장, Q2는 대조 실험. 엔트로피 최소화가 없으면 '지식 덕분'인지 '확신 덕분'인지 구분할 수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[28:08 시작 · 약 1.6분] 모형은 원 논문과 같은 크기의 MLP(784-1000-500-250-250-250-10). 공간 구조를 쓰지 않는 '순열 불변' 설정이라 CNN이나 기하 증강은 쓰지 않는다. 입력 잡음 σ=0.3은 원 논문의 사다리 네트워크 설정을 따른 것. 매 스텝 라벨 100장 + 비라벨 250장, 30에폭(6,600스텝), 1회 학습 약 20초.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[29:47 시작 · 약 1.6분] 라벨 있는 이미지에는 CE, 모든 이미지(라벨 있는 것 포함)에 정규화 항. 정규화 항이 의미 손실이면 '지식', 엔트로피면 '확신'. 같은 로짓을 CE에는 소프트맥스, 의미 손실에는 시그모이드로 해석한다(원 논문 구현 방식).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[31:25 시작 · 약 1.6분] 정확도 외에 '규칙을 얼마나 지키는가'를 두 가지로 본다. 평균 Pr(EO)는 확률적 준수, 원-핫 비율은 '0.5를 넘는 출력이 정확히 1개인가'라는 이산적 준수.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[33:04 시작 · 약 1.6분] 실제 코드. exactly-one은 한 줄. 엔트로피 최소화는 소프트맥스의 로그 확률로 계산. 두 손실 모두 배치 평균. 모든 이미지에 적용하므로 라벨이 필요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[34:43 시작 · 약 1.6분] 학습 스텝 하나. 라벨 있는 배치와 라벨 없는 배치를 이어 붙여 한 번에 통과시킨다. CE는 앞쪽(라벨 있는) 부분에만, 정규화 항은 전체에. 모든 방법이 같은 스텝 수로 학습한다.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[36:21 시작 · 약 1.6분] 손으로 유도한 식은 틀릴 수 있다. 정의대로 모든 세계를 더하는 기준 구현(wmc_bruteforce)과 대조한다: 논문 표 값, 클래스 10개(2^10=1,024 세계)에서의 일치, 기울기 일치, 큰 로짓에서의 안정성. 8개 테스트 모두 통과.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[38:00 시작 · 약 0.5분] 4부.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[38:29 시작 · 약 1.6분] 의미 손실의 λ에 따른 검증 정확도(시드 0). 라벨이 많을수록 최적 λ가 커지는 경향(0.1 → 1 → 3). CIFAR 실험과 달리 λ=3에서도 학습이 무너지지 않았다. 엔트로피 최소화는 세 경우 모두 λ=0.3이 선택되었다.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[40:04 시작 · 약 1.6분] 핵심 그림. 세 라벨 수 모두 의미 손실(주황)이 가장 높다. 라벨이 적을수록 CE 대비 이득이 크다. 그러나 엔트로피 최소화(청록)와의 차이는 작다 — 정확도 이득의 대부분은 두 방법이 공유하는 '확신' 효과.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[41:39 시작 · 약 1.6분] 표로 보면. 라벨 100장에서는 시드 간 편차(±3)가 크다 — 어떤 100장을 뽑느냐에 따라 결과가 크게 달라진다. 의미 손실은 CE보다 5개 시드 모두 높다(믿을 만한 차이). 엔트로피 대비는 차이가 편차보다 작아 확실하다고 말하기 어렵다.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[43:14 시작 · 약 1.6분] 정확도로는 비슷했던 두 방법이 규칙 준수에서는 크게 다르다. 의미 손실은 원-핫 비율을 99% 이상으로 올린다. 엔트로피 최소화는 85~87%: 소프트맥스는 확신에 차 있지만 시그모이드로 보면 여러 출력이 동시에 '참'이다. 이것이 '확신'과 '지식'의 차이.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[44:50 시작 · 약 1.6분] 라벨 100장, 시드 0으로 학습한 세 모델의 실제 테스트 출력. 오른쪽 예시(정답 2)에서 CE만 쓴 모델은 2, 5, 6의 시그모이드가 모두 0.5를 넘고 6이 가장 높아 오답이다. CE만 쓴 모델은 테스트 이미지의 약 39%에서 0.5를 넘는 출력이 2개 이상이다. 엔트로피 최소화도 15%. 의미 손실은 거의 정확히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[46:25 시작 · 약 1.6분] 4부 정리. 정확도: 둘 다 '확신'을 만들어서 비슷하게 오른다. 규칙 준수: 의미 손실만 '정확히 하나'를 지킨다. CIFAR-100 계층 규칙 실험에서도 같은 패턴이었다: 정확도는 exactly-one 부분, 규칙 준수는 함의 규칙.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[48:00 시작 · 약 0.5분] 5부: 연구를 읽고 확인하는 법. 대학원생에게 특히 중요한 내용.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[48:31 시작 · 약 1.7분] 원 논문 표 1. 라벨 100장에서 의미 손실 98.38%, 엔트로피 96.27%, 기준선 78.46%. 우리 기준선(76.2%)은 비슷한데, 의미 손실은 80.6%로 18%p나 낮다. 엔트로피도 마찬가지. 무엇이 다를까? 논문 본문만으로는 알 수 없어 공식 코드를 읽었다.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[50:12 시작 · 약 1.7분] github.com/UCLA-StarAI/Semantic-Loss의 semi_supervised/semantic.py를 읽고 정리한 차이. 증강(크롭)은 본문의 '순열 불변' 설명과 다르고, 학습률·학습 길이도 본문과 다르다. 검증셋 없이 학습 중 테스트 정확도를 출력한다. README는 '라벨 100장 결과는 매우 불안정하며 환경과 TensorFlow 버전에도 영향을 받는다'고 스스로 경고한다.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[51:54 시작 · 약 1.7분] 공식 코드를 PyTorch로 충실히 이식(paper_protocol.py)하고, README가 중요하다고 한 배치 크기와 손실 가중치를 검증셋으로 튜닝한 뒤 5시드로 평가. 테스트는 마지막 스텝 값만 사용. 기준선은 논문보다 오히려 높지만, 라벨 없는 데이터를 쓰는 기법의 큰 이득은 재현되지 않았다.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[53:36 시작 · 약 1.7분] 확인한 것: (1) 테스트셋 엿보기로는 설명이 안 된다 — 학습 곡선 전체에서 최고값을 골라도 87.8%. (2) 공식 설정은 시그모이드 BCE를 쓰는데, BCE가 이미 출력을 원-핫으로 밀어서 CE만 써도 Pr(EO)=0.96 — 의미 손실이 더할 일이 거의 없다. 확인하지 못한 것: 잡음·학습률 튜닝, TF1의 수치 세부, 시드 10개. 그래서 결론은 '재현 불가'가 아니라 '시도한 범위에서 찾지 못함'.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[55:18 시작 · 약 1.7분] 5부 정리. 학생들이 논문을 읽고 재현할 때의 체크리스트. 특히 '대조군'과 '공식 코드'가 핵심. 그리고 의미 손실의 개념 자체(규칙 준수를 만든다)는 두 설정 모두에서 확인되었다는 점을 강조 — 수치가 재현되지 않는다고 아이디어가 틀린 것은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[57:00 시작 · 약 0.3분] 6부.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[57:21 시작 · 약 1.2분] 세 줄 요약.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[58:31 시작 · 약 1.2분] 3~5분. 정답은 다음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[59:40 시작 · 약 1.2분] 해설.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[60:50 시작 · 약 1.2분] 추가 읽기.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[부록] 부록: 수업 후 실습용.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[부록] MLP라 CPU에서도 돈다(1회 수십 초~수 분). 논문 재현 스크립트는 2시간 이상 걸리므로 과제용으로는 일부 설정만 돌리도록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[부록] 난이도 순. 과제 3은 이번에 확인하지 못한 부분(잡음·학습률)을 직접 탐색해 보는 과제.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607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CCCDC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CCCD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</a:rPr>
              <a:t>의미 손실 · MNIST exactly-one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3" Type="http://schemas.openxmlformats.org/officeDocument/2006/relationships/chart" Target="/ppt/charts/chart5.xml"/><Relationship Id="rId2" Type="http://schemas.openxmlformats.org/officeDocument/2006/relationships/image" Target="../media/image-2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지식으로 라벨을 대신할 수 있을까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CCCDC"/>
                </a:solidFill>
              </a:rPr>
              <a:t>MNIST로 배우는 의미 손실(Semantic Loss) — exactly-one 제약 하나로 시작하기</a:t>
            </a:r>
            <a:endParaRPr lang="en-US" sz="2000" dirty="0"/>
          </a:p>
        </p:txBody>
      </p:sp>
      <p:sp>
        <p:nvSpPr>
          <p:cNvPr id="4" name="pill"/>
          <p:cNvSpPr/>
          <p:nvPr/>
        </p:nvSpPr>
        <p:spPr>
          <a:xfrm>
            <a:off x="548640" y="10972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Neural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</a:t>
            </a:r>
            <a:endParaRPr lang="en-US" sz="2000" dirty="0"/>
          </a:p>
        </p:txBody>
      </p:sp>
      <p:sp>
        <p:nvSpPr>
          <p:cNvPr id="7" name="pill"/>
          <p:cNvSpPr/>
          <p:nvPr/>
        </p:nvSpPr>
        <p:spPr>
          <a:xfrm>
            <a:off x="2194560" y="1097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Symbolic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</a:rPr>
              <a:t>뉴로심볼릭 AI 기초 강의 · 약 62분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오늘의 흐름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배경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MNIST, 준지도 학습, 출력 해석, exactly-one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72200" y="137160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ag"/>
          <p:cNvSpPr/>
          <p:nvPr/>
        </p:nvSpPr>
        <p:spPr>
          <a:xfrm>
            <a:off x="6400800" y="16002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72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의미 손실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세계와 확률, 정의, 계산 원리, 기울기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29260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tag"/>
          <p:cNvSpPr/>
          <p:nvPr/>
        </p:nvSpPr>
        <p:spPr>
          <a:xfrm>
            <a:off x="777240" y="315468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2724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실험 설계와 구현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질문, 설정, 손실, 코드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172200" y="29260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tag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2724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실험 결과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정확도, 규칙 준수, 출력의 모양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4" name="tag"/>
          <p:cNvSpPr/>
          <p:nvPr/>
        </p:nvSpPr>
        <p:spPr>
          <a:xfrm>
            <a:off x="777240" y="470916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6817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논문 재현하기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12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공식 코드 읽기, 차이점, 재현 결과, 교훈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9" name="tag"/>
          <p:cNvSpPr/>
          <p:nvPr/>
        </p:nvSpPr>
        <p:spPr>
          <a:xfrm>
            <a:off x="6400800" y="4709160"/>
            <a:ext cx="384048" cy="38404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468172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마무리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2120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핵심 정리, 확인 문제, 실습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라벨 100장 vs 55,000장</a:t>
            </a:r>
            <a:endParaRPr lang="en-US" sz="3000" dirty="0"/>
          </a:p>
        </p:txBody>
      </p:sp>
      <p:sp>
        <p:nvSpPr>
          <p:cNvPr id="3" name="stat"/>
          <p:cNvSpPr txBox="1"/>
          <p:nvPr/>
        </p:nvSpPr>
        <p:spPr>
          <a:xfrm>
            <a:off x="548640" y="14630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78D6"/>
                </a:solidFill>
              </a:rPr>
              <a:t>76.2%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2606D"/>
                </a:solidFill>
              </a:rPr>
              <a:t>라벨 100장으로 학습한 MLP의 테스트 정확도</a:t>
            </a:r>
            <a:endParaRPr lang="en-US" sz="1600" dirty="0"/>
          </a:p>
        </p:txBody>
      </p:sp>
      <p:sp>
        <p:nvSpPr>
          <p:cNvPr id="5" name="stat"/>
          <p:cNvSpPr txBox="1"/>
          <p:nvPr/>
        </p:nvSpPr>
        <p:spPr>
          <a:xfrm>
            <a:off x="548640" y="3383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BAF7A"/>
                </a:solidFill>
              </a:rPr>
              <a:t>98.8%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2606D"/>
                </a:solidFill>
              </a:rPr>
              <a:t>라벨 55,000장(전부)으로 학습한 같은 MLP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035040" y="1463040"/>
            <a:ext cx="5605272" cy="3657600"/>
          </a:xfrm>
          <a:prstGeom prst="roundRect">
            <a:avLst>
              <a:gd name="adj" fmla="val 3000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8" name="tag"/>
          <p:cNvSpPr/>
          <p:nvPr/>
        </p:nvSpPr>
        <p:spPr>
          <a:xfrm>
            <a:off x="6263640" y="169164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664208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남은 54,900장에는 라벨이 없다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194560"/>
            <a:ext cx="51480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라벨을 붙이는 데는 비용이 든다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그런데 우리는 "이미지마다 숫자는 정확히 하나"라는 것을 안다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이 지식만으로 라벨 없는 이미지에서 학습 신호를 만들 수 있을까?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5303520"/>
            <a:ext cx="5605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B8794"/>
                </a:solidFill>
              </a:rPr>
              <a:t>5시드 평균, 테스트셋 10,000장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배경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데이터, 학습 설정, 출력 해석, 그리고 지식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데이터셋: MNIST 손글씨 숫자</a:t>
            </a:r>
            <a:endParaRPr lang="en-US" sz="3000" dirty="0"/>
          </a:p>
        </p:txBody>
      </p:sp>
      <p:pic>
        <p:nvPicPr>
          <p:cNvPr id="3" name="mosaic" descr="mosa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00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7B8794"/>
                </a:solidFill>
              </a:rPr>
              <a:t>학습 이미지 무작위 64장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</a:rPr>
              <a:t>70,000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1993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이미지 (학습 60k / 테스트 10k)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560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</a:rPr>
              <a:t>10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182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클래스 (숫자 0~9)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</a:rPr>
              <a:t>28×28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70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흑백, 784개 픽셀 → MLP 입력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4206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55,000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100 / 500 / 1,000장 + 나머지는 라벨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λ 선택에만 사용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평가에만 사용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준지도 학습: 라벨 있는 데이터 + 라벨 없는 데이터</a:t>
            </a:r>
            <a:endParaRPr lang="en-US" sz="3000" dirty="0"/>
          </a:p>
        </p:txBody>
      </p:sp>
      <p:sp>
        <p:nvSpPr>
          <p:cNvPr id="3" name="box"/>
          <p:cNvSpPr/>
          <p:nvPr/>
        </p:nvSpPr>
        <p:spPr>
          <a:xfrm>
            <a:off x="548640" y="15544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377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라벨 있음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100장</a:t>
            </a:r>
            <a:endParaRPr lang="en-US" sz="1800" dirty="0"/>
          </a:p>
        </p:txBody>
      </p:sp>
      <p:sp>
        <p:nvSpPr>
          <p:cNvPr id="5" name="box"/>
          <p:cNvSpPr/>
          <p:nvPr/>
        </p:nvSpPr>
        <p:spPr>
          <a:xfrm>
            <a:off x="548640" y="31089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라벨 없음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54,900장</a:t>
            </a:r>
            <a:endParaRPr lang="en-US" sz="1800" dirty="0"/>
          </a:p>
        </p:txBody>
      </p:sp>
      <p:sp>
        <p:nvSpPr>
          <p:cNvPr id="7" name="box"/>
          <p:cNvSpPr/>
          <p:nvPr/>
        </p:nvSpPr>
        <p:spPr>
          <a:xfrm>
            <a:off x="3931920" y="23317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2331720"/>
            <a:ext cx="21945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신경망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(MLP)</a:t>
            </a:r>
            <a:endParaRPr lang="en-US" sz="1800" dirty="0"/>
          </a:p>
        </p:txBody>
      </p:sp>
      <p:sp>
        <p:nvSpPr>
          <p:cNvPr id="9" name="arrow"/>
          <p:cNvSpPr/>
          <p:nvPr/>
        </p:nvSpPr>
        <p:spPr>
          <a:xfrm>
            <a:off x="2971800" y="2194560"/>
            <a:ext cx="914400" cy="548640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0" name="arrow"/>
          <p:cNvSpPr/>
          <p:nvPr/>
        </p:nvSpPr>
        <p:spPr>
          <a:xfrm flipV="1">
            <a:off x="2971800" y="3200400"/>
            <a:ext cx="914400" cy="548640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1" name="box"/>
          <p:cNvSpPr/>
          <p:nvPr/>
        </p:nvSpPr>
        <p:spPr>
          <a:xfrm>
            <a:off x="6949440" y="155448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54480"/>
            <a:ext cx="2377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교차 엔트로피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(정답 라벨 필요)</a:t>
            </a:r>
            <a:endParaRPr lang="en-US" sz="1500" dirty="0"/>
          </a:p>
        </p:txBody>
      </p:sp>
      <p:sp>
        <p:nvSpPr>
          <p:cNvPr id="13" name="box"/>
          <p:cNvSpPr/>
          <p:nvPr/>
        </p:nvSpPr>
        <p:spPr>
          <a:xfrm>
            <a:off x="6949440" y="310896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??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(라벨 없이 무엇을?)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 flipV="1">
            <a:off x="6172200" y="2194560"/>
            <a:ext cx="731520" cy="548640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6172200" y="3200400"/>
            <a:ext cx="731520" cy="548640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9601200" y="1554480"/>
            <a:ext cx="2039112" cy="2834640"/>
          </a:xfrm>
          <a:prstGeom prst="roundRect">
            <a:avLst>
              <a:gd name="adj" fmla="val 538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8" name="tag"/>
          <p:cNvSpPr/>
          <p:nvPr/>
        </p:nvSpPr>
        <p:spPr>
          <a:xfrm>
            <a:off x="9829800" y="17830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29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332720" y="1755648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후보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286000"/>
            <a:ext cx="15819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의미 손실 (지식)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엔트로피 최소화 (확신)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2606D"/>
                </a:solidFill>
              </a:rPr>
              <a:t>모든 방법은 매 스텝 "라벨 있는 이미지 100장 + 라벨 없는 이미지 250장"을 함께 본다.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출력 해석: 소프트맥스와 시그모이드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소프트맥스 — 10개 중 하나를 고르는 분포</a:t>
            </a:r>
            <a:endParaRPr lang="en-US" sz="1800" dirty="0"/>
          </a:p>
        </p:txBody>
      </p:sp>
      <p:pic>
        <p:nvPicPr>
          <p:cNvPr id="7" name="equation" descr="q_i = \frac{e^{z_i}}{\sum_{j=1}^{10} e^{z_j}}, \qquad \sum_i q_i =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3264304" cy="6830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4290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교차 엔트로피 학습에 사용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"정확히 하나"가 구조로 강제됨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로짓 전체에 같은 값을 더해도 그대로 (이동 불변)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6446520" y="16002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시그모이드 — 10개의 독립적인 예/아니오</a:t>
            </a:r>
            <a:endParaRPr lang="en-US" sz="1800" dirty="0"/>
          </a:p>
        </p:txBody>
      </p:sp>
      <p:pic>
        <p:nvPicPr>
          <p:cNvPr id="13" name="equation" descr="p_i = \sigma(z_i) = \frac{1}{1 + e^{-z_i}}, \qquad X_i \sim \mathrm{Bernoulli}(p_i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4846320" cy="51154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92240" y="34290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각 출력 = "이 이미지는 숫자 i다"가 참일 확률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여러 개가 동시에 참일 수도, 하나도 없을 수도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의미 손실은 이 해석으로 "정확히 하나"를 검사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지식: "숫자는 정확히 하나" (exactly-one)</a:t>
            </a:r>
            <a:endParaRPr lang="en-US" sz="3000" dirty="0"/>
          </a:p>
        </p:txBody>
      </p:sp>
      <p:pic>
        <p:nvPicPr>
          <p:cNvPr id="3" name="equation" descr="\alpha = \underbrace{(X_0 \lor X_1 \lor \cdots \lor X_9)}_{\text{at least one: 1 clause}} \;\land\; \underbrace{\bigwedge_{i&lt;j} (\lnot X_i \lor \lnot X_j)}_{\text{at most one: 45 clauses}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2132" y="1371600"/>
            <a:ext cx="5987432" cy="11192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606D"/>
                </a:solidFill>
              </a:rPr>
              <a:t>2¹⁰ = 1,024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가능한 세계 수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6834"/>
                </a:solidFill>
              </a:rPr>
              <a:t>10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α를 만족하는 세계 (원-핫)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063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AA7"/>
                </a:solidFill>
              </a:rPr>
              <a:t>46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CNF 절의 수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548640" y="448056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1" name="tag"/>
          <p:cNvSpPr/>
          <p:nvPr/>
        </p:nvSpPr>
        <p:spPr>
          <a:xfrm>
            <a:off x="777240" y="470916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681728"/>
            <a:ext cx="10180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이 지식은 모든 이미지에 성립한다 — 라벨이 없어도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2120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</a:rPr>
              <a:t>정답이 무엇인지는 모르지만, 정답이 "정확히 하나"라는 것은 안다. 이 차이가 라벨 없는 데이터를 쓰는 열쇠다.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의미 손실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"지식을 만족할 확률"을 손실로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세계와 확률: 3개 클래스로 작게 보기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280160"/>
                <a:gridCol w="14630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세계 (X₁, X₂, X₃)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exactly-one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(0, 0, 0)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× 0.9 × 0.9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0.162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(0, 0, 1)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× 0.9 × 0.1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(0, 1, 0)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× 0.1 × 0.9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(0, 1, 1)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 × 0.1 × 0.1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(1, 0, 0)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× 0.9 × 0.9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0.648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(1, 0, 1)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× 0.9 × 0.1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(1, 1, 0)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× 0.1 × 0.9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0.072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(1, 1, 1)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 × 0.1 × 0.1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7680960" y="1325880"/>
            <a:ext cx="3959352" cy="4526280"/>
          </a:xfrm>
          <a:prstGeom prst="roundRect">
            <a:avLst>
              <a:gd name="adj" fmla="val 2771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909560" y="15544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52704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만족하는 세계의 합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057400"/>
            <a:ext cx="35021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0.648 + 0.018 + 0.018 = 0.684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= 출력이 지식을 만족할 확률 Pr(α)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나머지 0.316은 "0개" 또는 "2개 이상"이 참인 세계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의미 손실의 정의</a:t>
            </a:r>
            <a:endParaRPr lang="en-US" sz="3000" dirty="0"/>
          </a:p>
        </p:txBody>
      </p:sp>
      <p:pic>
        <p:nvPicPr>
          <p:cNvPr id="3" name="equation" descr="\Pr(\alpha \mid \mathbf{p}) = \sum_{\mathbf{x} \models \alpha} \prod_{i:\,x_i=1} p_i \prod_{i:\,x_i=0} (1 - p_i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6243" y="1371600"/>
            <a:ext cx="5599209" cy="844031"/>
          </a:xfrm>
          <a:prstGeom prst="rect">
            <a:avLst/>
          </a:prstGeom>
        </p:spPr>
      </p:pic>
      <p:pic>
        <p:nvPicPr>
          <p:cNvPr id="4" name="equation" descr="L^{s}(\alpha, \mathbf{p}) = -\log \Pr(\alpha \mid \mathbf{p}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585" y="2697480"/>
            <a:ext cx="4012526" cy="35553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76472"/>
                <a:gridCol w="18288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𝐩 (3개 클래스)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Pr(α)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Lˢ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(0.98, 0.01, 0.01)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확신 있고 원-핫에 가까움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(0.8, 0.1, 0.1)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정도 확신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(0.4, 0.4, 0.2)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애매하게 퍼짐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(0.5, 0.5, 0.5)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아무것도 모름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0.375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D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모든 세계를 더하지 않아도 되는 이유: 세 가지 원리</a:t>
            </a:r>
            <a:endParaRPr lang="en-US" sz="3000" dirty="0"/>
          </a:p>
        </p:txBody>
      </p:sp>
      <p:pic>
        <p:nvPicPr>
          <p:cNvPr id="3" name="equation" descr="\Pr(\alpha) = \underbrace{(1 - p_P)}_{P=0} \cdot \underbrace{1}_{(2)} \;+\; \underbrace{p_P}_{P=1} \cdot \underbrace{p_B \,(1 - p_F)}_{(3)} \;=\; 0.2 + 0.144 = 0.34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557" y="1325880"/>
            <a:ext cx="8228582" cy="724791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2743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77240" y="297180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944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경우 나누기 (섀넌 분해)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P=0과 P=1은 겹치지 않는다 → 각 경우의 확률을 더한다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2743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4526280" y="29718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2944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자유 변수는 사라진다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P=0이면 규칙이 자동으로 참 → B, F는 아무 값이나 → 합이 1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27432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5" name="tag"/>
          <p:cNvSpPr/>
          <p:nvPr/>
        </p:nvSpPr>
        <p:spPr>
          <a:xfrm>
            <a:off x="8275320" y="29718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2944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독립이면 곱한다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4747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P=1이면 B ∧ ¬F만 남음 → Pr(B)·Pr(¬F) = p_B(1−p_F)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3035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2606D"/>
                </a:solidFill>
              </a:rPr>
              <a:t>펭귄 규칙 (P → B) ∧ (P → ¬F), 출력 (p_B, p_F, p_P) = (0.9, 0.8, 0.8): 세계 5개를 더하는 대신 항 2개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원리를 exactly-one에 적용하면: 닫힌 형태</a:t>
            </a:r>
            <a:endParaRPr lang="en-US" sz="3000" dirty="0"/>
          </a:p>
        </p:txBody>
      </p:sp>
      <p:sp>
        <p:nvSpPr>
          <p:cNvPr id="3" name="pill"/>
          <p:cNvSpPr/>
          <p:nvPr/>
        </p:nvSpPr>
        <p:spPr>
          <a:xfrm>
            <a:off x="548640" y="146304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원리 1 + 원리 3</a:t>
            </a:r>
            <a:endParaRPr lang="en-US" sz="1300" dirty="0"/>
          </a:p>
        </p:txBody>
      </p:sp>
      <p:pic>
        <p:nvPicPr>
          <p:cNvPr id="5" name="equation" descr="\Pr(\alpha) = \sum_{i=1}^{n} p_i \prod_{j \ne i} (1 - p_j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325880"/>
            <a:ext cx="3097867" cy="820870"/>
          </a:xfrm>
          <a:prstGeom prst="rect">
            <a:avLst/>
          </a:prstGeom>
        </p:spPr>
      </p:pic>
      <p:sp>
        <p:nvSpPr>
          <p:cNvPr id="6" name="pill"/>
          <p:cNvSpPr/>
          <p:nvPr/>
        </p:nvSpPr>
        <p:spPr>
          <a:xfrm>
            <a:off x="548640" y="2697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공통 인수 + 오즈</a:t>
            </a:r>
            <a:endParaRPr lang="en-US" sz="1300" dirty="0"/>
          </a:p>
        </p:txBody>
      </p:sp>
      <p:pic>
        <p:nvPicPr>
          <p:cNvPr id="8" name="equation" descr="= \Big[\prod_{j} (1 - p_j)\Big] \sum_{i} \frac{p_i}{1 - p_i}, \qquad \frac{p_i}{1-p_i} = e^{z_i}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560320"/>
            <a:ext cx="5440316" cy="692435"/>
          </a:xfrm>
          <a:prstGeom prst="rect">
            <a:avLst/>
          </a:prstGeom>
        </p:spPr>
      </p:pic>
      <p:sp>
        <p:nvSpPr>
          <p:cNvPr id="9" name="pill"/>
          <p:cNvSpPr/>
          <p:nvPr/>
        </p:nvSpPr>
        <p:spPr>
          <a:xfrm>
            <a:off x="548640" y="39319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최종 형태 O(n)</a:t>
            </a:r>
            <a:endParaRPr lang="en-US" sz="1300" dirty="0"/>
          </a:p>
        </p:txBody>
      </p:sp>
      <p:pic>
        <p:nvPicPr>
          <p:cNvPr id="11" name="equation" descr="\log \Pr(\alpha) = \operatorname{logsumexp}(z) - \sum_{j} \mathrm{softplus}(z_j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794760"/>
            <a:ext cx="5287553" cy="63661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2606D"/>
                </a:solidFill>
              </a:rPr>
              <a:t>softplus(z) = log(1 + eᶻ) = −log(1 − σ(z)). 로짓이 ±50이어도 overflow 없이 계산된다.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기울기: 1등은 올리고, 나머지는 내린다</a:t>
            </a:r>
            <a:endParaRPr lang="en-US" sz="3000" dirty="0"/>
          </a:p>
        </p:txBody>
      </p:sp>
      <p:pic>
        <p:nvPicPr>
          <p:cNvPr id="3" name="equation" descr="\frac{\partial \Pr(\alpha)}{\partial p_i} = \Pr(\alpha \mid X_i = 1) - \Pr(\alpha \mid X_i = 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718" y="1325880"/>
            <a:ext cx="5744260" cy="713216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2377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p₁ = 0.8 (1등)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0.81 − 0.18 = +0.63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</a:rPr>
              <a:t>↑ 더 확신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297680" y="2377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p₂ = 0.1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0.18 − 0.74 = −0.56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</a:rPr>
              <a:t>↓ 끈다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8046720" y="2377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p₃ = 0.1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0.18 − 0.74 = −0.56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29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</a:rPr>
              <a:t>↓ 끈다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4389120"/>
            <a:ext cx="11094415" cy="150876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tag"/>
          <p:cNvSpPr/>
          <p:nvPr/>
        </p:nvSpPr>
        <p:spPr>
          <a:xfrm>
            <a:off x="777240" y="461772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590288"/>
            <a:ext cx="101800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의미: 정답을 몰라도 "현재 1등"을 더 확신하게 만든다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120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장점: 라벨 없는 이미지도 결정 경계에서 멀어지도록 학습된다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위험: 1등이 틀렸다면 틀린 답을 더 확신하게 만든다 → λ 조절이 중요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비교 대상: 엔트로피 최소화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엔트로피 최소화</a:t>
            </a:r>
            <a:endParaRPr lang="en-US" sz="1800" dirty="0"/>
          </a:p>
        </p:txBody>
      </p:sp>
      <p:pic>
        <p:nvPicPr>
          <p:cNvPr id="7" name="equation" descr="H(\mathbf{q}) = -\sum_i q_i \log q_i, \quad \mathbf{q} = \mathrm{softmax}(\mathbf{z}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209124" cy="5169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소프트맥스 분포를 뾰족하게 만든다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로짓 전체를 올려도 같다 → 참인 시그모이드 수는 못 막음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다른 논리 규칙으로 확장할 방법이 없다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17920" y="137160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6446520" y="16002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의미 손실 (exactly-one)</a:t>
            </a:r>
            <a:endParaRPr lang="en-US" sz="1800" dirty="0"/>
          </a:p>
        </p:txBody>
      </p:sp>
      <p:pic>
        <p:nvPicPr>
          <p:cNvPr id="13" name="equation" descr="L^{s} = -\operatorname{logsumexp}(\mathbf{z}) + \sum_i \mathrm{softplus}(z_i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240280"/>
            <a:ext cx="4108868" cy="51695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92240" y="32918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시그모이드 10개가 "정확히 하나만 참"이 되도록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로짓의 절대 수준까지 제약한다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규칙만 바꾸면 어떤 논리 제약으로도 확장 가능 (예: CIFAR 계층 규칙)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실험 설계와 구현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질문 → 설정 → 손실 → 코드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실험의 질문</a:t>
            </a:r>
            <a:endParaRPr lang="en-US" sz="3000" dirty="0"/>
          </a:p>
        </p:txBody>
      </p:sp>
      <p:sp>
        <p:nvSpPr>
          <p:cNvPr id="3" name="pill"/>
          <p:cNvSpPr/>
          <p:nvPr/>
        </p:nvSpPr>
        <p:spPr>
          <a:xfrm>
            <a:off x="548640" y="17373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002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3"/>
                </a:solidFill>
              </a:rPr>
              <a:t>라벨 없는 이미지에 "정확히 하나"라는 지식만 주어도 정확도가 오르는가?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73736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CE만 vs + 의미 손실</a:t>
            </a:r>
            <a:endParaRPr lang="en-US" sz="1400" dirty="0"/>
          </a:p>
        </p:txBody>
      </p:sp>
      <p:sp>
        <p:nvSpPr>
          <p:cNvPr id="7" name="pill"/>
          <p:cNvSpPr/>
          <p:nvPr/>
        </p:nvSpPr>
        <p:spPr>
          <a:xfrm>
            <a:off x="548640" y="31089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3"/>
                </a:solidFill>
              </a:rPr>
              <a:t>그 효과는 단순히 "확신하게 만드는" 것과 무엇이 다른가?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310896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+ 엔트로피 최소화 vs + 의미 손실</a:t>
            </a:r>
            <a:endParaRPr lang="en-US" sz="1400" dirty="0"/>
          </a:p>
        </p:txBody>
      </p:sp>
      <p:sp>
        <p:nvSpPr>
          <p:cNvPr id="11" name="pill"/>
          <p:cNvSpPr/>
          <p:nvPr/>
        </p:nvSpPr>
        <p:spPr>
          <a:xfrm>
            <a:off x="548640" y="44805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434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3"/>
                </a:solidFill>
              </a:rPr>
              <a:t>라벨 수에 따라 효과는 어떻게 변하는가?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480560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라벨 100 / 500 / 1,000장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신경망과 학습 설정</a:t>
            </a:r>
            <a:endParaRPr lang="en-US" sz="3000" dirty="0"/>
          </a:p>
        </p:txBody>
      </p:sp>
      <p:sp>
        <p:nvSpPr>
          <p:cNvPr id="3" name="box"/>
          <p:cNvSpPr/>
          <p:nvPr/>
        </p:nvSpPr>
        <p:spPr>
          <a:xfrm>
            <a:off x="5486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입력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784</a:t>
            </a:r>
            <a:endParaRPr lang="en-US" sz="1500" dirty="0"/>
          </a:p>
        </p:txBody>
      </p:sp>
      <p:sp>
        <p:nvSpPr>
          <p:cNvPr id="5" name="arrow"/>
          <p:cNvSpPr/>
          <p:nvPr/>
        </p:nvSpPr>
        <p:spPr>
          <a:xfrm>
            <a:off x="18928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6" name="box"/>
          <p:cNvSpPr/>
          <p:nvPr/>
        </p:nvSpPr>
        <p:spPr>
          <a:xfrm>
            <a:off x="21488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1000</a:t>
            </a:r>
            <a:endParaRPr lang="en-US" sz="1500" dirty="0"/>
          </a:p>
        </p:txBody>
      </p:sp>
      <p:sp>
        <p:nvSpPr>
          <p:cNvPr id="8" name="arrow"/>
          <p:cNvSpPr/>
          <p:nvPr/>
        </p:nvSpPr>
        <p:spPr>
          <a:xfrm>
            <a:off x="34930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9" name="box"/>
          <p:cNvSpPr/>
          <p:nvPr/>
        </p:nvSpPr>
        <p:spPr>
          <a:xfrm>
            <a:off x="37490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500</a:t>
            </a:r>
            <a:endParaRPr lang="en-US" sz="1500" dirty="0"/>
          </a:p>
        </p:txBody>
      </p:sp>
      <p:sp>
        <p:nvSpPr>
          <p:cNvPr id="11" name="arrow"/>
          <p:cNvSpPr/>
          <p:nvPr/>
        </p:nvSpPr>
        <p:spPr>
          <a:xfrm>
            <a:off x="50932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2" name="box"/>
          <p:cNvSpPr/>
          <p:nvPr/>
        </p:nvSpPr>
        <p:spPr>
          <a:xfrm>
            <a:off x="53492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250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66934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5" name="box"/>
          <p:cNvSpPr/>
          <p:nvPr/>
        </p:nvSpPr>
        <p:spPr>
          <a:xfrm>
            <a:off x="69494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250</a:t>
            </a:r>
            <a:endParaRPr lang="en-US" sz="1500" dirty="0"/>
          </a:p>
        </p:txBody>
      </p:sp>
      <p:sp>
        <p:nvSpPr>
          <p:cNvPr id="17" name="arrow"/>
          <p:cNvSpPr/>
          <p:nvPr/>
        </p:nvSpPr>
        <p:spPr>
          <a:xfrm>
            <a:off x="82936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8" name="box"/>
          <p:cNvSpPr/>
          <p:nvPr/>
        </p:nvSpPr>
        <p:spPr>
          <a:xfrm>
            <a:off x="85496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</a:rPr>
              <a:t>250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9893808" y="1920240"/>
            <a:ext cx="237744" cy="914"/>
          </a:xfrm>
          <a:prstGeom prst="line">
            <a:avLst/>
          </a:prstGeom>
          <a:noFill/>
          <a:ln w="22225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1" name="box"/>
          <p:cNvSpPr/>
          <p:nvPr/>
        </p:nvSpPr>
        <p:spPr>
          <a:xfrm>
            <a:off x="10149840" y="14630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0" y="1463040"/>
            <a:ext cx="1325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출력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10 로짓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514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7B8794"/>
                </a:solidFill>
              </a:rPr>
              <a:t>각 은닉층: Linear + BatchNorm + ReLU,   학습 시 입력에 가우시안 잡음 σ = 0.3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구성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스텝 라벨 있는 100장(복원 추출) + 라벨 없는 250장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30에폭 = 6,600스텝 (라벨 없는 이미지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Adam, one-cycle 학습률(최대 0.002), λ는 처음 10% 동안 0에서 증가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/ 500 / 1,000장 (클래스별 같은 수), 시드마다 다르게 선택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λ는 검증셋으로 선택(시드 0) → 테스트는 시드 5개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손실 함수</a:t>
            </a:r>
            <a:endParaRPr lang="en-US" sz="3000" dirty="0"/>
          </a:p>
        </p:txBody>
      </p:sp>
      <p:pic>
        <p:nvPicPr>
          <p:cNvPr id="3" name="equation" descr="\mathcal{L} = \underbrace{\frac{1}{|B_L|}\sum_{b \in B_L} \mathrm{CE}(\mathbf{z}_b, y_b)}_{\text{라벨 있는 100장}} \;+\; \lambda_t \cdot \underbrace{\frac{1}{|B|}\sum_{b \in B} R(\mathbf{z}_b)}_{\text{350장 전부}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1097" y="1325880"/>
            <a:ext cx="6149502" cy="128457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48640" y="3017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77240" y="324612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218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749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R = 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기준선: 라벨 있는 데이터만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97680" y="3017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4526280" y="324612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218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ce_ent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749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R = H(softmax(z))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확신만 (대조군)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8046720" y="30175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5" name="tag"/>
          <p:cNvSpPr/>
          <p:nvPr/>
        </p:nvSpPr>
        <p:spPr>
          <a:xfrm>
            <a:off x="8275320" y="324612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3218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ce_eo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7490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R = −log Pr(exactly-one)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지식 (의미 손실)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A3AA7"/>
                </a:solidFill>
              </a:rPr>
              <a:t>λ_t: 학습 초반 10% 동안 0에서 λ까지 선형 증가 (웜업)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평가 지표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정확도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argmax z = 정답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성능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Pr(exactly-one)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이미지 10,000장의 Pr(α) 평균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확률적으로 얼마나 만족하는가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원-핫 비율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σ(zᵢ) &gt; 0.5인 출력이 정확히 1개인 이미지 비율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실제 판단으로 얼마나 지키는가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소프트맥스 엔트로피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H(softmax(z)) 평균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예측이 얼마나 확신에 차 있는가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2606D"/>
                </a:solidFill>
              </a:rPr>
              <a:t>모든 값은 시드 5개의 평균 ± 표준편차. 차이가 표준편차보다 큰지, 시드별로 같은 방향인지 함께 본다.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구현 ①: 손실 함수</a:t>
            </a:r>
            <a:endParaRPr lang="en-US" sz="30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7589520" cy="4617720"/>
          </a:xfrm>
          <a:prstGeom prst="roundRect">
            <a:avLst>
              <a:gd name="adj" fmla="val 198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semloss/losses.py</a:t>
            </a:r>
            <a:endParaRPr lang="en-US" sz="1100" dirty="0"/>
          </a:p>
        </p:txBody>
      </p:sp>
      <p:sp>
        <p:nvSpPr>
          <p:cNvPr id="5" name="code"/>
          <p:cNvSpPr txBox="1"/>
          <p:nvPr/>
        </p:nvSpPr>
        <p:spPr>
          <a:xfrm>
            <a:off x="822960" y="17830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exactly_one_log_prob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"""log Pr(exactly one X_i is true) = logsumexp(z) - sum softplus(z)."""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logsumexp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softplus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exactly_one_semantic_loss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"""Batch mean of -log Pr(exactly-one)."""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exactly_one_log_prob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softmax_entropy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"""Batch mean of the entropy of softmax(z)."""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log_softmax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8412480" y="1325880"/>
            <a:ext cx="3227832" cy="4617720"/>
          </a:xfrm>
          <a:prstGeom prst="roundRect">
            <a:avLst>
              <a:gd name="adj" fmla="val 3399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7" name="tag"/>
          <p:cNvSpPr/>
          <p:nvPr/>
        </p:nvSpPr>
        <p:spPr>
          <a:xfrm>
            <a:off x="8641080" y="15544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41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=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52704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수식 ↔ 코드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2057400"/>
            <a:ext cx="27706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logsumexp(z) ↔ torch.logsumexp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Σ softplus(zⱼ) ↔ F.softplus().sum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연산량 O(10), CE 수준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구현 ②: 학습 스텝</a:t>
            </a:r>
            <a:endParaRPr lang="en-US" sz="30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11094415" cy="4617720"/>
          </a:xfrm>
          <a:prstGeom prst="roundRect">
            <a:avLst>
              <a:gd name="adj" fmla="val 198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semloss/train.py</a:t>
            </a:r>
            <a:endParaRPr lang="en-US" sz="1100" dirty="0"/>
          </a:p>
        </p:txBody>
      </p:sp>
      <p:sp>
        <p:nvSpPr>
          <p:cNvPr id="5" name="code"/>
          <p:cNvSpPr txBox="1"/>
          <p:nvPr/>
        </p:nvSpPr>
        <p:spPr>
          <a:xfrm>
            <a:off x="822960" y="1783080"/>
            <a:ext cx="1054577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 labeled (with replacement)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250 unlabeled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forward pass for both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cross_entropy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labels only for the first part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lam_t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warmup_frac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"ce_eo"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exactly_one_semantic_loss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knowledge only, no labels: every image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"ce_ent"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softmax_entropy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control: just make predictions confident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lam_t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zero_grad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backward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구현 ③: 닫힌 형태를 믿어도 되는가 — 테스트</a:t>
            </a:r>
            <a:endParaRPr lang="en-US" sz="30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7589520" cy="4617720"/>
          </a:xfrm>
          <a:prstGeom prst="roundRect">
            <a:avLst>
              <a:gd name="adj" fmla="val 198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tests/test_losses.py</a:t>
            </a:r>
            <a:endParaRPr lang="en-US" sz="1100" dirty="0"/>
          </a:p>
        </p:txBody>
      </p:sp>
      <p:sp>
        <p:nvSpPr>
          <p:cNvPr id="5" name="code"/>
          <p:cNvSpPr txBox="1"/>
          <p:nvPr/>
        </p:nvSpPr>
        <p:spPr>
          <a:xfrm>
            <a:off x="822960" y="1783080"/>
            <a:ext cx="7040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test_closed_form_matches_bruteforce_for_ten_classes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randn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float64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exactly_one_cnf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46 clauses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wmc_bruteforce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sigmoid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2^10 worlds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allclose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exactly_one_log_prob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rtol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1e-10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test_exactly_one_log_prob_is_stable_for_large_logits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exactly_one_log_prob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1e-6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one-hot: Pr = 1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"true" outputs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exactly_one_log_prob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7A0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violated</a:t>
            </a:r>
            <a:endParaRPr lang="en-US" sz="1250" dirty="0"/>
          </a:p>
        </p:txBody>
      </p:sp>
      <p:sp>
        <p:nvSpPr>
          <p:cNvPr id="6" name="card"/>
          <p:cNvSpPr/>
          <p:nvPr/>
        </p:nvSpPr>
        <p:spPr>
          <a:xfrm>
            <a:off x="8412480" y="1325880"/>
            <a:ext cx="3227832" cy="4617720"/>
          </a:xfrm>
          <a:prstGeom prst="roundRect">
            <a:avLst>
              <a:gd name="adj" fmla="val 3399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7" name="tag"/>
          <p:cNvSpPr/>
          <p:nvPr/>
        </p:nvSpPr>
        <p:spPr>
          <a:xfrm>
            <a:off x="8641080" y="155448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410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52704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8 passed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2057400"/>
            <a:ext cx="27706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논문 표 4행 재현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1,024개 세계 전수 계산과 일치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기울기 일치 (자동 미분 대조)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로짓 ±50에서도 안정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실험 결과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정확도는 오르고, 규칙 준수는 크게 오른다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λ 선택: 검증셋으로 고른다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3152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8229600" y="1325880"/>
            <a:ext cx="3410712" cy="4617720"/>
          </a:xfrm>
          <a:prstGeom prst="roundRect">
            <a:avLst>
              <a:gd name="adj" fmla="val 321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8458200" y="155448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λ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961120" y="1527048"/>
            <a:ext cx="2496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선택된 λ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057400"/>
            <a:ext cx="29535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의미 손실 / 엔트로피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100장: 0.1 / 0.3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500장: 1 / 0.3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1000장: 3 / 0.3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라벨이 많을수록 최적 λ가 커짐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테스트셋은 선택에 쓰지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①: 정확도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8638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8686800" y="1325880"/>
            <a:ext cx="2953512" cy="4617720"/>
          </a:xfrm>
          <a:prstGeom prst="roundRect">
            <a:avLst>
              <a:gd name="adj" fmla="val 3715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8915400" y="15544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152704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의미 손실의 이득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057400"/>
            <a:ext cx="24963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</a:rPr>
              <a:t>CE 대비 / 엔트로피 대비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100장: +4.4 / +1.0%p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500장: +2.2 / +0.4%p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1000장: +1.1 / +0.2%p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전체 라벨 기준: 98.8%</a:t>
            </a:r>
            <a:endParaRPr lang="en-US" sz="15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</a:rPr>
              <a:t>y축이 70%에서 시작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①-보충: 평균 ± 표준편차와 시드별 비교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011680"/>
                <a:gridCol w="1828800"/>
                <a:gridCol w="2011680"/>
                <a:gridCol w="222199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엔트로피 최소화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의미 손실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CE보다 높은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엔트로피보다 높은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76.19 ± 2.22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79.60 ± 3.32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80.59 ± 3.10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90.85 ± 0.55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92.60 ± 0.66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93.00 ± 0.53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93.90 ± 0.22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94.80 ± 0.14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94.98 ± 0.20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/ 5 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37490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3950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CE 대비: 믿을 만한 향상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80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세 라벨 수 모두, 5개 시드 모두에서 높다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라벨이 적을수록 향상이 크다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217920" y="374904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6446520" y="3977640"/>
            <a:ext cx="384048" cy="38404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≈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950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엔트로피 대비: 작은 차이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4480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차이 +0.2~1.0%p, 대부분 편차 범위 안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정확도만 보면 "확신" 효과와 구분하기 어렵다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②: 규칙 준수 — 여기서 차이가 드러난다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8638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8686800" y="1325880"/>
            <a:ext cx="2953512" cy="4617720"/>
          </a:xfrm>
          <a:prstGeom prst="roundRect">
            <a:avLst>
              <a:gd name="adj" fmla="val 3715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8915400" y="15544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1527048"/>
            <a:ext cx="2039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평균 Pr(EO)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2057400"/>
            <a:ext cx="249631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</a:rPr>
              <a:t>CE / 엔트로피 / 의미 손실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100장: 0.26 / 0.81 / 0.97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500장: 0.40 / 0.80 / 0.99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1000장: 0.43 / 0.78 / 0.99</a:t>
            </a:r>
            <a:endParaRPr lang="en-US" sz="14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2606D"/>
                </a:solidFill>
              </a:rPr>
              <a:t>y축이 50%에서 시작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③: 출력의 모양을 직접 보면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6692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digit" descr="test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1188720" cy="1188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8181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933"/>
                </a:solidFill>
              </a:rPr>
              <a:t>테스트 이미지 #1 (정답 2)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818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7B8794"/>
                </a:solidFill>
              </a:rPr>
              <a:t>각 모델의 시그모이드 출력 σ(z₀) … σ(z₉)</a:t>
            </a:r>
            <a:endParaRPr lang="en-US" sz="12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400800" y="2743200"/>
          <a:ext cx="5239512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정리: 확신 vs 지식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743200"/>
                <a:gridCol w="30449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엔트로피 최소화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의미 손실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(라벨 100장)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76.2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80.6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 (라벨 1,000장)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원-핫 비율 (라벨 100장)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64.1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99.2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만드는가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소프트맥스의 확신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확신 + 규칙 준수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34340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77240" y="457200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≈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45445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정확도: 둘 다 "확신"으로 비슷하게 오른다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074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라벨 없는 이미지를 결정 경계에서 멀어지게 만드는 효과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434340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10" name="tag"/>
          <p:cNvSpPr/>
          <p:nvPr/>
        </p:nvSpPr>
        <p:spPr>
          <a:xfrm>
            <a:off x="6446520" y="45720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45445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규칙 준수: 의미 손실만 "정확히 하나"를 지킨다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50749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CIFAR-100 계층 규칙 실험과 같은 패턴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논문 재현하기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논문은 98%, 우리는 81% — 무엇이 다른가?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논문의 주장과 우리 결과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7863840" y="1325880"/>
            <a:ext cx="3776472" cy="4617720"/>
          </a:xfrm>
          <a:prstGeom prst="roundRect">
            <a:avLst>
              <a:gd name="adj" fmla="val 29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8092440" y="1554480"/>
            <a:ext cx="384048" cy="38404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52704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무엇이 이상한가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057400"/>
            <a:ext cx="33192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기준선은 비슷하다 (78.5 vs 76.2)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라벨 없는 데이터를 쓰는 두 기법만 크게 다르다 (+20%p vs +4%p)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논문 본문의 설정 설명만으로는 원인을 알 수 없다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→ 공식 코드를 읽는다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공식 코드 읽기: 본문과 다른 점들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  <a:gridCol w="28620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본문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실험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표준화 + 잡음 σ=0.3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이미지별 표준화 + 잡음 + 25×25 무작위 크롭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[0,1] 스케일 + 잡음 σ=0.3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 손실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(명시 없음)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시그모이드 BCE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소프트맥스 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손실 가중치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(부록)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0.0005, 라벨 있는 이미지에도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0.1~3 (검증셋 튜닝)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 / 길이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0.002 / 20에폭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1e-4 / 50,000스텝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0.002 / 6,600스텝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정규화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드롭아웃 0.5 (BN은 사실상 비활성)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정규화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검증셋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(학습 중 테스트 정확도 출력)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5,000장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3AA7"/>
                </a:solidFill>
              </a:rPr>
              <a:t>공식 README: "라벨 100장 결과는 매우 불안정하다 — 시스템 환경, TensorFlow 버전에도 영향을 받는다"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공식 설정을 PyTorch로 옮겨 재현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743200"/>
                <a:gridCol w="2377440"/>
                <a:gridCol w="2404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설정 (배치, 가중치)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결과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표 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 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84.48 ± 2.55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78.46 ± 1.94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엔트로피 최소화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128, 0.5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84.21 ± 3.52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96.27 ± 0.64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의미 손실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32, 1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85.42 ± 2.84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98.38 ± 0.51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128, 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95.63 ± 0.43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94.26 ± 0.31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엔트로피 최소화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128, 0.05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95.52 ± 0.34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98.32 ± 0.34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의미 손실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10, 1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95.29 ± 0.42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98.78 ± 0.17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7091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" name="tag"/>
          <p:cNvSpPr/>
          <p:nvPr/>
        </p:nvSpPr>
        <p:spPr>
          <a:xfrm>
            <a:off x="777240" y="493776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49103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기준선: 논문과 같거나 더 높다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17920" y="47091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DEEE6"/>
          </a:solidFill>
          <a:ln w="12700">
            <a:solidFill>
              <a:srgbClr val="FDEEE6"/>
            </a:solidFill>
            <a:prstDash val="solid"/>
          </a:ln>
        </p:spPr>
      </p:sp>
      <p:sp>
        <p:nvSpPr>
          <p:cNvPr id="9" name="tag"/>
          <p:cNvSpPr/>
          <p:nvPr/>
        </p:nvSpPr>
        <p:spPr>
          <a:xfrm>
            <a:off x="6446520" y="493776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491032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의미 손실·엔트로피의 큰 이득: 재현 안 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차이가 날까: 확인한 것과 확인하지 못한 것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확인한 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테스트 엿보기로는 설명 안 됨: 곡선의 최고값도 87.8%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BCE가 이미 원-핫을 만든다: CE만 써도 Pr(EO) = 0.96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그래서 의미 손실이 더할 일이 거의 없다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기본값(가중치 0.0005)에서는 효과가 사실상 0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17920" y="13716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ag"/>
          <p:cNvSpPr/>
          <p:nvPr/>
        </p:nvSpPr>
        <p:spPr>
          <a:xfrm>
            <a:off x="6446520" y="1600200"/>
            <a:ext cx="384048" cy="384048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5727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확인하지 못한 것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03120"/>
            <a:ext cx="4937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잡음 크기, 학습률 튜닝 (범위 일부만 탐색)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TensorFlow 1과 PyTorch의 수치·초기화 세부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논문의 시드 10개, 검증셋 10,000장 조건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결론: "재현 불가"가 아니라 "찾지 못함"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교훈: 논문 결과를 읽고 확인하는 법</a:t>
            </a:r>
            <a:endParaRPr lang="en-US" sz="3000" dirty="0"/>
          </a:p>
        </p:txBody>
      </p:sp>
      <p:sp>
        <p:nvSpPr>
          <p:cNvPr id="3" name="num"/>
          <p:cNvSpPr/>
          <p:nvPr/>
        </p:nvSpPr>
        <p:spPr>
          <a:xfrm>
            <a:off x="548640" y="1435608"/>
            <a:ext cx="548640" cy="548640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본문만 믿지 말고 공식 코드를 읽는다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371600"/>
            <a:ext cx="5285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증강, 학습률, 손실 형태가 본문과 다를 수 있다</a:t>
            </a:r>
            <a:endParaRPr lang="en-US" sz="1500" dirty="0"/>
          </a:p>
        </p:txBody>
      </p:sp>
      <p:sp>
        <p:nvSpPr>
          <p:cNvPr id="7" name="num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기준선부터 맞춘다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286000"/>
            <a:ext cx="5285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기준선이 맞아야 "방법의 효과"를 비교할 수 있다</a:t>
            </a:r>
            <a:endParaRPr lang="en-US" sz="1500" dirty="0"/>
          </a:p>
        </p:txBody>
      </p:sp>
      <p:sp>
        <p:nvSpPr>
          <p:cNvPr id="11" name="num"/>
          <p:cNvSpPr/>
          <p:nvPr/>
        </p:nvSpPr>
        <p:spPr>
          <a:xfrm>
            <a:off x="548640" y="3264408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00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대조군을 둔다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200400"/>
            <a:ext cx="5285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엔트로피 최소화가 없었다면 "지식 덕분"이라고 오해했을 것</a:t>
            </a:r>
            <a:endParaRPr lang="en-US" sz="1500" dirty="0"/>
          </a:p>
        </p:txBody>
      </p:sp>
      <p:sp>
        <p:nvSpPr>
          <p:cNvPr id="15" name="num"/>
          <p:cNvSpPr/>
          <p:nvPr/>
        </p:nvSpPr>
        <p:spPr>
          <a:xfrm>
            <a:off x="548640" y="4178808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14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테스트셋은 마지막에 한 번만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114800"/>
            <a:ext cx="5285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선택은 검증셋으로. 학습 중 테스트 정확도는 기록만</a:t>
            </a:r>
            <a:endParaRPr lang="en-US" sz="1500" dirty="0"/>
          </a:p>
        </p:txBody>
      </p:sp>
      <p:sp>
        <p:nvSpPr>
          <p:cNvPr id="19" name="num"/>
          <p:cNvSpPr/>
          <p:nvPr/>
        </p:nvSpPr>
        <p:spPr>
          <a:xfrm>
            <a:off x="548640" y="5093208"/>
            <a:ext cx="548640" cy="54864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029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결론의 강도를 정직하게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5029200"/>
            <a:ext cx="5285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"재현 불가" ≠ "시도한 범위에서 찾지 못함"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마무리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정리와 확인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핵심 정리</a:t>
            </a:r>
            <a:endParaRPr lang="en-US" sz="3000" dirty="0"/>
          </a:p>
        </p:txBody>
      </p:sp>
      <p:sp>
        <p:nvSpPr>
          <p:cNvPr id="3" name="num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7160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의미 손실 = −log Pr(지식을 만족)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0195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출력을 독립 확률로 보고, 지식을 만족하는 세계들의 확률을 더한다. exactly-one은 logsumexp − Σsoftplus 한 줄.</a:t>
            </a:r>
            <a:endParaRPr lang="en-US" sz="1500" dirty="0"/>
          </a:p>
        </p:txBody>
      </p:sp>
      <p:sp>
        <p:nvSpPr>
          <p:cNvPr id="7" name="num"/>
          <p:cNvSpPr/>
          <p:nvPr/>
        </p:nvSpPr>
        <p:spPr>
          <a:xfrm>
            <a:off x="548640" y="2971800"/>
            <a:ext cx="731520" cy="731520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803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계산은 세 원리로 줄어든다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41071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경우 나누기(합), 자유 변수 소거(1), 독립 분리(곱). 지식 컴파일은 이를 자동화한 것.</a:t>
            </a:r>
            <a:endParaRPr lang="en-US" sz="1500" dirty="0"/>
          </a:p>
        </p:txBody>
      </p:sp>
      <p:sp>
        <p:nvSpPr>
          <p:cNvPr id="11" name="num"/>
          <p:cNvSpPr/>
          <p:nvPr/>
        </p:nvSpPr>
        <p:spPr>
          <a:xfrm>
            <a:off x="548640" y="4480560"/>
            <a:ext cx="731520" cy="7315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38912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3"/>
                </a:solidFill>
              </a:rPr>
              <a:t>정확도는 확신이, 규칙 준수는 지식이 만든다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919472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606D"/>
                </a:solidFill>
              </a:rPr>
              <a:t>라벨 100장: CE 76.2% → 의미 손실 80.6% (엔트로피 79.6%). 원-핫 비율은 의미 손실만 99% 이상. 논문의 98%는 재현하지 못했다.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이해 확인 문제</a:t>
            </a:r>
            <a:endParaRPr lang="en-US" sz="3000" dirty="0"/>
          </a:p>
        </p:txBody>
      </p:sp>
      <p:sp>
        <p:nvSpPr>
          <p:cNvPr id="3" name="pill"/>
          <p:cNvSpPr/>
          <p:nvPr/>
        </p:nvSpPr>
        <p:spPr>
          <a:xfrm>
            <a:off x="548640" y="1600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481328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출력 p = (0.6, 0.6, 0.1)일 때 exactly-one의 Pr(α)는? 두 개가 동시에 높으면 왜 손실이 커지는가?</a:t>
            </a:r>
            <a:endParaRPr lang="en-US" sz="1700" dirty="0"/>
          </a:p>
        </p:txBody>
      </p:sp>
      <p:sp>
        <p:nvSpPr>
          <p:cNvPr id="6" name="pill"/>
          <p:cNvSpPr/>
          <p:nvPr/>
        </p:nvSpPr>
        <p:spPr>
          <a:xfrm>
            <a:off x="548640" y="2743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743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24328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출력이 소프트맥스뿐인 모델에 exactly-one 의미 손실을 걸면 어떻게 되는가?</a:t>
            </a:r>
            <a:endParaRPr lang="en-US" sz="1700" dirty="0"/>
          </a:p>
        </p:txBody>
      </p:sp>
      <p:sp>
        <p:nvSpPr>
          <p:cNvPr id="9" name="pill"/>
          <p:cNvSpPr/>
          <p:nvPr/>
        </p:nvSpPr>
        <p:spPr>
          <a:xfrm>
            <a:off x="548640" y="3886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86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767328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엔트로피 최소화 모델의 원-핫 비율이 85~87%에 그친 이유는?</a:t>
            </a:r>
            <a:endParaRPr lang="en-US" sz="1700" dirty="0"/>
          </a:p>
        </p:txBody>
      </p:sp>
      <p:sp>
        <p:nvSpPr>
          <p:cNvPr id="12" name="pill"/>
          <p:cNvSpPr/>
          <p:nvPr/>
        </p:nvSpPr>
        <p:spPr>
          <a:xfrm>
            <a:off x="548640" y="50292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029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910328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3"/>
                </a:solidFill>
              </a:rPr>
              <a:t>논문 재현에서 기준선을 먼저 맞추는 것이 왜 중요한가?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정답과 해설</a:t>
            </a:r>
            <a:endParaRPr lang="en-US" sz="3000" dirty="0"/>
          </a:p>
        </p:txBody>
      </p:sp>
      <p:pic>
        <p:nvPicPr>
          <p:cNvPr id="3" name="equation" descr="\text{Q1: } \Pr = 0.6\cdot0.4\cdot0.9 + 0.4\cdot0.6\cdot0.9 + 0.4\cdot0.4\cdot0.1 = 0.448,\quad L^s \approx 0.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703342" cy="221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52606D"/>
                </a:solidFill>
              </a:rPr>
              <a:t>두 출력이 모두 높으면 "둘 다 참"인 (위반) 세계의 확률이 커진다. 기울기는 둘 중 하나를 끄도록 작용한다.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3"/>
                </a:solidFill>
              </a:rPr>
              <a:t>Q2: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</a:rPr>
              <a:t>의미가 없다. 소프트맥스는 합이 1인 분포라 "정확히 하나"가 이미 구조로 강제된다. 의미 손실은 출력을 독립 확률(시그모이드)로 볼 때 의미가 있다.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3"/>
                </a:solidFill>
              </a:rPr>
              <a:t>Q3: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</a:rPr>
              <a:t>엔트로피는 소프트맥스에 걸리고, 소프트맥스는 로짓 전체를 같이 올려도 변하지 않는다. 그래서 로짓이 모두 높은 채로(시그모이드 여러 개 &gt; 0.5) 소프트맥스만 뾰족해질 수 있다.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F2933"/>
                </a:solidFill>
              </a:rPr>
              <a:t>Q4: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3"/>
                </a:solidFill>
              </a:rPr>
              <a:t>기준선이 다르면 "방법의 효과"와 "설정의 차이"를 구분할 수 없다. 이번에는 기준선이 맞았기 때문에, 차이가 라벨 없는 데이터를 쓰는 부분에 있음을 좁힐 수 있었다.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참고문헌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J. Xu, Z. Zhang, T. Friedman, Y. Liang, G. Van den Broeck. A Semantic Loss Function for Deep Learning with Symbolic Knowledge. ICML 2018.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공식 코드: github.com/UCLA-StarAI/Semantic-Loss (semi_supervised/semantic.py, mnist_input.py)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Y. LeCun, C. Cortes, C. J. C. Burges. The MNIST database of handwritten digits.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Y. Grandvalet, Y. Bengio. Semi-supervised Learning by Entropy Minimization. NeurIPS 2005.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A. Rasmus, H. Valpola, M. Honkala, M. Berglund, T. Raiko. Semi-Supervised Learning with Ladder Networks. NeurIPS 2015.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A. Darwiche, P. Marquis. A Knowledge Compilation Map. JAIR 17, 2002.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"/>
          <p:cNvSpPr txBox="1"/>
          <p:nvPr/>
        </p:nvSpPr>
        <p:spPr>
          <a:xfrm>
            <a:off x="548640" y="1737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B6834"/>
                </a:solidFill>
              </a:rPr>
              <a:t>부록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실습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490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BCCCDC"/>
                </a:solidFill>
              </a:rPr>
              <a:t>직접 돌려 보기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부록 A: 실습 환경과 실행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749040" cy="4526280"/>
          </a:xfrm>
          <a:prstGeom prst="roundRect">
            <a:avLst>
              <a:gd name="adj" fmla="val 292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환경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Python 3.10+, PyTorch 2.x, NumPy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torchvision 불필요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GPU 자동 선택 (CPU 가능)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MNIST 자동 다운로드 (11MB)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1회 학습 약 20초 (M4 Max, MPS)</a:t>
            </a:r>
            <a:endParaRPr lang="en-US" sz="1400" dirty="0"/>
          </a:p>
        </p:txBody>
      </p:sp>
      <p:sp>
        <p:nvSpPr>
          <p:cNvPr id="8" name="code-panel"/>
          <p:cNvSpPr/>
          <p:nvPr/>
        </p:nvSpPr>
        <p:spPr>
          <a:xfrm>
            <a:off x="4526280" y="1371600"/>
            <a:ext cx="7114032" cy="4526280"/>
          </a:xfrm>
          <a:prstGeom prst="roundRect">
            <a:avLst>
              <a:gd name="adj" fmla="val 202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508760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터미널</a:t>
            </a:r>
            <a:endParaRPr lang="en-US" sz="1100" dirty="0"/>
          </a:p>
        </p:txBody>
      </p:sp>
      <p:sp>
        <p:nvSpPr>
          <p:cNvPr id="10" name="code"/>
          <p:cNvSpPr txBox="1"/>
          <p:nvPr/>
        </p:nvSpPr>
        <p:spPr>
          <a:xfrm>
            <a:off x="4800600" y="1828800"/>
            <a:ext cx="6565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손실 함수 단위 테스트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우리 실험: λ 튜닝 → 3 라벨 수 × 3 방법 × 5 시드 (약 30분)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run_experiments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결과 표 → results/summary.md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공식 코드 설정 재현 (약 2.5시간)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run_paper_protocol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부록 B: 실습 과제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ag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72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λ 바꿔 보기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라벨 100장에서 λ ∈ {0.01, 1, 30}을 비교하라. 학습 로그의 val Pr(EO)와 정확도는 어떻게 움직이는가?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tag"/>
          <p:cNvSpPr/>
          <p:nvPr/>
        </p:nvSpPr>
        <p:spPr>
          <a:xfrm>
            <a:off x="6400800" y="160020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72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출력 들여다보기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CE만 쓴 모델과 의미 손실 모델에서, 0.5를 넘는 시그모이드가 2개 이상인 테스트 이미지를 찾아 그려 보라.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tag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58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재현 실험 확장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389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paper_protocol.py에서 잡음 σ ∈ {0.1, 0.5}, 학습률 ∈ {1e-3, 1e-5}를 탐색하라. 논문 수치에 가까워지는가?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172200" y="365760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tag"/>
          <p:cNvSpPr/>
          <p:nvPr/>
        </p:nvSpPr>
        <p:spPr>
          <a:xfrm>
            <a:off x="6400800" y="388620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85876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새로운 지식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389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</a:rPr>
              <a:t>"짝수 숫자는 0, 2, 4, 6, 8 중 하나" 같은 상위 개념 변수를 추가하고, 그 제약의 닫힌 형태를 세 원리로 유도하라.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ntic Loss MNIST Lecture">
  <a:themeElements>
    <a:clrScheme name="Semantic Loss MNIST Lecture">
      <a:dk1>
        <a:srgbClr val="1F2933"/>
      </a:dk1>
      <a:lt1>
        <a:srgbClr val="FFFFFF"/>
      </a:lt1>
      <a:dk2>
        <a:srgbClr val="14202E"/>
      </a:dk2>
      <a:lt2>
        <a:srgbClr val="F1F4F8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52606D"/>
      </a:accent6>
      <a:hlink>
        <a:srgbClr val="2A78D6"/>
      </a:hlink>
      <a:folHlink>
        <a:srgbClr val="4A3AA7"/>
      </a:folHlink>
    </a:clrScheme>
    <a:fontScheme name="Semantic Loss MNIST Lectu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지식으로 라벨을 대신할 수 있을까 — MNIST로 배우는 의미 손실</dc:title>
  <dc:subject>PptxGenJS Presentation</dc:subject>
  <dc:creator>Sangun Park</dc:creator>
  <cp:lastModifiedBy>Sangun Park</cp:lastModifiedBy>
  <cp:revision>1</cp:revision>
  <dcterms:created xsi:type="dcterms:W3CDTF">2026-10-05T05:26:07Z</dcterms:created>
  <dcterms:modified xsi:type="dcterms:W3CDTF">2026-10-05T05:26:07Z</dcterms:modified>
</cp:coreProperties>
</file>