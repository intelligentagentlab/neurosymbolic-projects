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1.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charts/chart2.xml" ContentType="application/vnd.openxmlformats-officedocument.drawingml.chart+xml"/>
  <Override PartName="/ppt/slideMasters/slideMaster48.xml" ContentType="application/vnd.openxmlformats-officedocument.presentationml.slideMaster+xml"/>
  <Override PartName="/ppt/slides/slide48.xml" ContentType="application/vnd.openxmlformats-officedocument.presentationml.slide+xml"/>
  <Override PartName="/ppt/charts/chart3.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charts/chart4.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0e944940-0c0a-d704-00cc-9d12a7680981}">
          <p14:sldIdLst>
            <p14:sldId id="256"/>
            <p14:sldId id="257"/>
            <p14:sldId id="258"/>
          </p14:sldIdLst>
        </p14:section>
        <p14:section name="뉴로심볼릭 도입" id="{c707f33c-7cac-241f-3ac5-05c092126b5b}">
          <p14:sldIdLst>
            <p14:sldId id="259"/>
            <p14:sldId id="260"/>
            <p14:sldId id="261"/>
          </p14:sldIdLst>
        </p14:section>
        <p14:section name="사전 지식" id="{132426d2-7579-9951-9611-18fc87e2c064}">
          <p14:sldIdLst>
            <p14:sldId id="262"/>
            <p14:sldId id="263"/>
            <p14:sldId id="264"/>
            <p14:sldId id="265"/>
            <p14:sldId id="266"/>
          </p14:sldIdLst>
        </p14:section>
        <p14:section name="의미 손실 이론" id="{cbcc10bd-347e-a1d5-b2de-b6bb386c8679}">
          <p14:sldIdLst>
            <p14:sldId id="267"/>
            <p14:sldId id="268"/>
            <p14:sldId id="269"/>
            <p14:sldId id="270"/>
            <p14:sldId id="271"/>
            <p14:sldId id="272"/>
            <p14:sldId id="273"/>
            <p14:sldId id="274"/>
            <p14:sldId id="275"/>
            <p14:sldId id="276"/>
            <p14:sldId id="277"/>
          </p14:sldIdLst>
        </p14:section>
        <p14:section name="실험 목적과 데이터" id="{e7b2fffa-1737-552f-9859-21e181921725}">
          <p14:sldIdLst>
            <p14:sldId id="278"/>
            <p14:sldId id="279"/>
            <p14:sldId id="280"/>
            <p14:sldId id="281"/>
            <p14:sldId id="282"/>
          </p14:sldIdLst>
        </p14:section>
        <p14:section name="실험 설계와 구현" id="{2061ec88-e2f5-cf6b-9b81-2e01bb81bbb1}">
          <p14:sldIdLst>
            <p14:sldId id="283"/>
            <p14:sldId id="284"/>
            <p14:sldId id="285"/>
            <p14:sldId id="286"/>
            <p14:sldId id="287"/>
            <p14:sldId id="288"/>
            <p14:sldId id="289"/>
            <p14:sldId id="290"/>
            <p14:sldId id="291"/>
            <p14:sldId id="292"/>
            <p14:sldId id="293"/>
            <p14:sldId id="294"/>
            <p14:sldId id="295"/>
            <p14:sldId id="296"/>
            <p14:sldId id="297"/>
            <p14:sldId id="298"/>
            <p14:sldId id="299"/>
            <p14:sldId id="300"/>
          </p14:sldIdLst>
        </p14:section>
        <p14:section name="실험 결과와 토론" id="{3465b7af-5d76-ae82-3f30-b7e5fd237279}">
          <p14:sldIdLst>
            <p14:sldId id="301"/>
            <p14:sldId id="302"/>
            <p14:sldId id="303"/>
            <p14:sldId id="304"/>
            <p14:sldId id="305"/>
            <p14:sldId id="306"/>
            <p14:sldId id="307"/>
            <p14:sldId id="308"/>
            <p14:sldId id="309"/>
            <p14:sldId id="310"/>
            <p14:sldId id="311"/>
            <p14:sldId id="312"/>
          </p14:sldIdLst>
        </p14:section>
        <p14:section name="실습" id="{a5f0c576-a074-d199-b899-f421dab473c0}">
          <p14:sldIdLst>
            <p14:sldId id="313"/>
            <p14:sldId id="314"/>
            <p14:sldId id="31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2606D"/>
                </a:solidFill>
                <a:latin typeface="+mn-lt"/>
              </a:defRPr>
            </a:pPr>
            <a:r>
              <a:rPr sz="1300" b="0" i="0" u="none" strike="noStrike">
                <a:solidFill>
                  <a:srgbClr val="52606D"/>
                </a:solidFill>
                <a:latin typeface="+mn-lt"/>
              </a:rPr>
              <a:t>확률 vs 경사하강 스텝</a:t>
            </a:r>
          </a:p>
        </c:rich>
      </c:tx>
      <c:layout/>
      <c:overlay val="0"/>
    </c:title>
    <c:autoTitleDeleted val="0"/>
    <c:plotArea>
      <c:layout/>
      <c:lineChart>
        <c:varyColors val="0"/>
        <c:ser>
          <c:idx val="0"/>
          <c:order val="0"/>
          <c:tx>
            <c:strRef>
              <c:f>Sheet1!$B$1</c:f>
              <c:strCache>
                <c:ptCount val="1"/>
                <c:pt idx="0">
                  <c:v>p_B (새)</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000" u="none">
                    <a:solidFill>
                      <a:srgbClr val="1F2933"/>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Sheet1!$B$2:$B$32</c:f>
              <c:numCache>
                <c:formatCode>General</c:formatCode>
                <c:ptCount val="31"/>
                <c:pt idx="0">
                  <c:v>0.9</c:v>
                </c:pt>
                <c:pt idx="1">
                  <c:v>0.9019</c:v>
                </c:pt>
                <c:pt idx="2">
                  <c:v>0.9036</c:v>
                </c:pt>
                <c:pt idx="3">
                  <c:v>0.9052</c:v>
                </c:pt>
                <c:pt idx="4">
                  <c:v>0.9068</c:v>
                </c:pt>
                <c:pt idx="5">
                  <c:v>0.9082</c:v>
                </c:pt>
                <c:pt idx="6">
                  <c:v>0.9095</c:v>
                </c:pt>
                <c:pt idx="7">
                  <c:v>0.9107</c:v>
                </c:pt>
                <c:pt idx="8">
                  <c:v>0.9118</c:v>
                </c:pt>
                <c:pt idx="9">
                  <c:v>0.9129</c:v>
                </c:pt>
                <c:pt idx="10">
                  <c:v>0.9139</c:v>
                </c:pt>
                <c:pt idx="11">
                  <c:v>0.9148</c:v>
                </c:pt>
                <c:pt idx="12">
                  <c:v>0.9157</c:v>
                </c:pt>
                <c:pt idx="13">
                  <c:v>0.9165</c:v>
                </c:pt>
                <c:pt idx="14">
                  <c:v>0.9173</c:v>
                </c:pt>
                <c:pt idx="15">
                  <c:v>0.918</c:v>
                </c:pt>
                <c:pt idx="16">
                  <c:v>0.9187</c:v>
                </c:pt>
                <c:pt idx="17">
                  <c:v>0.9193</c:v>
                </c:pt>
                <c:pt idx="18">
                  <c:v>0.9199</c:v>
                </c:pt>
                <c:pt idx="19">
                  <c:v>0.9205</c:v>
                </c:pt>
                <c:pt idx="20">
                  <c:v>0.9211</c:v>
                </c:pt>
                <c:pt idx="21">
                  <c:v>0.9216</c:v>
                </c:pt>
                <c:pt idx="22">
                  <c:v>0.9221</c:v>
                </c:pt>
                <c:pt idx="23">
                  <c:v>0.9226</c:v>
                </c:pt>
                <c:pt idx="24">
                  <c:v>0.9231</c:v>
                </c:pt>
                <c:pt idx="25">
                  <c:v>0.9235</c:v>
                </c:pt>
                <c:pt idx="26">
                  <c:v>0.924</c:v>
                </c:pt>
                <c:pt idx="27">
                  <c:v>0.9244</c:v>
                </c:pt>
                <c:pt idx="28">
                  <c:v>0.9248</c:v>
                </c:pt>
                <c:pt idx="29">
                  <c:v>0.9252</c:v>
                </c:pt>
                <c:pt idx="30">
                  <c:v>0.9256</c:v>
                </c:pt>
              </c:numCache>
            </c:numRef>
          </c:val>
          <c:smooth val="0"/>
        </c:ser>
        <c:ser>
          <c:idx val="1"/>
          <c:order val="1"/>
          <c:tx>
            <c:strRef>
              <c:f>Sheet1!$C$1</c:f>
              <c:strCache>
                <c:ptCount val="1"/>
                <c:pt idx="0">
                  <c:v>p_F (난다)</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000" u="none">
                    <a:solidFill>
                      <a:srgbClr val="1F2933"/>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Sheet1!$C$2:$C$32</c:f>
              <c:numCache>
                <c:formatCode>General</c:formatCode>
                <c:ptCount val="31"/>
                <c:pt idx="0">
                  <c:v>0.8</c:v>
                </c:pt>
                <c:pt idx="1">
                  <c:v>0.7719</c:v>
                </c:pt>
                <c:pt idx="2">
                  <c:v>0.7432</c:v>
                </c:pt>
                <c:pt idx="3">
                  <c:v>0.7146</c:v>
                </c:pt>
                <c:pt idx="4">
                  <c:v>0.6865</c:v>
                </c:pt>
                <c:pt idx="5">
                  <c:v>0.6593</c:v>
                </c:pt>
                <c:pt idx="6">
                  <c:v>0.6334</c:v>
                </c:pt>
                <c:pt idx="7">
                  <c:v>0.6089</c:v>
                </c:pt>
                <c:pt idx="8">
                  <c:v>0.5859</c:v>
                </c:pt>
                <c:pt idx="9">
                  <c:v>0.5644</c:v>
                </c:pt>
                <c:pt idx="10">
                  <c:v>0.5444</c:v>
                </c:pt>
                <c:pt idx="11">
                  <c:v>0.5258</c:v>
                </c:pt>
                <c:pt idx="12">
                  <c:v>0.5085</c:v>
                </c:pt>
                <c:pt idx="13">
                  <c:v>0.4925</c:v>
                </c:pt>
                <c:pt idx="14">
                  <c:v>0.4777</c:v>
                </c:pt>
                <c:pt idx="15">
                  <c:v>0.4639</c:v>
                </c:pt>
                <c:pt idx="16">
                  <c:v>0.451</c:v>
                </c:pt>
                <c:pt idx="17">
                  <c:v>0.439</c:v>
                </c:pt>
                <c:pt idx="18">
                  <c:v>0.4279</c:v>
                </c:pt>
                <c:pt idx="19">
                  <c:v>0.4174</c:v>
                </c:pt>
                <c:pt idx="20">
                  <c:v>0.4076</c:v>
                </c:pt>
                <c:pt idx="21">
                  <c:v>0.3985</c:v>
                </c:pt>
                <c:pt idx="22">
                  <c:v>0.3898</c:v>
                </c:pt>
                <c:pt idx="23">
                  <c:v>0.3817</c:v>
                </c:pt>
                <c:pt idx="24">
                  <c:v>0.3741</c:v>
                </c:pt>
                <c:pt idx="25">
                  <c:v>0.3668</c:v>
                </c:pt>
                <c:pt idx="26">
                  <c:v>0.36</c:v>
                </c:pt>
                <c:pt idx="27">
                  <c:v>0.3535</c:v>
                </c:pt>
                <c:pt idx="28">
                  <c:v>0.3473</c:v>
                </c:pt>
                <c:pt idx="29">
                  <c:v>0.3415</c:v>
                </c:pt>
                <c:pt idx="30">
                  <c:v>0.3359</c:v>
                </c:pt>
              </c:numCache>
            </c:numRef>
          </c:val>
          <c:smooth val="0"/>
        </c:ser>
        <c:ser>
          <c:idx val="2"/>
          <c:order val="2"/>
          <c:tx>
            <c:strRef>
              <c:f>Sheet1!$D$1</c:f>
              <c:strCache>
                <c:ptCount val="1"/>
                <c:pt idx="0">
                  <c:v>p_P (펭귄)</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000" u="none">
                    <a:solidFill>
                      <a:srgbClr val="1F2933"/>
                    </a:solidFill>
                    <a:latin typeface="+mn-lt"/>
                  </a:defRPr>
                </a:pPr>
              </a:p>
            </c:txPr>
            <c:showLegendKey val="0"/>
            <c:showVal val="0"/>
            <c:showCatName val="0"/>
            <c:showSerName val="0"/>
            <c:showPercent val="0"/>
            <c:showBubbleSize val="0"/>
            <c:showLeaderLines val="0"/>
          </c:dLbls>
          <c:marker>
            <c:symbol val="none"/>
            <c:size val="6"/>
            <c:spPr>
              <a:solidFill>
                <a:srgbClr val="1BAF7A"/>
              </a:solidFill>
              <a:ln w="9525" cap="flat">
                <a:solidFill>
                  <a:srgbClr val="1BAF7A"/>
                </a:solidFill>
                <a:prstDash val="solid"/>
                <a:round/>
              </a:ln>
              <a:effectLst/>
            </c:spPr>
          </c:marker>
          <c:cat>
            <c:multiLvlStrRef>
              <c:f>Sheet1!$A$2:$A$32</c:f>
              <c:multiLvlStrCache>
                <c:ptCount val="31"/>
                <c:lvl>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lvl>
              </c:multiLvlStrCache>
            </c:multiLvlStrRef>
          </c:cat>
          <c:val>
            <c:numRef>
              <c:f>Sheet1!$D$2:$D$32</c:f>
              <c:numCache>
                <c:formatCode>General</c:formatCode>
                <c:ptCount val="31"/>
                <c:pt idx="0">
                  <c:v>0.8</c:v>
                </c:pt>
                <c:pt idx="1">
                  <c:v>0.7677</c:v>
                </c:pt>
                <c:pt idx="2">
                  <c:v>0.7338</c:v>
                </c:pt>
                <c:pt idx="3">
                  <c:v>0.6989</c:v>
                </c:pt>
                <c:pt idx="4">
                  <c:v>0.6638</c:v>
                </c:pt>
                <c:pt idx="5">
                  <c:v>0.6291</c:v>
                </c:pt>
                <c:pt idx="6">
                  <c:v>0.5952</c:v>
                </c:pt>
                <c:pt idx="7">
                  <c:v>0.5628</c:v>
                </c:pt>
                <c:pt idx="8">
                  <c:v>0.532</c:v>
                </c:pt>
                <c:pt idx="9">
                  <c:v>0.5031</c:v>
                </c:pt>
                <c:pt idx="10">
                  <c:v>0.4761</c:v>
                </c:pt>
                <c:pt idx="11">
                  <c:v>0.4511</c:v>
                </c:pt>
                <c:pt idx="12">
                  <c:v>0.4279</c:v>
                </c:pt>
                <c:pt idx="13">
                  <c:v>0.4065</c:v>
                </c:pt>
                <c:pt idx="14">
                  <c:v>0.3868</c:v>
                </c:pt>
                <c:pt idx="15">
                  <c:v>0.3686</c:v>
                </c:pt>
                <c:pt idx="16">
                  <c:v>0.3518</c:v>
                </c:pt>
                <c:pt idx="17">
                  <c:v>0.3364</c:v>
                </c:pt>
                <c:pt idx="18">
                  <c:v>0.3221</c:v>
                </c:pt>
                <c:pt idx="19">
                  <c:v>0.3089</c:v>
                </c:pt>
                <c:pt idx="20">
                  <c:v>0.2967</c:v>
                </c:pt>
                <c:pt idx="21">
                  <c:v>0.2854</c:v>
                </c:pt>
                <c:pt idx="22">
                  <c:v>0.2749</c:v>
                </c:pt>
                <c:pt idx="23">
                  <c:v>0.2652</c:v>
                </c:pt>
                <c:pt idx="24">
                  <c:v>0.2561</c:v>
                </c:pt>
                <c:pt idx="25">
                  <c:v>0.2476</c:v>
                </c:pt>
                <c:pt idx="26">
                  <c:v>0.2396</c:v>
                </c:pt>
                <c:pt idx="27">
                  <c:v>0.2322</c:v>
                </c:pt>
                <c:pt idx="28">
                  <c:v>0.2252</c:v>
                </c:pt>
                <c:pt idx="29">
                  <c:v>0.2187</c:v>
                </c:pt>
                <c:pt idx="30">
                  <c:v>0.2125</c:v>
                </c:pt>
              </c:numCache>
            </c:numRef>
          </c:val>
          <c:smooth val="0"/>
        </c:ser>
        <c:dLbls>
          <c:numFmt formatCode="#,##0" sourceLinked="0"/>
          <c:txPr>
            <a:bodyPr/>
            <a:lstStyle/>
            <a:p>
              <a:pPr>
                <a:defRPr b="0" i="0" strike="noStrike" sz="1000" u="none">
                  <a:solidFill>
                    <a:srgbClr val="1F29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2606D"/>
                    </a:solidFill>
                    <a:latin typeface="Arial"/>
                  </a:defRPr>
                </a:pPr>
                <a:r>
                  <a:rPr sz="1100" b="0" i="0" u="none" strike="noStrike">
                    <a:solidFill>
                      <a:srgbClr val="52606D"/>
                    </a:solidFill>
                    <a:latin typeface="Arial"/>
                  </a:rPr>
                  <a:t>스텝</a:t>
                </a:r>
              </a:p>
            </c:rich>
          </c:tx>
          <c:layout/>
          <c:overlay val="0"/>
        </c:title>
        <c:numFmt formatCode="General" sourceLinked="1"/>
        <c:majorTickMark val="out"/>
        <c:minorTickMark val="none"/>
        <c:tickLblPos val="low"/>
        <c:spPr>
          <a:ln w="12700" cap="flat">
            <a:solidFill>
              <a:srgbClr val="C9CED6"/>
            </a:solidFill>
            <a:prstDash val="solid"/>
            <a:round/>
          </a:ln>
        </c:spPr>
        <c:txPr>
          <a:bodyPr/>
          <a:lstStyle/>
          <a:p>
            <a:pPr>
              <a:defRPr sz="1200" b="0" i="0" u="none" strike="noStrike">
                <a:solidFill>
                  <a:srgbClr val="52606D"/>
                </a:solidFill>
                <a:latin typeface="+mn-lt"/>
              </a:defRPr>
            </a:pPr>
            <a:endParaRPr lang="en-US"/>
          </a:p>
        </c:txPr>
        <c:crossAx val="2094734552"/>
        <c:crosses val="autoZero"/>
        <c:auto val="1"/>
        <c:lblAlgn val="ctr"/>
        <c:noMultiLvlLbl val="1"/>
        <c:tickLblSkip val="5"/>
      </c:catAx>
      <c:valAx>
        <c:axId val="2094734552"/>
        <c:scaling>
          <c:orientation val="minMax"/>
          <c:max val="1"/>
          <c:min val="0"/>
        </c:scaling>
        <c:delete val="0"/>
        <c:axPos val="l"/>
        <c:majorGridlines>
          <c:spPr>
            <a:ln w="9525" cap="flat">
              <a:solidFill>
                <a:srgbClr val="E4E7EB"/>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2606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2606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2606D"/>
                </a:solidFill>
                <a:latin typeface="+mn-lt"/>
              </a:defRPr>
            </a:pPr>
            <a:r>
              <a:rPr sz="1300" b="0" i="0" u="none" strike="noStrike">
                <a:solidFill>
                  <a:srgbClr val="52606D"/>
                </a:solidFill>
                <a:latin typeface="+mn-lt"/>
              </a:rPr>
              <a:t>검증 fine 정확도 (%) vs λ</a:t>
            </a:r>
          </a:p>
        </c:rich>
      </c:tx>
      <c:layout/>
      <c:overlay val="0"/>
    </c:title>
    <c:autoTitleDeleted val="0"/>
    <c:plotArea>
      <c:layout/>
      <c:lineChart>
        <c:varyColors val="0"/>
        <c:ser>
          <c:idx val="0"/>
          <c:order val="0"/>
          <c:tx>
            <c:strRef>
              <c:f>Sheet1!$B$1</c:f>
              <c:strCache>
                <c:ptCount val="1"/>
                <c:pt idx="0">
                  <c:v>full</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000" u="none">
                    <a:solidFill>
                      <a:srgbClr val="1F2933"/>
                    </a:solidFill>
                    <a:latin typeface="+mn-lt"/>
                  </a:defRPr>
                </a:pPr>
              </a:p>
            </c:txPr>
            <c:showLegendKey val="0"/>
            <c:showVal val="0"/>
            <c:showCatName val="0"/>
            <c:showSerName val="0"/>
            <c:showPercent val="0"/>
            <c:showBubbleSize val="0"/>
            <c:showLeaderLines val="0"/>
          </c:dLbls>
          <c:marker>
            <c:symbol val="circle"/>
            <c:size val="8"/>
            <c:spPr>
              <a:solidFill>
                <a:srgbClr val="2A78D6"/>
              </a:solidFill>
              <a:ln w="9525" cap="flat">
                <a:solidFill>
                  <a:srgbClr val="2A78D6"/>
                </a:solidFill>
                <a:prstDash val="solid"/>
                <a:round/>
              </a:ln>
              <a:effectLst/>
            </c:spPr>
          </c:marker>
          <c:cat>
            <c:multiLvlStrRef>
              <c:f>Sheet1!$A$2:$A$8</c:f>
              <c:multiLvlStrCache>
                <c:ptCount val="7"/>
                <c:lvl>
                  <c:pt idx="0">
                    <c:v>0.005</c:v>
                  </c:pt>
                  <c:pt idx="1">
                    <c:v>0.02</c:v>
                  </c:pt>
                  <c:pt idx="2">
                    <c:v>0.1</c:v>
                  </c:pt>
                  <c:pt idx="3">
                    <c:v>0.5</c:v>
                  </c:pt>
                  <c:pt idx="4">
                    <c:v>1</c:v>
                  </c:pt>
                  <c:pt idx="5">
                    <c:v>2</c:v>
                  </c:pt>
                  <c:pt idx="6">
                    <c:v>5</c:v>
                  </c:pt>
                </c:lvl>
              </c:multiLvlStrCache>
            </c:multiLvlStrRef>
          </c:cat>
          <c:val>
            <c:numRef>
              <c:f>Sheet1!$B$2:$B$8</c:f>
              <c:numCache>
                <c:formatCode>General</c:formatCode>
                <c:ptCount val="7"/>
                <c:pt idx="0">
                  <c:v>72.7</c:v>
                </c:pt>
                <c:pt idx="1">
                  <c:v>72.7</c:v>
                </c:pt>
                <c:pt idx="2">
                  <c:v>73.2</c:v>
                </c:pt>
                <c:pt idx="3">
                  <c:v>73.2</c:v>
                </c:pt>
                <c:pt idx="4">
                  <c:v>73.6</c:v>
                </c:pt>
                <c:pt idx="5">
                  <c:v>73.7</c:v>
                </c:pt>
                <c:pt idx="6">
                  <c:v>63.7</c:v>
                </c:pt>
              </c:numCache>
            </c:numRef>
          </c:val>
          <c:smooth val="0"/>
        </c:ser>
        <c:ser>
          <c:idx val="1"/>
          <c:order val="1"/>
          <c:tx>
            <c:strRef>
              <c:f>Sheet1!$C$1</c:f>
              <c:strCache>
                <c:ptCount val="1"/>
                <c:pt idx="0">
                  <c:v>semi</c:v>
                </c:pt>
              </c:strCache>
            </c:strRef>
          </c:tx>
          <c:spPr>
            <a:solidFill>
              <a:srgbClr val="1BAF7A"/>
            </a:solidFill>
            <a:ln w="25400" cap="flat">
              <a:solidFill>
                <a:srgbClr val="1BAF7A"/>
              </a:solidFill>
              <a:prstDash val="solid"/>
              <a:round/>
            </a:ln>
            <a:effectLst/>
          </c:spPr>
          <c:invertIfNegative val="0"/>
          <c:dLbls>
            <c:numFmt formatCode="#,##0" sourceLinked="0"/>
            <c:txPr>
              <a:bodyPr/>
              <a:lstStyle/>
              <a:p>
                <a:pPr>
                  <a:defRPr b="0" i="0" strike="noStrike" sz="1000" u="none">
                    <a:solidFill>
                      <a:srgbClr val="1F2933"/>
                    </a:solidFill>
                    <a:latin typeface="+mn-lt"/>
                  </a:defRPr>
                </a:pPr>
              </a:p>
            </c:txPr>
            <c:showLegendKey val="0"/>
            <c:showVal val="0"/>
            <c:showCatName val="0"/>
            <c:showSerName val="0"/>
            <c:showPercent val="0"/>
            <c:showBubbleSize val="0"/>
            <c:showLeaderLines val="0"/>
          </c:dLbls>
          <c:marker>
            <c:symbol val="circle"/>
            <c:size val="8"/>
            <c:spPr>
              <a:solidFill>
                <a:srgbClr val="1BAF7A"/>
              </a:solidFill>
              <a:ln w="9525" cap="flat">
                <a:solidFill>
                  <a:srgbClr val="1BAF7A"/>
                </a:solidFill>
                <a:prstDash val="solid"/>
                <a:round/>
              </a:ln>
              <a:effectLst/>
            </c:spPr>
          </c:marker>
          <c:cat>
            <c:multiLvlStrRef>
              <c:f>Sheet1!$A$2:$A$8</c:f>
              <c:multiLvlStrCache>
                <c:ptCount val="7"/>
                <c:lvl>
                  <c:pt idx="0">
                    <c:v>0.005</c:v>
                  </c:pt>
                  <c:pt idx="1">
                    <c:v>0.02</c:v>
                  </c:pt>
                  <c:pt idx="2">
                    <c:v>0.1</c:v>
                  </c:pt>
                  <c:pt idx="3">
                    <c:v>0.5</c:v>
                  </c:pt>
                  <c:pt idx="4">
                    <c:v>1</c:v>
                  </c:pt>
                  <c:pt idx="5">
                    <c:v>2</c:v>
                  </c:pt>
                  <c:pt idx="6">
                    <c:v>5</c:v>
                  </c:pt>
                </c:lvl>
              </c:multiLvlStrCache>
            </c:multiLvlStrRef>
          </c:cat>
          <c:val>
            <c:numRef>
              <c:f>Sheet1!$C$2:$C$8</c:f>
              <c:numCache>
                <c:formatCode>General</c:formatCode>
                <c:ptCount val="7"/>
                <c:pt idx="0">
                  <c:v>37.3</c:v>
                </c:pt>
                <c:pt idx="1">
                  <c:v>37.8</c:v>
                </c:pt>
                <c:pt idx="2">
                  <c:v>37.5</c:v>
                </c:pt>
                <c:pt idx="3">
                  <c:v>39.5</c:v>
                </c:pt>
                <c:pt idx="4">
                  <c:v>40.1</c:v>
                </c:pt>
                <c:pt idx="5">
                  <c:v>34.1</c:v>
                </c:pt>
                <c:pt idx="6">
                  <c:v>6.5</c:v>
                </c:pt>
              </c:numCache>
            </c:numRef>
          </c:val>
          <c:smooth val="0"/>
        </c:ser>
        <c:ser>
          <c:idx val="2"/>
          <c:order val="2"/>
          <c:tx>
            <c:strRef>
              <c:f>Sheet1!$D$1</c:f>
              <c:strCache>
                <c:ptCount val="1"/>
                <c:pt idx="0">
                  <c:v>weak</c:v>
                </c:pt>
              </c:strCache>
            </c:strRef>
          </c:tx>
          <c:spPr>
            <a:solidFill>
              <a:srgbClr val="EB6834"/>
            </a:solidFill>
            <a:ln w="25400" cap="flat">
              <a:solidFill>
                <a:srgbClr val="EB6834"/>
              </a:solidFill>
              <a:prstDash val="solid"/>
              <a:round/>
            </a:ln>
            <a:effectLst/>
          </c:spPr>
          <c:invertIfNegative val="0"/>
          <c:dLbls>
            <c:numFmt formatCode="#,##0" sourceLinked="0"/>
            <c:txPr>
              <a:bodyPr/>
              <a:lstStyle/>
              <a:p>
                <a:pPr>
                  <a:defRPr b="0" i="0" strike="noStrike" sz="1000" u="none">
                    <a:solidFill>
                      <a:srgbClr val="1F2933"/>
                    </a:solidFill>
                    <a:latin typeface="+mn-lt"/>
                  </a:defRPr>
                </a:pPr>
              </a:p>
            </c:txPr>
            <c:showLegendKey val="0"/>
            <c:showVal val="0"/>
            <c:showCatName val="0"/>
            <c:showSerName val="0"/>
            <c:showPercent val="0"/>
            <c:showBubbleSize val="0"/>
            <c:showLeaderLines val="0"/>
          </c:dLbls>
          <c:marker>
            <c:symbol val="circle"/>
            <c:size val="8"/>
            <c:spPr>
              <a:solidFill>
                <a:srgbClr val="EB6834"/>
              </a:solidFill>
              <a:ln w="9525" cap="flat">
                <a:solidFill>
                  <a:srgbClr val="EB6834"/>
                </a:solidFill>
                <a:prstDash val="solid"/>
                <a:round/>
              </a:ln>
              <a:effectLst/>
            </c:spPr>
          </c:marker>
          <c:cat>
            <c:multiLvlStrRef>
              <c:f>Sheet1!$A$2:$A$8</c:f>
              <c:multiLvlStrCache>
                <c:ptCount val="7"/>
                <c:lvl>
                  <c:pt idx="0">
                    <c:v>0.005</c:v>
                  </c:pt>
                  <c:pt idx="1">
                    <c:v>0.02</c:v>
                  </c:pt>
                  <c:pt idx="2">
                    <c:v>0.1</c:v>
                  </c:pt>
                  <c:pt idx="3">
                    <c:v>0.5</c:v>
                  </c:pt>
                  <c:pt idx="4">
                    <c:v>1</c:v>
                  </c:pt>
                  <c:pt idx="5">
                    <c:v>2</c:v>
                  </c:pt>
                  <c:pt idx="6">
                    <c:v>5</c:v>
                  </c:pt>
                </c:lvl>
              </c:multiLvlStrCache>
            </c:multiLvlStrRef>
          </c:cat>
          <c:val>
            <c:numRef>
              <c:f>Sheet1!$D$2:$D$8</c:f>
              <c:numCache>
                <c:formatCode>General</c:formatCode>
                <c:ptCount val="7"/>
                <c:pt idx="0">
                  <c:v>51.7</c:v>
                </c:pt>
                <c:pt idx="1">
                  <c:v>52.1</c:v>
                </c:pt>
                <c:pt idx="2">
                  <c:v>53.6</c:v>
                </c:pt>
                <c:pt idx="3">
                  <c:v>57.7</c:v>
                </c:pt>
                <c:pt idx="4">
                  <c:v>56.7</c:v>
                </c:pt>
                <c:pt idx="5">
                  <c:v>57.9</c:v>
                </c:pt>
                <c:pt idx="6">
                  <c:v>5.7</c:v>
                </c:pt>
              </c:numCache>
            </c:numRef>
          </c:val>
          <c:smooth val="0"/>
        </c:ser>
        <c:dLbls>
          <c:numFmt formatCode="#,##0" sourceLinked="0"/>
          <c:txPr>
            <a:bodyPr/>
            <a:lstStyle/>
            <a:p>
              <a:pPr>
                <a:defRPr b="0" i="0" strike="noStrike" sz="1000" u="none">
                  <a:solidFill>
                    <a:srgbClr val="1F2933"/>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52606D"/>
                    </a:solidFill>
                    <a:latin typeface="Arial"/>
                  </a:defRPr>
                </a:pPr>
                <a:r>
                  <a:rPr sz="1100" b="0" i="0" u="none" strike="noStrike">
                    <a:solidFill>
                      <a:srgbClr val="52606D"/>
                    </a:solidFill>
                    <a:latin typeface="Arial"/>
                  </a:rPr>
                  <a:t>λ</a:t>
                </a:r>
              </a:p>
            </c:rich>
          </c:tx>
          <c:layout/>
          <c:overlay val="0"/>
        </c:title>
        <c:numFmt formatCode="General" sourceLinked="1"/>
        <c:majorTickMark val="out"/>
        <c:minorTickMark val="none"/>
        <c:tickLblPos val="low"/>
        <c:spPr>
          <a:ln w="12700" cap="flat">
            <a:solidFill>
              <a:srgbClr val="C9CED6"/>
            </a:solidFill>
            <a:prstDash val="solid"/>
            <a:round/>
          </a:ln>
        </c:spPr>
        <c:txPr>
          <a:bodyPr/>
          <a:lstStyle/>
          <a:p>
            <a:pPr>
              <a:defRPr sz="1200" b="0" i="0" u="none" strike="noStrike">
                <a:solidFill>
                  <a:srgbClr val="52606D"/>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4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2606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2606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2606D"/>
                </a:solidFill>
                <a:latin typeface="+mn-lt"/>
              </a:defRPr>
            </a:pPr>
            <a:r>
              <a:rPr sz="1300" b="0" i="0" u="none" strike="noStrike">
                <a:solidFill>
                  <a:srgbClr val="52606D"/>
                </a:solidFill>
                <a:latin typeface="+mn-lt"/>
              </a:rPr>
              <a:t>테스트 fine 정확도 (%), 3시드 평균</a:t>
            </a:r>
          </a:p>
        </c:rich>
      </c:tx>
      <c:layout/>
      <c:overlay val="0"/>
    </c:title>
    <c:autoTitleDeleted val="0"/>
    <c:plotArea>
      <c:layout/>
      <c:barChart>
        <c:barDir val="col"/>
        <c:grouping val="clustered"/>
        <c:varyColors val="0"/>
        <c:ser>
          <c:idx val="0"/>
          <c:order val="0"/>
          <c:tx>
            <c:strRef>
              <c:f>Sheet1!$B$1</c:f>
              <c:strCache>
                <c:ptCount val="1"/>
                <c:pt idx="0">
                  <c:v>fine CE</c:v>
                </c:pt>
              </c:strCache>
            </c:strRef>
          </c:tx>
          <c:spPr>
            <a:solidFill>
              <a:srgbClr val="2A78D6"/>
            </a:solidFill>
            <a:effectLst/>
          </c:spPr>
          <c:invertIfNegative val="0"/>
          <c:dLbls>
            <c:numFmt formatCode="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full (라벨 100%)</c:v>
                  </c:pt>
                  <c:pt idx="1">
                    <c:v>semi (라벨 10%)</c:v>
                  </c:pt>
                  <c:pt idx="2">
                    <c:v>weak (fine 10% + coarse 100%)</c:v>
                  </c:pt>
                </c:lvl>
              </c:multiLvlStrCache>
            </c:multiLvlStrRef>
          </c:cat>
          <c:val>
            <c:numRef>
              <c:f>Sheet1!$B$2:$B$4</c:f>
              <c:numCache>
                <c:formatCode>General</c:formatCode>
                <c:ptCount val="3"/>
                <c:pt idx="0">
                  <c:v>73.7</c:v>
                </c:pt>
                <c:pt idx="1">
                  <c:v>36.8</c:v>
                </c:pt>
                <c:pt idx="2">
                  <c:v>36.8</c:v>
                </c:pt>
              </c:numCache>
            </c:numRef>
          </c:val>
        </c:ser>
        <c:ser>
          <c:idx val="1"/>
          <c:order val="1"/>
          <c:tx>
            <c:strRef>
              <c:f>Sheet1!$C$1</c:f>
              <c:strCache>
                <c:ptCount val="1"/>
                <c:pt idx="0">
                  <c:v>fine+coarse CE</c:v>
                </c:pt>
              </c:strCache>
            </c:strRef>
          </c:tx>
          <c:spPr>
            <a:solidFill>
              <a:srgbClr val="4A3AA7"/>
            </a:solidFill>
            <a:effectLst/>
          </c:spPr>
          <c:invertIfNegative val="0"/>
          <c:dLbls>
            <c:numFmt formatCode="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full (라벨 100%)</c:v>
                  </c:pt>
                  <c:pt idx="1">
                    <c:v>semi (라벨 10%)</c:v>
                  </c:pt>
                  <c:pt idx="2">
                    <c:v>weak (fine 10% + coarse 100%)</c:v>
                  </c:pt>
                </c:lvl>
              </c:multiLvlStrCache>
            </c:multiLvlStrRef>
          </c:cat>
          <c:val>
            <c:numRef>
              <c:f>Sheet1!$C$2:$C$4</c:f>
              <c:numCache>
                <c:formatCode>General</c:formatCode>
                <c:ptCount val="3"/>
                <c:pt idx="0">
                  <c:v>73.2</c:v>
                </c:pt>
                <c:pt idx="1">
                  <c:v>36.3</c:v>
                </c:pt>
                <c:pt idx="2">
                  <c:v>52.2</c:v>
                </c:pt>
              </c:numCache>
            </c:numRef>
          </c:val>
        </c:ser>
        <c:ser>
          <c:idx val="2"/>
          <c:order val="2"/>
          <c:tx>
            <c:strRef>
              <c:f>Sheet1!$D$1</c:f>
              <c:strCache>
                <c:ptCount val="1"/>
                <c:pt idx="0">
                  <c:v>+ exactly-one SL</c:v>
                </c:pt>
              </c:strCache>
            </c:strRef>
          </c:tx>
          <c:spPr>
            <a:solidFill>
              <a:srgbClr val="1BAF7A"/>
            </a:solidFill>
            <a:effectLst/>
          </c:spPr>
          <c:invertIfNegative val="0"/>
          <c:dLbls>
            <c:numFmt formatCode="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full (라벨 100%)</c:v>
                  </c:pt>
                  <c:pt idx="1">
                    <c:v>semi (라벨 10%)</c:v>
                  </c:pt>
                  <c:pt idx="2">
                    <c:v>weak (fine 10% + coarse 100%)</c:v>
                  </c:pt>
                </c:lvl>
              </c:multiLvlStrCache>
            </c:multiLvlStrRef>
          </c:cat>
          <c:val>
            <c:numRef>
              <c:f>Sheet1!$D$2:$D$4</c:f>
              <c:numCache>
                <c:formatCode>General</c:formatCode>
                <c:ptCount val="3"/>
                <c:pt idx="0">
                  <c:v>74.1</c:v>
                </c:pt>
                <c:pt idx="1">
                  <c:v>39.8</c:v>
                </c:pt>
                <c:pt idx="2">
                  <c:v>57.4</c:v>
                </c:pt>
              </c:numCache>
            </c:numRef>
          </c:val>
        </c:ser>
        <c:ser>
          <c:idx val="3"/>
          <c:order val="3"/>
          <c:tx>
            <c:strRef>
              <c:f>Sheet1!$E$1</c:f>
              <c:strCache>
                <c:ptCount val="1"/>
                <c:pt idx="0">
                  <c:v>+ 계층 의미 손실</c:v>
                </c:pt>
              </c:strCache>
            </c:strRef>
          </c:tx>
          <c:spPr>
            <a:solidFill>
              <a:srgbClr val="EB6834"/>
            </a:solidFill>
            <a:effectLst/>
          </c:spPr>
          <c:invertIfNegative val="0"/>
          <c:dLbls>
            <c:numFmt formatCode="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full (라벨 100%)</c:v>
                  </c:pt>
                  <c:pt idx="1">
                    <c:v>semi (라벨 10%)</c:v>
                  </c:pt>
                  <c:pt idx="2">
                    <c:v>weak (fine 10% + coarse 100%)</c:v>
                  </c:pt>
                </c:lvl>
              </c:multiLvlStrCache>
            </c:multiLvlStrRef>
          </c:cat>
          <c:val>
            <c:numRef>
              <c:f>Sheet1!$E$2:$E$4</c:f>
              <c:numCache>
                <c:formatCode>General</c:formatCode>
                <c:ptCount val="3"/>
                <c:pt idx="0">
                  <c:v>74.1</c:v>
                </c:pt>
                <c:pt idx="1">
                  <c:v>38.2</c:v>
                </c:pt>
                <c:pt idx="2">
                  <c:v>57.8</c:v>
                </c:pt>
              </c:numCache>
            </c:numRef>
          </c:val>
        </c:ser>
        <c:dLbls>
          <c:numFmt formatCode="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gapWidth val="60"/>
        <c:overlap val="-8"/>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200" b="0" i="0" u="none" strike="noStrike">
                <a:solidFill>
                  <a:srgbClr val="52606D"/>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4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2606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2606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2606D"/>
                </a:solidFill>
                <a:latin typeface="+mn-lt"/>
              </a:defRPr>
            </a:pPr>
            <a:r>
              <a:rPr sz="1300" b="0" i="0" u="none" strike="noStrike">
                <a:solidFill>
                  <a:srgbClr val="52606D"/>
                </a:solidFill>
                <a:latin typeface="+mn-lt"/>
              </a:rPr>
              <a:t>일관성 (%) : par(argmax f) = argmax c</a:t>
            </a:r>
          </a:p>
        </c:rich>
      </c:tx>
      <c:layout/>
      <c:overlay val="0"/>
    </c:title>
    <c:autoTitleDeleted val="0"/>
    <c:plotArea>
      <c:layout/>
      <c:barChart>
        <c:barDir val="col"/>
        <c:grouping val="clustered"/>
        <c:varyColors val="0"/>
        <c:ser>
          <c:idx val="0"/>
          <c:order val="0"/>
          <c:tx>
            <c:strRef>
              <c:f>Sheet1!$B$1</c:f>
              <c:strCache>
                <c:ptCount val="1"/>
                <c:pt idx="0">
                  <c:v>fine+coarse CE</c:v>
                </c:pt>
              </c:strCache>
            </c:strRef>
          </c:tx>
          <c:spPr>
            <a:solidFill>
              <a:srgbClr val="4A3AA7"/>
            </a:solidFill>
            <a:effectLst/>
          </c:spPr>
          <c:invertIfNegative val="0"/>
          <c:dLbls>
            <c:numFmt formatCode="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full</c:v>
                  </c:pt>
                  <c:pt idx="1">
                    <c:v>semi</c:v>
                  </c:pt>
                  <c:pt idx="2">
                    <c:v>weak</c:v>
                  </c:pt>
                </c:lvl>
              </c:multiLvlStrCache>
            </c:multiLvlStrRef>
          </c:cat>
          <c:val>
            <c:numRef>
              <c:f>Sheet1!$B$2:$B$4</c:f>
              <c:numCache>
                <c:formatCode>General</c:formatCode>
                <c:ptCount val="3"/>
                <c:pt idx="0">
                  <c:v>90.9</c:v>
                </c:pt>
                <c:pt idx="1">
                  <c:v>71.2</c:v>
                </c:pt>
                <c:pt idx="2">
                  <c:v>75.9</c:v>
                </c:pt>
              </c:numCache>
            </c:numRef>
          </c:val>
        </c:ser>
        <c:ser>
          <c:idx val="1"/>
          <c:order val="1"/>
          <c:tx>
            <c:strRef>
              <c:f>Sheet1!$C$1</c:f>
              <c:strCache>
                <c:ptCount val="1"/>
                <c:pt idx="0">
                  <c:v>+ exactly-one SL</c:v>
                </c:pt>
              </c:strCache>
            </c:strRef>
          </c:tx>
          <c:spPr>
            <a:solidFill>
              <a:srgbClr val="1BAF7A"/>
            </a:solidFill>
            <a:effectLst/>
          </c:spPr>
          <c:invertIfNegative val="0"/>
          <c:dLbls>
            <c:numFmt formatCode="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full</c:v>
                  </c:pt>
                  <c:pt idx="1">
                    <c:v>semi</c:v>
                  </c:pt>
                  <c:pt idx="2">
                    <c:v>weak</c:v>
                  </c:pt>
                </c:lvl>
              </c:multiLvlStrCache>
            </c:multiLvlStrRef>
          </c:cat>
          <c:val>
            <c:numRef>
              <c:f>Sheet1!$C$2:$C$4</c:f>
              <c:numCache>
                <c:formatCode>General</c:formatCode>
                <c:ptCount val="3"/>
                <c:pt idx="0">
                  <c:v>90.9</c:v>
                </c:pt>
                <c:pt idx="1">
                  <c:v>73.8</c:v>
                </c:pt>
                <c:pt idx="2">
                  <c:v>82.6</c:v>
                </c:pt>
              </c:numCache>
            </c:numRef>
          </c:val>
        </c:ser>
        <c:ser>
          <c:idx val="2"/>
          <c:order val="2"/>
          <c:tx>
            <c:strRef>
              <c:f>Sheet1!$D$1</c:f>
              <c:strCache>
                <c:ptCount val="1"/>
                <c:pt idx="0">
                  <c:v>+ 계층 의미 손실</c:v>
                </c:pt>
              </c:strCache>
            </c:strRef>
          </c:tx>
          <c:spPr>
            <a:solidFill>
              <a:srgbClr val="EB6834"/>
            </a:solidFill>
            <a:effectLst/>
          </c:spPr>
          <c:invertIfNegative val="0"/>
          <c:dLbls>
            <c:numFmt formatCode="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full</c:v>
                  </c:pt>
                  <c:pt idx="1">
                    <c:v>semi</c:v>
                  </c:pt>
                  <c:pt idx="2">
                    <c:v>weak</c:v>
                  </c:pt>
                </c:lvl>
              </c:multiLvlStrCache>
            </c:multiLvlStrRef>
          </c:cat>
          <c:val>
            <c:numRef>
              <c:f>Sheet1!$D$2:$D$4</c:f>
              <c:numCache>
                <c:formatCode>General</c:formatCode>
                <c:ptCount val="3"/>
                <c:pt idx="0">
                  <c:v>92.5</c:v>
                </c:pt>
                <c:pt idx="1">
                  <c:v>81.7</c:v>
                </c:pt>
                <c:pt idx="2">
                  <c:v>90.2</c:v>
                </c:pt>
              </c:numCache>
            </c:numRef>
          </c:val>
        </c:ser>
        <c:dLbls>
          <c:numFmt formatCode="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gapWidth val="70"/>
        <c:overlap val="-8"/>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200" b="0" i="0" u="none" strike="noStrike">
                <a:solidFill>
                  <a:srgbClr val="52606D"/>
                </a:solidFill>
                <a:latin typeface="+mn-lt"/>
              </a:defRPr>
            </a:pPr>
            <a:endParaRPr lang="en-US"/>
          </a:p>
        </c:txPr>
        <c:crossAx val="2094734552"/>
        <c:crosses val="autoZero"/>
        <c:auto val="1"/>
        <c:lblAlgn val="ctr"/>
        <c:noMultiLvlLbl val="1"/>
      </c:catAx>
      <c:valAx>
        <c:axId val="2094734552"/>
        <c:scaling>
          <c:orientation val="minMax"/>
          <c:max val="100"/>
          <c:min val="50"/>
        </c:scaling>
        <c:delete val="0"/>
        <c:axPos val="l"/>
        <c:majorGridlines>
          <c:spPr>
            <a:ln w="9525" cap="flat">
              <a:solidFill>
                <a:srgbClr val="E4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2606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2606D"/>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2606D"/>
                </a:solidFill>
                <a:latin typeface="+mn-lt"/>
              </a:defRPr>
            </a:pPr>
            <a:r>
              <a:rPr sz="1300" b="0" i="0" u="none" strike="noStrike">
                <a:solidFill>
                  <a:srgbClr val="52606D"/>
                </a:solidFill>
                <a:latin typeface="+mn-lt"/>
              </a:rPr>
              <a:t>fine 정확도 (%p)</a:t>
            </a:r>
          </a:p>
        </c:rich>
      </c:tx>
      <c:layout/>
      <c:overlay val="0"/>
    </c:title>
    <c:autoTitleDeleted val="0"/>
    <c:plotArea>
      <c:layout/>
      <c:barChart>
        <c:barDir val="col"/>
        <c:grouping val="clustered"/>
        <c:varyColors val="0"/>
        <c:ser>
          <c:idx val="0"/>
          <c:order val="0"/>
          <c:tx>
            <c:strRef>
              <c:f>Sheet1!$B$1</c:f>
              <c:strCache>
                <c:ptCount val="1"/>
                <c:pt idx="0">
                  <c:v>fine 정확도 차이</c:v>
                </c:pt>
              </c:strCache>
            </c:strRef>
          </c:tx>
          <c:spPr>
            <a:solidFill>
              <a:srgbClr val="EB6834"/>
            </a:solidFill>
            <a:effectLst/>
          </c:spPr>
          <c:invertIfNegative val="0"/>
          <c:dLbls>
            <c:numFmt formatCode="+0.0;-0.0;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full</c:v>
                  </c:pt>
                  <c:pt idx="1">
                    <c:v>semi</c:v>
                  </c:pt>
                  <c:pt idx="2">
                    <c:v>weak</c:v>
                  </c:pt>
                </c:lvl>
              </c:multiLvlStrCache>
            </c:multiLvlStrRef>
          </c:cat>
          <c:val>
            <c:numRef>
              <c:f>Sheet1!$B$2:$B$4</c:f>
              <c:numCache>
                <c:formatCode>General</c:formatCode>
                <c:ptCount val="3"/>
                <c:pt idx="0">
                  <c:v>0</c:v>
                </c:pt>
                <c:pt idx="1">
                  <c:v>-1.7</c:v>
                </c:pt>
                <c:pt idx="2">
                  <c:v>0.5</c:v>
                </c:pt>
              </c:numCache>
            </c:numRef>
          </c:val>
        </c:ser>
        <c:dLbls>
          <c:numFmt formatCode="+0.0;-0.0;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200" b="0" i="0" u="none" strike="noStrike">
                <a:solidFill>
                  <a:srgbClr val="52606D"/>
                </a:solidFill>
                <a:latin typeface="+mn-lt"/>
              </a:defRPr>
            </a:pPr>
            <a:endParaRPr lang="en-US"/>
          </a:p>
        </c:txPr>
        <c:crossAx val="2094734552"/>
        <c:crosses val="autoZero"/>
        <c:auto val="1"/>
        <c:lblAlgn val="ctr"/>
        <c:noMultiLvlLbl val="1"/>
      </c:catAx>
      <c:valAx>
        <c:axId val="2094734552"/>
        <c:scaling>
          <c:orientation val="minMax"/>
          <c:max val="9"/>
          <c:min val="-3"/>
        </c:scaling>
        <c:delete val="0"/>
        <c:axPos val="l"/>
        <c:majorGridlines>
          <c:spPr>
            <a:ln w="9525" cap="flat">
              <a:solidFill>
                <a:srgbClr val="E4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2606D"/>
                </a:solidFill>
                <a:latin typeface="+mn-lt"/>
              </a:defRPr>
            </a:pPr>
            <a:endParaRPr lang="en-US"/>
          </a:p>
        </c:txPr>
        <c:crossAx val="2094734554"/>
        <c:crosses val="autoZero"/>
        <c:crossBetween val="between"/>
        <c:majorUnit val="3"/>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52606D"/>
                </a:solidFill>
                <a:latin typeface="+mn-lt"/>
              </a:defRPr>
            </a:pPr>
            <a:r>
              <a:rPr sz="1300" b="0" i="0" u="none" strike="noStrike">
                <a:solidFill>
                  <a:srgbClr val="52606D"/>
                </a:solidFill>
                <a:latin typeface="+mn-lt"/>
              </a:rPr>
              <a:t>일관성 (%p)</a:t>
            </a:r>
          </a:p>
        </c:rich>
      </c:tx>
      <c:layout/>
      <c:overlay val="0"/>
    </c:title>
    <c:autoTitleDeleted val="0"/>
    <c:plotArea>
      <c:layout/>
      <c:barChart>
        <c:barDir val="col"/>
        <c:grouping val="clustered"/>
        <c:varyColors val="0"/>
        <c:ser>
          <c:idx val="0"/>
          <c:order val="0"/>
          <c:tx>
            <c:strRef>
              <c:f>Sheet1!$B$1</c:f>
              <c:strCache>
                <c:ptCount val="1"/>
                <c:pt idx="0">
                  <c:v>일관성 차이</c:v>
                </c:pt>
              </c:strCache>
            </c:strRef>
          </c:tx>
          <c:spPr>
            <a:solidFill>
              <a:srgbClr val="EB6834"/>
            </a:solidFill>
            <a:effectLst/>
          </c:spPr>
          <c:invertIfNegative val="0"/>
          <c:dLbls>
            <c:numFmt formatCode="+0.0;-0.0;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full</c:v>
                  </c:pt>
                  <c:pt idx="1">
                    <c:v>semi</c:v>
                  </c:pt>
                  <c:pt idx="2">
                    <c:v>weak</c:v>
                  </c:pt>
                </c:lvl>
              </c:multiLvlStrCache>
            </c:multiLvlStrRef>
          </c:cat>
          <c:val>
            <c:numRef>
              <c:f>Sheet1!$B$2:$B$4</c:f>
              <c:numCache>
                <c:formatCode>General</c:formatCode>
                <c:ptCount val="3"/>
                <c:pt idx="0">
                  <c:v>1.6</c:v>
                </c:pt>
                <c:pt idx="1">
                  <c:v>7.8</c:v>
                </c:pt>
                <c:pt idx="2">
                  <c:v>7.6</c:v>
                </c:pt>
              </c:numCache>
            </c:numRef>
          </c:val>
        </c:ser>
        <c:dLbls>
          <c:numFmt formatCode="+0.0;-0.0;0.0" sourceLinked="0"/>
          <c:txPr>
            <a:bodyPr/>
            <a:lstStyle/>
            <a:p>
              <a:pPr>
                <a:defRPr b="0" i="0" strike="noStrike" sz="1000" u="none">
                  <a:solidFill>
                    <a:srgbClr val="1F2933"/>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200" b="0" i="0" u="none" strike="noStrike">
                <a:solidFill>
                  <a:srgbClr val="52606D"/>
                </a:solidFill>
                <a:latin typeface="+mn-lt"/>
              </a:defRPr>
            </a:pPr>
            <a:endParaRPr lang="en-US"/>
          </a:p>
        </c:txPr>
        <c:crossAx val="2094734552"/>
        <c:crosses val="autoZero"/>
        <c:auto val="1"/>
        <c:lblAlgn val="ctr"/>
        <c:noMultiLvlLbl val="1"/>
      </c:catAx>
      <c:valAx>
        <c:axId val="2094734552"/>
        <c:scaling>
          <c:orientation val="minMax"/>
          <c:max val="9"/>
          <c:min val="-3"/>
        </c:scaling>
        <c:delete val="0"/>
        <c:axPos val="l"/>
        <c:majorGridlines>
          <c:spPr>
            <a:ln w="9525" cap="flat">
              <a:solidFill>
                <a:srgbClr val="E4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2606D"/>
                </a:solidFill>
                <a:latin typeface="+mn-lt"/>
              </a:defRPr>
            </a:pPr>
            <a:endParaRPr lang="en-US"/>
          </a:p>
        </c:txPr>
        <c:crossAx val="2094734554"/>
        <c:crosses val="autoZero"/>
        <c:crossBetween val="between"/>
        <c:majorUnit val="3"/>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시작 · 약 1.0분] 강의 소개. 오늘은 '규칙(지식)을 신경망 학습에 넣는 방법' 중 하나인 의미 손실을 이론-구현-실험 순으로 끝까지 따라가 본다. 학부생은 직관과 예제, 대학원생은 유도와 코드에 초점을 두면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시작 · 약 1.0분] 전체 약 78분 구성. 1~2부(도입, 사전 지식)는 학부생을 위한 기초, 3부가 이론의 핵심, 4~6부는 실제 실험을 설계·구현·평가한 과정이다. 부록은 실습용이다.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시작 · 약 1.0분] 동기. 이 숫자는 우리 실험에서 나온 실제 값이다(weak 설정, fine+coarse CE 모델, 테스트 3시드 평균). 한 네트워크가 '단풍나무'와 '탈것'을 동시에 답하는 경우가 4장 중 1장꼴. 사람은 '단풍나무면 나무다'를 알지만 신경망은 이 지식을 모른다. 오늘의 질문: 이 지식을 학습에 어떻게 넣을까?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 시작 · 약 0.5분] 1부 시작.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[3:31 시작 · 약 1.7분] 신경망은 픽셀에서 개념을 뽑는 지각에 강하지만 규칙을 보장하지 않고 많은 데이터가 필요하다. 기호 AI는 규칙을 정확히 다루고 설명 가능하지만, 픽셀 같은 원시 입력을 다루지 못한다. 뉴로심볼릭은 둘을 결합한다.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[5:16 시작 · 약 1.7분] 지식을 넣는 위치에 따라 분류할 수 있다. 오늘 다룰 의미 손실은 '손실 함수' 쪽이다. 장점: 모델 구조를 바꾸지 않고, 추론 시 추가 비용이 없으며, 라벨 없는 데이터에도 적용 가능. 관련 연구로 DeepProbLog(구조/추론 쪽), Logic Tensor Networks(퍼지 논리 기반 손실)가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 시작 · 약 0.6분] 2부: 이후 수식을 따라오기 위한 최소한의 배경.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[7:38 시작 · 약 2.1분] 같은 로짓 z를 두 방식으로 확률로 바꿀 수 있다. 소프트맥스는 '하나의 분포'(합=1), 시그모이드는 '서로 독립인 n개의 동전'. 의미 손실은 시그모이드 해석을 쓴다: 각 출력이 독립적인 명제 변수 X_i가 참일 확률. 이 점이 이후 '세계의 확률'을 정의하는 핵심이다.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[9:43 시작 · 약 2.1분] 교차 엔트로피는 '정답 클래스의 로그 확률'을 최대화한다. 로짓에 대한 기울기가 p − y로 매우 단순하다는 점이 중요: 정답 쪽 확률은 올리고 나머지는 내린다. 의미 손실은 정답(y)을 모른다는 점에서 근본적으로 다르다 — 이 대비를 기억해 두자.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[11:49 시작 · 약 2.1분] 학생들이 가장 헷갈리는 부분. P→Q는 'P가 참인데 Q가 거짓'인 경우에만 거짓이다. 특히 P가 거짓이면 Q와 상관없이 참(공허한 참). 펭귄 예제에서 '펭귄이 아니면 규칙은 자동으로 만족'이 바로 이 성질이다. 또한 P→Q ≡ ¬P∨Q 로 바꿔 쓸 수 있어 CNF로 표현된다.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[13:54 시작 · 약 2.1분] CNF(논리곱 표준형)는 절들의 논리곱이다. n개의 변수에 0/1을 할당한 것 하나를 '세계'라 부르고, 총 2^n개가 있다. α를 만족하는 세계의 집합이 이후 확률 계산의 대상이다. exactly-one을 예로 들면 2^3=8개 중 3개만 만족한다.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[16:00 시작 · 약 0.6분] 3부: 오늘의 핵심 이론.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[16:38 시작 · 약 2.1분] 정의를 천천히 읽는다. 네트워크 출력 p를 n개의 독립 동전으로 보고 세계 하나를 뽑는다고 하자. 그 세계가 α를 만족할 확률이 Pr(α)이고, 의미 손실은 그 음의 로그다. 이 양을 '가중 모델 카운팅(WMC)'이라고도 부른다. 비례 기호(∝)는 원 논문 표기이며, 실제로는 가중치 λ로 스케일한다.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[18:47 시작 · 약 2.1분] Xu et al.은 몇 가지 공리로부터 의미 손실이 (상수배를 제외하고) 유일하게 결정됨을 보였다. 강의에서는 실용적 성질 위주로: (1) 미분 가능 → 역전파 가능, (2) 라벨이 필요 없음 → 준지도 학습, (3) 논리적으로 동치인 두 식은 같은 손실(문법이 아니라 의미에 의존 — 그래서 이름이 'semantic'), (4) 출력이 확신을 가지고 제약을 만족하면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[20:55 시작 · 약 2.1분] 원 논문의 가장 단순한 예. 출력이 원-핫에 가까울수록 Pr(α)가 1에 가깝고 손실은 0. 퍼져 있을수록 손실이 크다. 우리 테스트 코드가 이 표의 값을 그대로 재현한다(tests/test_losses.py).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 시작 · 약 2.1분] 대학원생용 유도. 공통 인수 ∏(1−p_j)를 밖으로 빼면 합 안에는 p_i/(1−p_i) = e^{z_i}(오즈)만 남는다. 로그를 취하면 logsumexp와 softplus만으로 표현된다. 두 연산 모두 PyTorch에 수치적으로 안정한 구현이 있어 큰 로짓에서도 overflow가 없다. 계산량은 O(n) — 세계를 나열할 필요가 없다.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[25:11 시작 · 약 2.1분] 이제 출력 형식이 아니라 '지식'이 들어가는 예. 변수 3개 → 세계 8개, 그중 5개가 만족. 네트워크는 '날아다니는 새'라고 믿으면서 동시에 펭귄이라고도 믿고 있다(0.8). 위반 확률 0.656 중 0.576이 '펭귄인데 난다' 한 세계에 몰려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[27:19 시작 · 약 2.1분] 앞 슬라이드의 인수분해가 어떻게 나오는가. 원리 1: 변수 하나(P)로 경우를 나누면 두 경우는 겹치지 않으므로 확률을 더하면 된다(섀넌 분해). 원리 2: P=0이면 두 규칙이 공허한 참이 되어 B, F에는 제약이 없고, 독립 변수의 모든 값의 합은 1이라 사라진다. 원리 3: P=1이면 B ∧ ¬F만 남고, 서로 다른 변수의 조건이므로 곱으로 쪼개진다. 결과: 세계 5개의 합이 항 2개로. 대학원생용 보충: Pr(α)는 각 p_i에 대해 1차식이라 ∂Pr/∂p_i = Pr(α|X_i=1) − Pr(α|X_i=0) — 다음 슬라이드의 기울기가 바로 이 값이다(p_P: 0.18 − 1 = −0.82). 이 세 원리를 회로로 자동화한 것이 지식 컴파일(SDD, d-DNNF)이고, 이 강의의 exactly-one·계층 제약 닫힌 형태도 같은 원리로 손으로 유도한 것이다.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[29:27 시작 · 약 2.1분] 인수분해식을 미분하면 각 확률을 어느 방향으로 밀어야 하는지 보인다. ∂Pr/∂p_F = −p_P p_B : '펭귄이고 새라고 믿을수록 난다는 믿음을 강하게 내려라' — 전건 긍정(modus ponens)의 미분 가능한 형태. 이미 거의 만족된 P→B 쪽(p_B)은 기울기가 작다. 손실 L=−log Pr의 기울기는 1/Pr ≈ 2.9배이며 부호는 반대(경사하강은 −∇L 방향 = ∇Pr 방향).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[31:36 시작 · 약 2.1분] demo_paper_examples.py로 만든 실제 궤적(로짓에 SGD, lr=0.5). p_F와 p_P가 모두 내려간다 — 모순을 푸는 길이 두 갈래이고, 의미 손실은 어느 쪽인지 지시하지 않는다. 실제 학습에서는 교차 엔트로피(데이터)가 균형을 결정한다: 진짜 펭귄 이미지면 p_P가 유지되고 p_F가 내려가며, 아니면 p_P가 내려간다.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[33:44 시작 · 약 2.1분] 실제 학습에서는 두 손실을 더한다. CE는 정답을 알려주고 의미 손실은 정합성을 강제한다. 라벨이 없는 데이터에는 CE 항이 없으므로 의미 손실만 작동한다 — 이것이 준지도 학습에서 의미 손실이 가치 있는 이유. λ는 둘의 균형을 정하는 하이퍼파라미터로, 이후 실험에서 매우 중요함을 보게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[35:52 시작 · 약 2.1분] 일반 CNF에 대한 WMC는 #P-hard. 변수가 많으면 2^n 세계를 나열할 수 없다. 원 논문은 제약을 SDD(Sentential Decision Diagram)로 '지식 컴파일'해서 회로 크기에 선형인 시간에 계산했다. 우리 실험의 계층 제약은 구조가 단순해서 손으로 닫힌 형태를 유도할 수 있다 — 5부에서 다룬다.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[38:00 시작 · 약 0.4분] 4부: 이론을 실제 이미지 분류 문제로 가져간다.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[38:25 시작 · 약 1.4분] 설계의 출발점. RQ1~3은 라벨 양에 따른 효과, RQ4는 효과의 원인 분리(대조 실험). '성능이 오른다'보다 '언제, 왜 오르는가'를 묻는 것이 좋은 실험 설계.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[39:49 시작 · 약 1.4분] CIFAR-100은 32×32 컬러 이미지 6만 장. 100개 세부 클래스(fine)가 20개 상위 클래스(coarse)에 각각 정확히 5개씩 속한다. 이 계층이 우리 규칙 베이스가 된다. 데이터셋이 계층 라벨을 함께 제공하므로 규칙을 직접 작성할 필요 없이 데이터에서 추출했다(코드에서 일관성 검증).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[41:13 시작 · 약 1.4분] 상위 클래스 6개의 실제 예시. 같은 상위 클래스 안의 세부 클래스는 시각적으로 비슷한 경우가 많다(나무들, 대형 육식동물들). 그래서 '상위 클래스는 맞혔지만 세부 클래스는 틀린' 오류가 흔하다 — 결과 해석에서 다시 나온다.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[42:36 시작 · 약 1.4분] 전체 목록. 각 상위 클래스에는 정확히 5개의 세부 클래스가 있다. 이 100개의 (세부 → 상위) 대응이 곧 100개의 함의 규칙이다.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[44:00 시작 · 약 0.3분] 5부: 이론을 120개 출력의 신경망으로 옮긴다.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[44:21 시작 · 약 1.2분] 출력 120개를 명제 변수로 본다. 규칙은 세 부분. 절의 개수: EO(f)는 '최소 하나' 1개 + 쌍마다 1개 C(100,2)=4950개, EO(c)는 1+190, 함의 100개 → 총 5,242개. 세계는 2^120 ≈ 1.3×10^36개지만 만족하는 세계는 정확히 100개: 세부 클래스를 고르면 상위 클래스가 결정되기 때문.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[45:30 시작 · 약 1.2분] 세 원리 적용: 원리 1 — '어느 세부 클래스가 참인가'로 100가지 겹치지 않는 경우로 나눈다. 경우 i에서는 함의 때문에 c_par(i)=1, EO(c) 때문에 나머지 coarse=0, 나머지 99개 함의는 f_j=0이라 공허한 참(펭귄 예시에서 '규칙이 사라지는' 것과 같은 현상; 자유 변수가 없어 원리 2 대신 이 형태로 나타남). 원리 3 — 각 경우는 세계 하나이므로 독립 곱. 만족하는 세계는 'f_i 하나와 그 부모 c_par(i) 하나만 1'인 100개. 각 세계의 확률을 쓰고 exactly-one과 같은 방법으로 공통 인수를 빼면, 합 안에는 e^{f_i + c_par(i)}만 남는다. 결과: logsumexp 한 번 + softplus 합 두 번. 부수 효과: 가장 확률 높은 만족 세계(MAP)는 argmax_i (f_i + c_par(i)) — 추론에도 쓸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[46:40 시작 · 약 1.2분] 백본은 DAWNBench에서 유명한 ResNet-9(약 650만 파라미터). CIFAR-100을 30에폭에 70%대 정확도로 학습할 수 있어 여러 번 반복 실험하기 좋다. 중요한 것은 출력층: 하나의 선형층이 120개 로짓을 내고, 앞 100개는 세부, 뒤 20개는 상위 클래스. 같은 로짓을 CE에는 소프트맥스로, 의미 손실에는 시그모이드로 해석한다(원 논문 구현과 동일).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[47:49 시작 · 약 1.2분] 실제 손실. 마스크 m은 '이 이미지에 해당 라벨이 있는가'. CE는 라벨 있는 샘플만 평균, 의미 손실은 배치의 모든 샘플에 적용. λ_t는 처음 5에폭 동안 0에서 λ로 선형 증가(웜업) — 초기에는 모든 시그모이드가 0.5 근처라 Lˢ ≈ 80으로 매우 커서, 바로 큰 가중치를 주면 CE 학습을 방해하기 때문.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[48:58 시작 · 약 1.2분] 학습 45,000장에 대해 라벨 가용성만 바꾼다. full: 모두 라벨. semi: 10%(클래스당 45장, 총 4,500장)만 라벨, 나머지 90%는 라벨 없음. weak: fine 라벨은 10%뿐이지만 coarse 라벨은 전부 있음 — 실제로 '대략적 분류는 싸고 세부 분류는 비싼' 상황을 모사. 모든 방법이 같은 스텝 수(에폭당 45,000장 전체를 순회)로 학습한다.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[50:08 시작 · 약 1.2분] 대조군 설계가 실험의 핵심. ce_fine → ce_both는 coarse 라벨의 효과, ce_both → ce_both_eo는 '출력을 원-핫으로 확신하게 하는' 일반 효과, ce_both_eo → ce_both_sl은 함의 규칙 100개의 순수 효과다. 이렇게 하나씩 쌓아야 '무엇 덕분에 좋아졌는가'에 답할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[51:17 시작 · 약 1.2분] 정확도 외에 '규칙을 얼마나 지키는가'(일관성), '틀려도 덜 심하게 틀리는가'(같은 상위 클래스 내 오류 비율)를 본다. 추론 시 규칙을 쓰는 두 방법(마스킹, MAP)도 함께 측정해서 '학습 시 규칙 주입'과 비교한다.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[52:26 시작 · 약 1.2분] 재현을 위한 세부. λ는 검증셋에서만 고르고 테스트셋은 최종 평가에만 썼다(데이터 누수 방지). 의미 손실의 λ 그리드는 처음 {0.005~0.5}였는데 최적값이 끝에 걸려 {1, 2, 5}로 확장했다 — 그리드 끝값이 선택되면 범위를 넓혀야 한다는 실전 교훈. 총 학습 횟수: 튜닝 30회 + 본 실험 36회.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[53:36 시작 · 약 1.2분] 결과 표의 '73.7 ± 0.3'을 읽는 법. 같은 설정을 시드(난수 초기값)만 바꿔 3번 학습했고, 표의 값은 3번의 평균 ± 표본 표준편차다. 시드가 바꾸는 것은 세 가지: 가중치 초기화, 미니배치 순서와 증강, 그리고 semi·weak 설정에서는 '어느 4,500장에 라벨이 있는가'. 검증셋과 테스트셋은 모든 시드에서 같다. 라벨 부분집합이 바뀌는 semi·weak의 편차(±1~2)가 full(±0.2~0.3)보다 큰 이유가 세 번째 요인이다. 표준편차는 n−1로 나누는 표본 표준편차.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[54:45 시작 · 약 1.2분] 두 방법의 차이를 볼 때는 평균만 비교하지 말고 편차와 함께 본다. 예시 1(weak): 차이 5.6%p가 편차(±2.0, ±0.5)보다 훨씬 크고 3개 시드 모두 같은 방향 → 믿을 만한 차이. 예시 2(full): 차이 0.04%p는 편차보다 작다 → 차이가 없다고 봐야 한다. 표준편차(한 번 실행의 흔들림)와 표준오차(평균의 불확실성, s/√n)를 구분하자. 시드 3개는 표준편차 추정 자체가 거칠다 — 엄밀한 주장에는 시드 5~10개, 시드끼리 짝지은 비교(paired t-test 등)가 필요하다. 이번 강의에서는 '모든 시드에서 같은 방향인가'를 함께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[55:54 시작 · 약 1.2분] torch와 numpy만 사용(torchvision 없이 CIFAR 원본 파일을 직접 읽음). 손실 함수는 학습 코드와 분리해서 단위 테스트로 검증했다. 실험 실행기는 결과를 JSON으로 캐시해 중단되어도 이어서 실행된다.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[57:04 시작 · 약 1.2분] 규칙을 DIMACS 형식의 리터럴 리스트로 표현한다: +k는 X_k가 참, −k는 거짓. exactly-one은 '최소 하나' 절과 모든 쌍의 '둘 다 참은 안 됨' 절. 함의 f_i → c_par(i)는 ¬f_i ∨ c_par(i), 즉 [-(i+1), F+1+par(i)]. 이 CNF는 학습에 직접 쓰지 않고(5,242절, 2^120 세계) 작은 크기에서 닫힌 형태를 검증하는 기준으로 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[58:13 시작 · 약 1.2분] 정의를 그대로 옮긴 기준 구현. 모든 세계를 나열하고, 모든 절을 만족하는 세계의 확률(참이면 p, 거짓이면 1−p의 곱)을 더한다. 2^n이라 n≤20 정도에서만 쓸 수 있지만, torch 연산이라 autograd로 기울기까지 나온다 — 펭귄 예제의 (0.16, −0.72, −0.82)를 이 함수로 검증했다.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[59:23 시작 · 약 1.2분] 실제 학습에 쓰는 코드는 사실상 3줄. 수식과 코드가 1:1로 대응한다: coarse_logits[..., parent]는 각 세부 클래스의 부모 로짓을 모으는 인덱싱(gather)이다. 배치 B, 클래스 100이면 연산량은 O(B·120)으로 CE와 같은 수준 — 의미 손실을 넣어도 학습 시간이 거의 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[60:32 시작 · 약 1.2분] 닫힌 형태를 손으로 유도했으니 틀릴 수 있다. 그래서 (1) 논문의 표 값, (2) 펭귄 예제의 확률과 기울기, (3) 무작위 로짓에서 전수 계산과의 일치(상대오차 1e-10), (4) 극단적 로짓(±40)에서의 수치 안정성을 테스트했다. 6개 테스트 모두 통과. 대학원생에게 강조: 손으로 유도한 손실은 반드시 기준 구현과 대조하라.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[61:41 시작 · 약 1.2분] 학습 스텝 하나. 마스크로 라벨 있는 샘플만 CE에 반영하되, 데이터 의존 분기 없이 곱셈으로 처리해 GPU 동기화를 피한다. 로짓은 bfloat16으로 계산하지만 손실은 float32로 바꿔 계산(softplus 합이 120개 항이라 정밀도 중요). 의미 손실은 라벨과 무관하게 배치 전체에 적용된다.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[62:51 시작 · 약 1.2분] 의미 손실은 학습 시 규칙을 주입한다. 비교를 위해 추론 시 규칙을 쓰는 두 방법도 구현: (1) 마스킹 — coarse 예측을 먼저 정하고 그 자식 5개 중에서 fine을 고른다(하향식). (2) MAP — 닫힌 형태 유도의 부산물로, 만족 세계 100개 중 확률이 가장 큰 세계를 고른다. 두 방법 모두 출력이 100% 일관적이다.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[64:00 시작 · 약 0.4분] 6부: 결과와 토론, 퀴즈까지 약 16분.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[64:25 시작 · 약 1.4분] 검증셋 fine 정확도 vs λ (시드 0). 세 설정 모두 λ=5에서 학습이 붕괴했다(semi 6.5%, weak 5.7%). 의미 손실이 CE보다 지배적이 되면, 라벨과 무관하게 '아무 만족 세계로나 확신'하는 자명한 해로 수렴하기 때문 — 의미 손실은 정답 방향을 모른다는 이론의 직접적 결과. 라벨이 적은 semi는 더 일찍(λ=2) 무너진다. 최적 λ: full 2, semi 1, weak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[65:50 시작 · 약 1.4분] 핵심 그림. 테스트셋 fine 정확도, 3시드 평균. 네 막대는 왼쪽부터 요소를 하나씩 추가한 것. 의미 손실 계열(청록, 주황)은 라벨이 적을수록 이득이 크다. 그런데 청록(exactly-one만)과 주황(함의 규칙 포함)의 높이가 거의 같다는 점에 주목 — 정확도 이득의 대부분은 함의 규칙이 아니라 exactly-one 부분에서 온다. 다음 슬라이드들에서 분해한다.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[67:15 시작 · 약 1.4분] 숫자로 보면. 표준편차를 함께 봐야 한다. weak에서 두 의미 손실 모두 편차를 줄였다(±2.0 → ±0.5): 학습이 더 안정적. 정확도는 exactly-one과 계층 SL이 비슷하거나(full, weak) exactly-one이 더 높지만(semi), 일관성 열은 계층 SL이 확실히 높다. '—'는 해당 방법이 coarse 헤드를 학습하지 않아 의미 없는 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[68:40 시작 · 약 1.4분] fine 예측과 coarse 예측이 서로 맞는 비율. 여기서는 그림이 다르다: exactly-one(청록)은 일관성을 조금만 올리지만, 함의 규칙을 포함한 계층 SL(주황)은 semi·weak에서 약 8%p를 더 올린다. 함의 규칙이 직접 최적화하는 대상이 바로 이 일관성이기 때문.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[70:05 시작 · 약 1.4분] RQ4의 답. exactly-one 대조군은 같은 의미 손실에서 함의 규칙 100개만 뺀 것: EO(f)∧EO(c). 막대는 계층 SL − exactly-one SL, 즉 함의 규칙의 순수 효과. 정확도(왼쪽)는 full·weak에서 노이즈 수준이고 semi에서는 오히려 낮다. 일관성(오른쪽)은 semi·weak에서 약 8%p 오른다. 결론: 정확도 이득은 주로 '출력을 원-핫으로 확신하게 하는' 효과(준지도 학습의 엔트로피 최소화와 유사)이고, 함의 규칙은 규칙 준수를 만든다. 처음 가설(규칙이 coarse 정보를 fine으로 전파해 정확도를 올린다)은 이 실험에서 지지되지 않았다 — 대조 실험이 왜 필요한지 보여주는 좋은 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[71:30 시작 · 약 1.4분] 두 가지 추가 관찰(weak 설정). (1) 함의 규칙을 넣은 모델은 틀려도 같은 상위 클래스 안에서 틀리는 비율이 가장 높다(CE 34% → exactly-one 36% → 계층 40%) — 사자를 호랑이로 틀리지 트럭으로 틀리지 않는다. 이것도 함의 규칙의 고유한 효과. (2) 추론 시 규칙 적용(MAP, 마스킹)은 CE 모델의 정확도를 약 2%p 올리지만, 학습 시 의미 손실을 쓴 모델에는 미치지 못한다.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[72:55 시작 · 약 1.4분] 정직한 한계. (0) 가장 중요: 정확도 이득의 대부분은 함의 규칙이 아니라 exactly-one 부분에서 왔다. 엔트로피 최소화, pseudo-label 같은 일반 준지도 기법과의 비교가 다음 실험이 되어야 한다. (1) λ에 민감하고 최적점이 붕괴 구간 근처. (2) CE는 소프트맥스로 학습하므로 CE만 쓴 모델의 시그모이드 값은 확률로 보정되어 있지 않다 — log Pr(α)가 −200 근처로 나오는 이유. 이 지표는 의미 손실 모델끼리만 비교. (3) 닫힌 형태가 있는 단순한 제약이었다 — 일반 규칙은 지식 컴파일 필요. (4) 데이터셋·모델·에폭 하나씩. (5) λ를 시드 0으로 골라 테스트 시드 0과 라벨 부분집합이 같다(검증/테스트는 분리됨).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[74:20 시작 · 약 1.4분] 세 줄 요약으로 마무리. 시간이 남으면 이해 확인 문제로.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[75:45 시작 · 약 1.4분] 3~5분. 정답은 다음 슬라이드. Q4는 대학원생용.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[77:10 시작 · 약 1.4분] 해설. Q4의 요점: EO(f)가 이미 '두 fine이 동시에 참일 수 없음'을 포함하므로 새 규칙은 중복 — 논리적으로 동치인 제약이므로 의미 손실도 변하지 않는다(의미에만 의존하는 성질).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[78:35 시작 · 약 1.4분] 추가 읽기 자료. Xu et al. 2018이 핵심 논문. Ahmed et al. 2022는 의미 손실의 후속 연구(신경 확률 회로), Giunchiglia et al. 2022는 딥러닝에 논리 제약을 넣는 방법들의 서베이.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부록: 수업 후 실습용.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실습 안내. GPU가 없으면 CPU에서도 돌지만 1회 학습이 수십 분 걸린다 — 실습에서는 --epochs 5 정도로 줄여서 경향만 보도록 안내. demo와 tests는 CPU에서 1초 안에 끝난다.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 난이도 순. 과제 1~2는 학부생, 3~4는 대학원생 수준. 과제 4는 이번 실험의 미해결 질문(다른 데이터·규칙으로의 일반화)과 연결된다.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0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1060704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886200"/>
            <a:ext cx="10607040" cy="1097280"/>
          </a:xfrm>
          <a:prstGeom prst="rect">
            <a:avLst/>
          </a:prstGeom>
          <a:noFill/>
          <a:ln/>
        </p:spPr>
        <p:txBody>
          <a:bodyPr wrap="square" rtlCol="0"/>
          <a:lstStyle>
            <a:lvl1pPr algn="l" indent="0" marL="0">
              <a:buNone/>
              <a:defRPr lang="en-US" sz="2000" dirty="0">
                <a:solidFill>
                  <a:srgbClr val="BCCCDC"/>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420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651760"/>
            <a:ext cx="1060704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749040"/>
            <a:ext cx="10607040" cy="1280160"/>
          </a:xfrm>
          <a:prstGeom prst="rect">
            <a:avLst/>
          </a:prstGeom>
          <a:noFill/>
          <a:ln/>
        </p:spPr>
        <p:txBody>
          <a:bodyPr wrap="square" rtlCol="0"/>
          <a:lstStyle>
            <a:lvl1pPr algn="l" indent="0" marL="0">
              <a:buNone/>
              <a:defRPr lang="en-US" sz="1800" dirty="0">
                <a:solidFill>
                  <a:srgbClr val="BCCCDC"/>
                </a:solidFill>
              </a:defRPr>
            </a:lvl1pPr>
          </a:lstStyle>
          <a:p>
            <a:pPr algn="l" indent="0" marL="0">
              <a:buNone/>
            </a:pP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7B8794"/>
                </a:solidFill>
              </a:rPr>
              <a:t>의미 손실 · CIFAR-100 계층 규칙</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image" Target="../media/image-26-11.png"/><Relationship Id="rId12" Type="http://schemas.openxmlformats.org/officeDocument/2006/relationships/image" Target="../media/image-26-12.png"/><Relationship Id="rId13" Type="http://schemas.openxmlformats.org/officeDocument/2006/relationships/image" Target="../media/image-26-13.png"/><Relationship Id="rId14" Type="http://schemas.openxmlformats.org/officeDocument/2006/relationships/image" Target="../media/image-26-14.png"/><Relationship Id="rId15" Type="http://schemas.openxmlformats.org/officeDocument/2006/relationships/image" Target="../media/image-26-15.png"/><Relationship Id="rId16" Type="http://schemas.openxmlformats.org/officeDocument/2006/relationships/image" Target="../media/image-26-16.png"/><Relationship Id="rId17" Type="http://schemas.openxmlformats.org/officeDocument/2006/relationships/image" Target="../media/image-26-17.png"/><Relationship Id="rId18" Type="http://schemas.openxmlformats.org/officeDocument/2006/relationships/image" Target="../media/image-26-18.png"/><Relationship Id="rId19" Type="http://schemas.openxmlformats.org/officeDocument/2006/relationships/image" Target="../media/image-26-19.png"/><Relationship Id="rId20" Type="http://schemas.openxmlformats.org/officeDocument/2006/relationships/image" Target="../media/image-26-20.png"/><Relationship Id="rId21" Type="http://schemas.openxmlformats.org/officeDocument/2006/relationships/image" Target="../media/image-26-21.png"/><Relationship Id="rId22" Type="http://schemas.openxmlformats.org/officeDocument/2006/relationships/image" Target="../media/image-26-22.png"/><Relationship Id="rId23" Type="http://schemas.openxmlformats.org/officeDocument/2006/relationships/image" Target="../media/image-26-23.png"/><Relationship Id="rId24" Type="http://schemas.openxmlformats.org/officeDocument/2006/relationships/image" Target="../media/image-26-24.png"/><Relationship Id="rId25" Type="http://schemas.openxmlformats.org/officeDocument/2006/relationships/image" Target="../media/image-26-25.png"/><Relationship Id="rId26" Type="http://schemas.openxmlformats.org/officeDocument/2006/relationships/image" Target="../media/image-26-26.png"/><Relationship Id="rId27" Type="http://schemas.openxmlformats.org/officeDocument/2006/relationships/image" Target="../media/image-26-27.png"/><Relationship Id="rId28" Type="http://schemas.openxmlformats.org/officeDocument/2006/relationships/image" Target="../media/image-26-28.png"/><Relationship Id="rId29" Type="http://schemas.openxmlformats.org/officeDocument/2006/relationships/image" Target="../media/image-26-29.png"/><Relationship Id="rId30" Type="http://schemas.openxmlformats.org/officeDocument/2006/relationships/image" Target="../media/image-26-30.png"/><Relationship Id="rId31" Type="http://schemas.openxmlformats.org/officeDocument/2006/relationships/slideLayout" Target="../slideLayouts/slideLayout4.xml"/><Relationship Id="rId3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4.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4.xml"/><Relationship Id="rId6"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4.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slideLayout" Target="../slideLayouts/slideLayout4.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4.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10607040" cy="1737360"/>
          </a:xfrm>
          <a:prstGeom prst="rect">
            <a:avLst/>
          </a:prstGeom>
          <a:noFill/>
          <a:ln/>
        </p:spPr>
        <p:txBody>
          <a:bodyPr wrap="square" lIns="0" tIns="0" rIns="0" bIns="0" rtlCol="0" anchor="b"/>
          <a:lstStyle/>
          <a:p>
            <a:pPr algn="l" indent="0" marL="0">
              <a:buNone/>
            </a:pPr>
            <a:r>
              <a:rPr lang="en-US" sz="4000" b="1" dirty="0">
                <a:solidFill>
                  <a:schemeClr val="bg1"/>
                </a:solidFill>
              </a:rPr>
              <a:t>규칙을 지키도록 학습하는 신경망</a:t>
            </a:r>
            <a:endParaRPr lang="en-US" sz="4000" dirty="0"/>
          </a:p>
        </p:txBody>
      </p:sp>
      <p:sp>
        <p:nvSpPr>
          <p:cNvPr id="3" name="Text 0"/>
          <p:cNvSpPr/>
          <p:nvPr>
            <p:ph idx="101" type="body" hasCustomPrompt="1"/>
          </p:nvPr>
        </p:nvSpPr>
        <p:spPr>
          <a:xfrm>
            <a:off x="548640" y="3886200"/>
            <a:ext cx="10607040" cy="1097280"/>
          </a:xfrm>
          <a:prstGeom prst="rect">
            <a:avLst/>
          </a:prstGeom>
          <a:noFill/>
          <a:ln/>
        </p:spPr>
        <p:txBody>
          <a:bodyPr wrap="square" lIns="0" tIns="0" rIns="0" bIns="0" rtlCol="0" anchor="t"/>
          <a:lstStyle/>
          <a:p>
            <a:pPr algn="l" indent="0" marL="0">
              <a:buNone/>
            </a:pPr>
            <a:r>
              <a:rPr lang="en-US" sz="2000" dirty="0">
                <a:solidFill>
                  <a:srgbClr val="BCCCDC"/>
                </a:solidFill>
              </a:rPr>
              <a:t>의미 손실(Semantic Loss)로 CIFAR-100의 클래스 계층 규칙을 주입하는 실험</a:t>
            </a:r>
            <a:endParaRPr lang="en-US" sz="2000" dirty="0"/>
          </a:p>
        </p:txBody>
      </p:sp>
      <p:sp>
        <p:nvSpPr>
          <p:cNvPr id="4" name="pill"/>
          <p:cNvSpPr/>
          <p:nvPr/>
        </p:nvSpPr>
        <p:spPr>
          <a:xfrm>
            <a:off x="548640" y="1097280"/>
            <a:ext cx="1188720" cy="365760"/>
          </a:xfrm>
          <a:prstGeom prst="roundRect">
            <a:avLst>
              <a:gd name="adj" fmla="val 50000"/>
            </a:avLst>
          </a:prstGeom>
          <a:solidFill>
            <a:srgbClr val="2A78D6"/>
          </a:solidFill>
          <a:ln w="12700">
            <a:solidFill>
              <a:srgbClr val="2A78D6"/>
            </a:solidFill>
            <a:prstDash val="solid"/>
          </a:ln>
        </p:spPr>
      </p:sp>
      <p:sp>
        <p:nvSpPr>
          <p:cNvPr id="5" name="Text 3"/>
          <p:cNvSpPr txBox="1"/>
          <p:nvPr/>
        </p:nvSpPr>
        <p:spPr>
          <a:xfrm>
            <a:off x="548640" y="1097280"/>
            <a:ext cx="1188720" cy="365760"/>
          </a:xfrm>
          <a:prstGeom prst="rect">
            <a:avLst/>
          </a:prstGeom>
          <a:noFill/>
          <a:ln/>
        </p:spPr>
        <p:txBody>
          <a:bodyPr wrap="square" lIns="0" tIns="0" rIns="0" bIns="0" rtlCol="0" anchor="ctr"/>
          <a:lstStyle/>
          <a:p>
            <a:pPr algn="ctr" indent="0" marL="0">
              <a:buNone/>
            </a:pPr>
            <a:r>
              <a:rPr lang="en-US" sz="1300" b="1" dirty="0">
                <a:solidFill>
                  <a:srgbClr val="FFFFFF"/>
                </a:solidFill>
              </a:rPr>
              <a:t>Neural</a:t>
            </a:r>
            <a:endParaRPr lang="en-US" sz="1300" dirty="0"/>
          </a:p>
        </p:txBody>
      </p:sp>
      <p:sp>
        <p:nvSpPr>
          <p:cNvPr id="6" name="Text 4"/>
          <p:cNvSpPr txBox="1"/>
          <p:nvPr/>
        </p:nvSpPr>
        <p:spPr>
          <a:xfrm>
            <a:off x="1783080" y="1097280"/>
            <a:ext cx="365760" cy="365760"/>
          </a:xfrm>
          <a:prstGeom prst="rect">
            <a:avLst/>
          </a:prstGeom>
          <a:noFill/>
          <a:ln/>
        </p:spPr>
        <p:txBody>
          <a:bodyPr wrap="square" lIns="0" tIns="0" rIns="0" bIns="0" rtlCol="0" anchor="ctr"/>
          <a:lstStyle/>
          <a:p>
            <a:pPr algn="ctr" indent="0" marL="0">
              <a:buNone/>
            </a:pPr>
            <a:r>
              <a:rPr lang="en-US" sz="2000" b="1" dirty="0">
                <a:solidFill>
                  <a:srgbClr val="FFFFFF"/>
                </a:solidFill>
              </a:rPr>
              <a:t>+</a:t>
            </a:r>
            <a:endParaRPr lang="en-US" sz="2000" dirty="0"/>
          </a:p>
        </p:txBody>
      </p:sp>
      <p:sp>
        <p:nvSpPr>
          <p:cNvPr id="7" name="pill"/>
          <p:cNvSpPr/>
          <p:nvPr/>
        </p:nvSpPr>
        <p:spPr>
          <a:xfrm>
            <a:off x="2194560" y="1097280"/>
            <a:ext cx="1371600" cy="365760"/>
          </a:xfrm>
          <a:prstGeom prst="roundRect">
            <a:avLst>
              <a:gd name="adj" fmla="val 50000"/>
            </a:avLst>
          </a:prstGeom>
          <a:solidFill>
            <a:srgbClr val="EB6834"/>
          </a:solidFill>
          <a:ln w="12700">
            <a:solidFill>
              <a:srgbClr val="EB6834"/>
            </a:solidFill>
            <a:prstDash val="solid"/>
          </a:ln>
        </p:spPr>
      </p:sp>
      <p:sp>
        <p:nvSpPr>
          <p:cNvPr id="8" name="Text 6"/>
          <p:cNvSpPr txBox="1"/>
          <p:nvPr/>
        </p:nvSpPr>
        <p:spPr>
          <a:xfrm>
            <a:off x="2194560" y="1097280"/>
            <a:ext cx="1371600" cy="365760"/>
          </a:xfrm>
          <a:prstGeom prst="rect">
            <a:avLst/>
          </a:prstGeom>
          <a:noFill/>
          <a:ln/>
        </p:spPr>
        <p:txBody>
          <a:bodyPr wrap="square" lIns="0" tIns="0" rIns="0" bIns="0" rtlCol="0" anchor="ctr"/>
          <a:lstStyle/>
          <a:p>
            <a:pPr algn="ctr" indent="0" marL="0">
              <a:buNone/>
            </a:pPr>
            <a:r>
              <a:rPr lang="en-US" sz="1300" b="1" dirty="0">
                <a:solidFill>
                  <a:srgbClr val="FFFFFF"/>
                </a:solidFill>
              </a:rPr>
              <a:t>Symbolic</a:t>
            </a:r>
            <a:endParaRPr lang="en-US" sz="1300" dirty="0"/>
          </a:p>
        </p:txBody>
      </p:sp>
      <p:sp>
        <p:nvSpPr>
          <p:cNvPr id="9" name="Text 7"/>
          <p:cNvSpPr txBox="1"/>
          <p:nvPr/>
        </p:nvSpPr>
        <p:spPr>
          <a:xfrm>
            <a:off x="548640" y="6035040"/>
            <a:ext cx="7315200" cy="365760"/>
          </a:xfrm>
          <a:prstGeom prst="rect">
            <a:avLst/>
          </a:prstGeom>
          <a:noFill/>
          <a:ln/>
        </p:spPr>
        <p:txBody>
          <a:bodyPr wrap="square" lIns="0" tIns="0" rIns="0" bIns="0" rtlCol="0" anchor="ctr"/>
          <a:lstStyle/>
          <a:p>
            <a:pPr indent="0" marL="0">
              <a:buNone/>
            </a:pPr>
            <a:r>
              <a:rPr lang="en-US" sz="1400" dirty="0">
                <a:solidFill>
                  <a:srgbClr val="9AA5B1"/>
                </a:solidFill>
              </a:rPr>
              <a:t>뉴로심볼릭 AI 강의 · 80분</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오늘의 흐름</a:t>
            </a:r>
            <a:endParaRPr lang="en-US" sz="3000" dirty="0"/>
          </a:p>
        </p:txBody>
      </p:sp>
      <p:sp>
        <p:nvSpPr>
          <p:cNvPr id="3" name="card"/>
          <p:cNvSpPr/>
          <p:nvPr/>
        </p:nvSpPr>
        <p:spPr>
          <a:xfrm>
            <a:off x="548640" y="1371600"/>
            <a:ext cx="5440680" cy="1325880"/>
          </a:xfrm>
          <a:prstGeom prst="roundRect">
            <a:avLst>
              <a:gd name="adj" fmla="val 8276"/>
            </a:avLst>
          </a:prstGeom>
          <a:solidFill>
            <a:srgbClr val="F1F4F8"/>
          </a:solidFill>
          <a:ln w="12700">
            <a:solidFill>
              <a:srgbClr val="F1F4F8"/>
            </a:solidFill>
            <a:prstDash val="solid"/>
          </a:ln>
        </p:spPr>
      </p:sp>
      <p:sp>
        <p:nvSpPr>
          <p:cNvPr id="4" name="tag"/>
          <p:cNvSpPr/>
          <p:nvPr/>
        </p:nvSpPr>
        <p:spPr>
          <a:xfrm>
            <a:off x="777240" y="1600200"/>
            <a:ext cx="384048" cy="384048"/>
          </a:xfrm>
          <a:prstGeom prst="ellipse">
            <a:avLst/>
          </a:prstGeom>
          <a:solidFill>
            <a:srgbClr val="2A78D6"/>
          </a:solidFill>
          <a:ln w="12700">
            <a:solidFill>
              <a:srgbClr val="2A78D6"/>
            </a:solidFill>
            <a:prstDash val="solid"/>
          </a:ln>
        </p:spPr>
      </p:sp>
      <p:sp>
        <p:nvSpPr>
          <p:cNvPr id="5" name="Text 3"/>
          <p:cNvSpPr txBox="1"/>
          <p:nvPr/>
        </p:nvSpPr>
        <p:spPr>
          <a:xfrm>
            <a:off x="77724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280160" y="157276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뉴로심볼릭 도입</a:t>
            </a:r>
            <a:endParaRPr lang="en-US" sz="1800" dirty="0"/>
          </a:p>
        </p:txBody>
      </p:sp>
      <p:sp>
        <p:nvSpPr>
          <p:cNvPr id="7" name="Text 5"/>
          <p:cNvSpPr txBox="1"/>
          <p:nvPr/>
        </p:nvSpPr>
        <p:spPr>
          <a:xfrm>
            <a:off x="777240" y="2103120"/>
            <a:ext cx="4983480" cy="45720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신경망과 기호 논리를 왜 결합하는가</a:t>
            </a:r>
            <a:endParaRPr lang="en-US" sz="1500" dirty="0"/>
          </a:p>
        </p:txBody>
      </p:sp>
      <p:sp>
        <p:nvSpPr>
          <p:cNvPr id="8" name="Text 6"/>
          <p:cNvSpPr txBox="1"/>
          <p:nvPr/>
        </p:nvSpPr>
        <p:spPr>
          <a:xfrm>
            <a:off x="4846320" y="1572768"/>
            <a:ext cx="914400" cy="438912"/>
          </a:xfrm>
          <a:prstGeom prst="rect">
            <a:avLst/>
          </a:prstGeom>
          <a:noFill/>
          <a:ln/>
        </p:spPr>
        <p:txBody>
          <a:bodyPr wrap="square" lIns="0" tIns="0" rIns="0" bIns="0" rtlCol="0" anchor="ctr"/>
          <a:lstStyle/>
          <a:p>
            <a:pPr algn="r" indent="0" marL="0">
              <a:buNone/>
            </a:pPr>
            <a:r>
              <a:rPr lang="en-US" sz="1300" dirty="0">
                <a:solidFill>
                  <a:srgbClr val="7B8794"/>
                </a:solidFill>
              </a:rPr>
              <a:t>7분</a:t>
            </a:r>
            <a:endParaRPr lang="en-US" sz="1300" dirty="0"/>
          </a:p>
        </p:txBody>
      </p:sp>
      <p:sp>
        <p:nvSpPr>
          <p:cNvPr id="9" name="card"/>
          <p:cNvSpPr/>
          <p:nvPr/>
        </p:nvSpPr>
        <p:spPr>
          <a:xfrm>
            <a:off x="6172200" y="1371600"/>
            <a:ext cx="5440680" cy="1325880"/>
          </a:xfrm>
          <a:prstGeom prst="roundRect">
            <a:avLst>
              <a:gd name="adj" fmla="val 8276"/>
            </a:avLst>
          </a:prstGeom>
          <a:solidFill>
            <a:srgbClr val="F1F4F8"/>
          </a:solidFill>
          <a:ln w="12700">
            <a:solidFill>
              <a:srgbClr val="F1F4F8"/>
            </a:solidFill>
            <a:prstDash val="solid"/>
          </a:ln>
        </p:spPr>
      </p:sp>
      <p:sp>
        <p:nvSpPr>
          <p:cNvPr id="10" name="tag"/>
          <p:cNvSpPr/>
          <p:nvPr/>
        </p:nvSpPr>
        <p:spPr>
          <a:xfrm>
            <a:off x="6400800" y="1600200"/>
            <a:ext cx="384048" cy="384048"/>
          </a:xfrm>
          <a:prstGeom prst="ellipse">
            <a:avLst/>
          </a:prstGeom>
          <a:solidFill>
            <a:srgbClr val="2A78D6"/>
          </a:solidFill>
          <a:ln w="12700">
            <a:solidFill>
              <a:srgbClr val="2A78D6"/>
            </a:solidFill>
            <a:prstDash val="solid"/>
          </a:ln>
        </p:spPr>
      </p:sp>
      <p:sp>
        <p:nvSpPr>
          <p:cNvPr id="11" name="Text 9"/>
          <p:cNvSpPr txBox="1"/>
          <p:nvPr/>
        </p:nvSpPr>
        <p:spPr>
          <a:xfrm>
            <a:off x="640080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6903720" y="157276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사전 지식</a:t>
            </a:r>
            <a:endParaRPr lang="en-US" sz="1800" dirty="0"/>
          </a:p>
        </p:txBody>
      </p:sp>
      <p:sp>
        <p:nvSpPr>
          <p:cNvPr id="13" name="Text 11"/>
          <p:cNvSpPr txBox="1"/>
          <p:nvPr/>
        </p:nvSpPr>
        <p:spPr>
          <a:xfrm>
            <a:off x="6400800" y="2103120"/>
            <a:ext cx="4983480" cy="45720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시그모이드·소프트맥스, 교차 엔트로피, 명제논리</a:t>
            </a:r>
            <a:endParaRPr lang="en-US" sz="1500" dirty="0"/>
          </a:p>
        </p:txBody>
      </p:sp>
      <p:sp>
        <p:nvSpPr>
          <p:cNvPr id="14" name="Text 12"/>
          <p:cNvSpPr txBox="1"/>
          <p:nvPr/>
        </p:nvSpPr>
        <p:spPr>
          <a:xfrm>
            <a:off x="10469880" y="1572768"/>
            <a:ext cx="914400" cy="438912"/>
          </a:xfrm>
          <a:prstGeom prst="rect">
            <a:avLst/>
          </a:prstGeom>
          <a:noFill/>
          <a:ln/>
        </p:spPr>
        <p:txBody>
          <a:bodyPr wrap="square" lIns="0" tIns="0" rIns="0" bIns="0" rtlCol="0" anchor="ctr"/>
          <a:lstStyle/>
          <a:p>
            <a:pPr algn="r" indent="0" marL="0">
              <a:buNone/>
            </a:pPr>
            <a:r>
              <a:rPr lang="en-US" sz="1300" dirty="0">
                <a:solidFill>
                  <a:srgbClr val="7B8794"/>
                </a:solidFill>
              </a:rPr>
              <a:t>9분</a:t>
            </a:r>
            <a:endParaRPr lang="en-US" sz="1300" dirty="0"/>
          </a:p>
        </p:txBody>
      </p:sp>
      <p:sp>
        <p:nvSpPr>
          <p:cNvPr id="15" name="card"/>
          <p:cNvSpPr/>
          <p:nvPr/>
        </p:nvSpPr>
        <p:spPr>
          <a:xfrm>
            <a:off x="548640" y="2926080"/>
            <a:ext cx="5440680" cy="1325880"/>
          </a:xfrm>
          <a:prstGeom prst="roundRect">
            <a:avLst>
              <a:gd name="adj" fmla="val 8276"/>
            </a:avLst>
          </a:prstGeom>
          <a:solidFill>
            <a:srgbClr val="F1F4F8"/>
          </a:solidFill>
          <a:ln w="12700">
            <a:solidFill>
              <a:srgbClr val="F1F4F8"/>
            </a:solidFill>
            <a:prstDash val="solid"/>
          </a:ln>
        </p:spPr>
      </p:sp>
      <p:sp>
        <p:nvSpPr>
          <p:cNvPr id="16" name="tag"/>
          <p:cNvSpPr/>
          <p:nvPr/>
        </p:nvSpPr>
        <p:spPr>
          <a:xfrm>
            <a:off x="777240" y="3154680"/>
            <a:ext cx="384048" cy="384048"/>
          </a:xfrm>
          <a:prstGeom prst="ellipse">
            <a:avLst/>
          </a:prstGeom>
          <a:solidFill>
            <a:srgbClr val="EB6834"/>
          </a:solidFill>
          <a:ln w="12700">
            <a:solidFill>
              <a:srgbClr val="EB6834"/>
            </a:solidFill>
            <a:prstDash val="solid"/>
          </a:ln>
        </p:spPr>
      </p:sp>
      <p:sp>
        <p:nvSpPr>
          <p:cNvPr id="17" name="Text 15"/>
          <p:cNvSpPr txBox="1"/>
          <p:nvPr/>
        </p:nvSpPr>
        <p:spPr>
          <a:xfrm>
            <a:off x="777240" y="3154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8" name="Text 16"/>
          <p:cNvSpPr txBox="1"/>
          <p:nvPr/>
        </p:nvSpPr>
        <p:spPr>
          <a:xfrm>
            <a:off x="1280160" y="312724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의미 손실 이론</a:t>
            </a:r>
            <a:endParaRPr lang="en-US" sz="1800" dirty="0"/>
          </a:p>
        </p:txBody>
      </p:sp>
      <p:sp>
        <p:nvSpPr>
          <p:cNvPr id="19" name="Text 17"/>
          <p:cNvSpPr txBox="1"/>
          <p:nvPr/>
        </p:nvSpPr>
        <p:spPr>
          <a:xfrm>
            <a:off x="777240" y="3657600"/>
            <a:ext cx="4983480" cy="45720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정의, 예제, 계산 원리, 기울기, 닫힌 형태</a:t>
            </a:r>
            <a:endParaRPr lang="en-US" sz="1500" dirty="0"/>
          </a:p>
        </p:txBody>
      </p:sp>
      <p:sp>
        <p:nvSpPr>
          <p:cNvPr id="20" name="Text 18"/>
          <p:cNvSpPr txBox="1"/>
          <p:nvPr/>
        </p:nvSpPr>
        <p:spPr>
          <a:xfrm>
            <a:off x="4846320" y="3127248"/>
            <a:ext cx="914400" cy="438912"/>
          </a:xfrm>
          <a:prstGeom prst="rect">
            <a:avLst/>
          </a:prstGeom>
          <a:noFill/>
          <a:ln/>
        </p:spPr>
        <p:txBody>
          <a:bodyPr wrap="square" lIns="0" tIns="0" rIns="0" bIns="0" rtlCol="0" anchor="ctr"/>
          <a:lstStyle/>
          <a:p>
            <a:pPr algn="r" indent="0" marL="0">
              <a:buNone/>
            </a:pPr>
            <a:r>
              <a:rPr lang="en-US" sz="1300" dirty="0">
                <a:solidFill>
                  <a:srgbClr val="7B8794"/>
                </a:solidFill>
              </a:rPr>
              <a:t>22분</a:t>
            </a:r>
            <a:endParaRPr lang="en-US" sz="1300" dirty="0"/>
          </a:p>
        </p:txBody>
      </p:sp>
      <p:sp>
        <p:nvSpPr>
          <p:cNvPr id="21" name="card"/>
          <p:cNvSpPr/>
          <p:nvPr/>
        </p:nvSpPr>
        <p:spPr>
          <a:xfrm>
            <a:off x="6172200" y="2926080"/>
            <a:ext cx="5440680" cy="1325880"/>
          </a:xfrm>
          <a:prstGeom prst="roundRect">
            <a:avLst>
              <a:gd name="adj" fmla="val 8276"/>
            </a:avLst>
          </a:prstGeom>
          <a:solidFill>
            <a:srgbClr val="F1F4F8"/>
          </a:solidFill>
          <a:ln w="12700">
            <a:solidFill>
              <a:srgbClr val="F1F4F8"/>
            </a:solidFill>
            <a:prstDash val="solid"/>
          </a:ln>
        </p:spPr>
      </p:sp>
      <p:sp>
        <p:nvSpPr>
          <p:cNvPr id="22" name="tag"/>
          <p:cNvSpPr/>
          <p:nvPr/>
        </p:nvSpPr>
        <p:spPr>
          <a:xfrm>
            <a:off x="6400800" y="3154680"/>
            <a:ext cx="384048" cy="384048"/>
          </a:xfrm>
          <a:prstGeom prst="ellipse">
            <a:avLst/>
          </a:prstGeom>
          <a:solidFill>
            <a:srgbClr val="4A3AA7"/>
          </a:solidFill>
          <a:ln w="12700">
            <a:solidFill>
              <a:srgbClr val="4A3AA7"/>
            </a:solidFill>
            <a:prstDash val="solid"/>
          </a:ln>
        </p:spPr>
      </p:sp>
      <p:sp>
        <p:nvSpPr>
          <p:cNvPr id="23" name="Text 21"/>
          <p:cNvSpPr txBox="1"/>
          <p:nvPr/>
        </p:nvSpPr>
        <p:spPr>
          <a:xfrm>
            <a:off x="6400800" y="3154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4" name="Text 22"/>
          <p:cNvSpPr txBox="1"/>
          <p:nvPr/>
        </p:nvSpPr>
        <p:spPr>
          <a:xfrm>
            <a:off x="6903720" y="312724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실험 목적과 데이터</a:t>
            </a:r>
            <a:endParaRPr lang="en-US" sz="1800" dirty="0"/>
          </a:p>
        </p:txBody>
      </p:sp>
      <p:sp>
        <p:nvSpPr>
          <p:cNvPr id="25" name="Text 23"/>
          <p:cNvSpPr txBox="1"/>
          <p:nvPr/>
        </p:nvSpPr>
        <p:spPr>
          <a:xfrm>
            <a:off x="6400800" y="3657600"/>
            <a:ext cx="4983480" cy="45720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연구 질문, CIFAR-100 계층 구조</a:t>
            </a:r>
            <a:endParaRPr lang="en-US" sz="1500" dirty="0"/>
          </a:p>
        </p:txBody>
      </p:sp>
      <p:sp>
        <p:nvSpPr>
          <p:cNvPr id="26" name="Text 24"/>
          <p:cNvSpPr txBox="1"/>
          <p:nvPr/>
        </p:nvSpPr>
        <p:spPr>
          <a:xfrm>
            <a:off x="10469880" y="3127248"/>
            <a:ext cx="914400" cy="438912"/>
          </a:xfrm>
          <a:prstGeom prst="rect">
            <a:avLst/>
          </a:prstGeom>
          <a:noFill/>
          <a:ln/>
        </p:spPr>
        <p:txBody>
          <a:bodyPr wrap="square" lIns="0" tIns="0" rIns="0" bIns="0" rtlCol="0" anchor="ctr"/>
          <a:lstStyle/>
          <a:p>
            <a:pPr algn="r" indent="0" marL="0">
              <a:buNone/>
            </a:pPr>
            <a:r>
              <a:rPr lang="en-US" sz="1300" dirty="0">
                <a:solidFill>
                  <a:srgbClr val="7B8794"/>
                </a:solidFill>
              </a:rPr>
              <a:t>6분</a:t>
            </a:r>
            <a:endParaRPr lang="en-US" sz="1300" dirty="0"/>
          </a:p>
        </p:txBody>
      </p:sp>
      <p:sp>
        <p:nvSpPr>
          <p:cNvPr id="27" name="card"/>
          <p:cNvSpPr/>
          <p:nvPr/>
        </p:nvSpPr>
        <p:spPr>
          <a:xfrm>
            <a:off x="548640" y="4480560"/>
            <a:ext cx="5440680" cy="1325880"/>
          </a:xfrm>
          <a:prstGeom prst="roundRect">
            <a:avLst>
              <a:gd name="adj" fmla="val 8276"/>
            </a:avLst>
          </a:prstGeom>
          <a:solidFill>
            <a:srgbClr val="F1F4F8"/>
          </a:solidFill>
          <a:ln w="12700">
            <a:solidFill>
              <a:srgbClr val="F1F4F8"/>
            </a:solidFill>
            <a:prstDash val="solid"/>
          </a:ln>
        </p:spPr>
      </p:sp>
      <p:sp>
        <p:nvSpPr>
          <p:cNvPr id="28" name="tag"/>
          <p:cNvSpPr/>
          <p:nvPr/>
        </p:nvSpPr>
        <p:spPr>
          <a:xfrm>
            <a:off x="777240" y="4709160"/>
            <a:ext cx="384048" cy="384048"/>
          </a:xfrm>
          <a:prstGeom prst="ellipse">
            <a:avLst/>
          </a:prstGeom>
          <a:solidFill>
            <a:srgbClr val="4A3AA7"/>
          </a:solidFill>
          <a:ln w="12700">
            <a:solidFill>
              <a:srgbClr val="4A3AA7"/>
            </a:solidFill>
            <a:prstDash val="solid"/>
          </a:ln>
        </p:spPr>
      </p:sp>
      <p:sp>
        <p:nvSpPr>
          <p:cNvPr id="29" name="Text 27"/>
          <p:cNvSpPr txBox="1"/>
          <p:nvPr/>
        </p:nvSpPr>
        <p:spPr>
          <a:xfrm>
            <a:off x="777240" y="4709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30" name="Text 28"/>
          <p:cNvSpPr txBox="1"/>
          <p:nvPr/>
        </p:nvSpPr>
        <p:spPr>
          <a:xfrm>
            <a:off x="1280160" y="468172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실험 설계와 구현</a:t>
            </a:r>
            <a:endParaRPr lang="en-US" sz="1800" dirty="0"/>
          </a:p>
        </p:txBody>
      </p:sp>
      <p:sp>
        <p:nvSpPr>
          <p:cNvPr id="31" name="Text 29"/>
          <p:cNvSpPr txBox="1"/>
          <p:nvPr/>
        </p:nvSpPr>
        <p:spPr>
          <a:xfrm>
            <a:off x="777240" y="5212080"/>
            <a:ext cx="4983480" cy="45720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규칙·손실·모형·반복 실험·코드</a:t>
            </a:r>
            <a:endParaRPr lang="en-US" sz="1500" dirty="0"/>
          </a:p>
        </p:txBody>
      </p:sp>
      <p:sp>
        <p:nvSpPr>
          <p:cNvPr id="32" name="Text 30"/>
          <p:cNvSpPr txBox="1"/>
          <p:nvPr/>
        </p:nvSpPr>
        <p:spPr>
          <a:xfrm>
            <a:off x="4846320" y="4681728"/>
            <a:ext cx="914400" cy="438912"/>
          </a:xfrm>
          <a:prstGeom prst="rect">
            <a:avLst/>
          </a:prstGeom>
          <a:noFill/>
          <a:ln/>
        </p:spPr>
        <p:txBody>
          <a:bodyPr wrap="square" lIns="0" tIns="0" rIns="0" bIns="0" rtlCol="0" anchor="ctr"/>
          <a:lstStyle/>
          <a:p>
            <a:pPr algn="r" indent="0" marL="0">
              <a:buNone/>
            </a:pPr>
            <a:r>
              <a:rPr lang="en-US" sz="1300" dirty="0">
                <a:solidFill>
                  <a:srgbClr val="7B8794"/>
                </a:solidFill>
              </a:rPr>
              <a:t>20분</a:t>
            </a:r>
            <a:endParaRPr lang="en-US" sz="1300" dirty="0"/>
          </a:p>
        </p:txBody>
      </p:sp>
      <p:sp>
        <p:nvSpPr>
          <p:cNvPr id="33" name="card"/>
          <p:cNvSpPr/>
          <p:nvPr/>
        </p:nvSpPr>
        <p:spPr>
          <a:xfrm>
            <a:off x="6172200" y="4480560"/>
            <a:ext cx="5440680" cy="1325880"/>
          </a:xfrm>
          <a:prstGeom prst="roundRect">
            <a:avLst>
              <a:gd name="adj" fmla="val 8276"/>
            </a:avLst>
          </a:prstGeom>
          <a:solidFill>
            <a:srgbClr val="F1F4F8"/>
          </a:solidFill>
          <a:ln w="12700">
            <a:solidFill>
              <a:srgbClr val="F1F4F8"/>
            </a:solidFill>
            <a:prstDash val="solid"/>
          </a:ln>
        </p:spPr>
      </p:sp>
      <p:sp>
        <p:nvSpPr>
          <p:cNvPr id="34" name="tag"/>
          <p:cNvSpPr/>
          <p:nvPr/>
        </p:nvSpPr>
        <p:spPr>
          <a:xfrm>
            <a:off x="6400800" y="4709160"/>
            <a:ext cx="384048" cy="384048"/>
          </a:xfrm>
          <a:prstGeom prst="ellipse">
            <a:avLst/>
          </a:prstGeom>
          <a:solidFill>
            <a:srgbClr val="4A3AA7"/>
          </a:solidFill>
          <a:ln w="12700">
            <a:solidFill>
              <a:srgbClr val="4A3AA7"/>
            </a:solidFill>
            <a:prstDash val="solid"/>
          </a:ln>
        </p:spPr>
      </p:sp>
      <p:sp>
        <p:nvSpPr>
          <p:cNvPr id="35" name="Text 33"/>
          <p:cNvSpPr txBox="1"/>
          <p:nvPr/>
        </p:nvSpPr>
        <p:spPr>
          <a:xfrm>
            <a:off x="6400800" y="4709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6" name="Text 34"/>
          <p:cNvSpPr txBox="1"/>
          <p:nvPr/>
        </p:nvSpPr>
        <p:spPr>
          <a:xfrm>
            <a:off x="6903720" y="468172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결과와 토론</a:t>
            </a:r>
            <a:endParaRPr lang="en-US" sz="1800" dirty="0"/>
          </a:p>
        </p:txBody>
      </p:sp>
      <p:sp>
        <p:nvSpPr>
          <p:cNvPr id="37" name="Text 35"/>
          <p:cNvSpPr txBox="1"/>
          <p:nvPr/>
        </p:nvSpPr>
        <p:spPr>
          <a:xfrm>
            <a:off x="6400800" y="5212080"/>
            <a:ext cx="4983480" cy="45720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세 가지 설정, 대조 실험, 한계</a:t>
            </a:r>
            <a:endParaRPr lang="en-US" sz="1500" dirty="0"/>
          </a:p>
        </p:txBody>
      </p:sp>
      <p:sp>
        <p:nvSpPr>
          <p:cNvPr id="38" name="Text 36"/>
          <p:cNvSpPr txBox="1"/>
          <p:nvPr/>
        </p:nvSpPr>
        <p:spPr>
          <a:xfrm>
            <a:off x="10469880" y="4681728"/>
            <a:ext cx="914400" cy="438912"/>
          </a:xfrm>
          <a:prstGeom prst="rect">
            <a:avLst/>
          </a:prstGeom>
          <a:noFill/>
          <a:ln/>
        </p:spPr>
        <p:txBody>
          <a:bodyPr wrap="square" lIns="0" tIns="0" rIns="0" bIns="0" rtlCol="0" anchor="ctr"/>
          <a:lstStyle/>
          <a:p>
            <a:pPr algn="r" indent="0" marL="0">
              <a:buNone/>
            </a:pPr>
            <a:r>
              <a:rPr lang="en-US" sz="1300" dirty="0">
                <a:solidFill>
                  <a:srgbClr val="7B8794"/>
                </a:solidFill>
              </a:rPr>
              <a:t>16분</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신경망은 스스로 모순된 답을 낸다</a:t>
            </a:r>
            <a:endParaRPr lang="en-US" sz="3000" dirty="0"/>
          </a:p>
        </p:txBody>
      </p:sp>
      <p:sp>
        <p:nvSpPr>
          <p:cNvPr id="3" name="stat"/>
          <p:cNvSpPr txBox="1"/>
          <p:nvPr/>
        </p:nvSpPr>
        <p:spPr>
          <a:xfrm>
            <a:off x="548640" y="1463040"/>
            <a:ext cx="4206240" cy="1463040"/>
          </a:xfrm>
          <a:prstGeom prst="rect">
            <a:avLst/>
          </a:prstGeom>
          <a:noFill/>
          <a:ln/>
        </p:spPr>
        <p:txBody>
          <a:bodyPr wrap="square" lIns="0" tIns="0" rIns="0" bIns="0" rtlCol="0" anchor="ctr"/>
          <a:lstStyle/>
          <a:p>
            <a:pPr indent="0" marL="0">
              <a:buNone/>
            </a:pPr>
            <a:r>
              <a:rPr lang="en-US" sz="9600" b="1" dirty="0">
                <a:solidFill>
                  <a:srgbClr val="EB6834"/>
                </a:solidFill>
              </a:rPr>
              <a:t>24%</a:t>
            </a:r>
            <a:endParaRPr lang="en-US" sz="9600" dirty="0"/>
          </a:p>
        </p:txBody>
      </p:sp>
      <p:sp>
        <p:nvSpPr>
          <p:cNvPr id="4" name="Text 2"/>
          <p:cNvSpPr txBox="1"/>
          <p:nvPr/>
        </p:nvSpPr>
        <p:spPr>
          <a:xfrm>
            <a:off x="548640" y="2971800"/>
            <a:ext cx="4206240" cy="822960"/>
          </a:xfrm>
          <a:prstGeom prst="rect">
            <a:avLst/>
          </a:prstGeom>
          <a:noFill/>
          <a:ln/>
        </p:spPr>
        <p:txBody>
          <a:bodyPr wrap="square" lIns="0" tIns="0" rIns="0" bIns="0" rtlCol="0" anchor="t"/>
          <a:lstStyle/>
          <a:p>
            <a:pPr indent="0" marL="0">
              <a:spcAft>
                <a:spcPts val="600"/>
              </a:spcAft>
              <a:buNone/>
            </a:pPr>
            <a:r>
              <a:rPr lang="en-US" sz="1600" dirty="0">
                <a:solidFill>
                  <a:srgbClr val="52606D"/>
                </a:solidFill>
              </a:rPr>
              <a:t>세부 클래스 예측과 상위 클래스 예측이 서로 모순되는 테스트 이미지의 비율</a:t>
            </a:r>
            <a:endParaRPr lang="en-US" sz="1600" dirty="0"/>
          </a:p>
        </p:txBody>
      </p:sp>
      <p:sp>
        <p:nvSpPr>
          <p:cNvPr id="5" name="Text 3"/>
          <p:cNvSpPr txBox="1"/>
          <p:nvPr/>
        </p:nvSpPr>
        <p:spPr>
          <a:xfrm>
            <a:off x="548640" y="3886200"/>
            <a:ext cx="4206240" cy="640080"/>
          </a:xfrm>
          <a:prstGeom prst="rect">
            <a:avLst/>
          </a:prstGeom>
          <a:noFill/>
          <a:ln/>
        </p:spPr>
        <p:txBody>
          <a:bodyPr wrap="square" lIns="0" tIns="0" rIns="0" bIns="0" rtlCol="0" anchor="t"/>
          <a:lstStyle/>
          <a:p>
            <a:pPr indent="0" marL="0">
              <a:spcAft>
                <a:spcPts val="600"/>
              </a:spcAft>
              <a:buNone/>
            </a:pPr>
            <a:r>
              <a:rPr lang="en-US" sz="1200" dirty="0">
                <a:solidFill>
                  <a:srgbClr val="7B8794"/>
                </a:solidFill>
              </a:rPr>
              <a:t>CIFAR-100, fine 라벨 10% + coarse 라벨 100%로 학습한 ResNet-9 (규칙 없음)</a:t>
            </a:r>
            <a:endParaRPr lang="en-US" sz="1200" dirty="0"/>
          </a:p>
        </p:txBody>
      </p:sp>
      <p:pic>
        <p:nvPicPr>
          <p:cNvPr id="6" name="maple" descr="maple_tree.png">    </p:cNvPr>
          <p:cNvPicPr>
            <a:picLocks noChangeAspect="1"/>
          </p:cNvPicPr>
          <p:nvPr/>
        </p:nvPicPr>
        <p:blipFill>
          <a:blip r:embed="rId1"/>
          <a:stretch>
            <a:fillRect/>
          </a:stretch>
        </p:blipFill>
        <p:spPr>
          <a:xfrm>
            <a:off x="5669280" y="1463040"/>
            <a:ext cx="2011680" cy="2011680"/>
          </a:xfrm>
          <a:prstGeom prst="rect">
            <a:avLst/>
          </a:prstGeom>
        </p:spPr>
      </p:pic>
      <p:sp>
        <p:nvSpPr>
          <p:cNvPr id="7" name="box"/>
          <p:cNvSpPr/>
          <p:nvPr/>
        </p:nvSpPr>
        <p:spPr>
          <a:xfrm>
            <a:off x="7955280" y="1463040"/>
            <a:ext cx="3657600" cy="822960"/>
          </a:xfrm>
          <a:prstGeom prst="roundRect">
            <a:avLst>
              <a:gd name="adj" fmla="val 8889"/>
            </a:avLst>
          </a:prstGeom>
          <a:solidFill>
            <a:srgbClr val="E6F0FB"/>
          </a:solidFill>
          <a:ln w="12700">
            <a:solidFill>
              <a:srgbClr val="E6F0FB"/>
            </a:solidFill>
            <a:prstDash val="solid"/>
          </a:ln>
        </p:spPr>
      </p:sp>
      <p:sp>
        <p:nvSpPr>
          <p:cNvPr id="8" name="Text 5"/>
          <p:cNvSpPr txBox="1"/>
          <p:nvPr/>
        </p:nvSpPr>
        <p:spPr>
          <a:xfrm>
            <a:off x="7955280" y="1463040"/>
            <a:ext cx="3657600" cy="822960"/>
          </a:xfrm>
          <a:prstGeom prst="rect">
            <a:avLst/>
          </a:prstGeom>
          <a:noFill/>
          <a:ln/>
        </p:spPr>
        <p:txBody>
          <a:bodyPr wrap="square" lIns="25400" tIns="25400" rIns="25400" bIns="25400" rtlCol="0" anchor="ctr"/>
          <a:lstStyle/>
          <a:p>
            <a:pPr algn="ctr" indent="0" marL="0">
              <a:buNone/>
            </a:pPr>
            <a:r>
              <a:rPr lang="en-US" sz="1500" b="1" dirty="0">
                <a:solidFill>
                  <a:srgbClr val="1F2933"/>
                </a:solidFill>
              </a:rPr>
              <a:t>fine 출력: maple_tree (단풍나무)</a:t>
            </a:r>
            <a:endParaRPr lang="en-US" sz="1500" dirty="0"/>
          </a:p>
        </p:txBody>
      </p:sp>
      <p:sp>
        <p:nvSpPr>
          <p:cNvPr id="9" name="box"/>
          <p:cNvSpPr/>
          <p:nvPr/>
        </p:nvSpPr>
        <p:spPr>
          <a:xfrm>
            <a:off x="7955280" y="2514600"/>
            <a:ext cx="3657600" cy="822960"/>
          </a:xfrm>
          <a:prstGeom prst="roundRect">
            <a:avLst>
              <a:gd name="adj" fmla="val 8889"/>
            </a:avLst>
          </a:prstGeom>
          <a:solidFill>
            <a:srgbClr val="FCE6DC"/>
          </a:solidFill>
          <a:ln w="12700">
            <a:solidFill>
              <a:srgbClr val="FCE6DC"/>
            </a:solidFill>
            <a:prstDash val="solid"/>
          </a:ln>
        </p:spPr>
      </p:sp>
      <p:sp>
        <p:nvSpPr>
          <p:cNvPr id="10" name="Text 7"/>
          <p:cNvSpPr txBox="1"/>
          <p:nvPr/>
        </p:nvSpPr>
        <p:spPr>
          <a:xfrm>
            <a:off x="7955280" y="2514600"/>
            <a:ext cx="3657600" cy="822960"/>
          </a:xfrm>
          <a:prstGeom prst="rect">
            <a:avLst/>
          </a:prstGeom>
          <a:noFill/>
          <a:ln/>
        </p:spPr>
        <p:txBody>
          <a:bodyPr wrap="square" lIns="25400" tIns="25400" rIns="25400" bIns="25400" rtlCol="0" anchor="ctr"/>
          <a:lstStyle/>
          <a:p>
            <a:pPr algn="ctr" indent="0" marL="0">
              <a:buNone/>
            </a:pPr>
            <a:r>
              <a:rPr lang="en-US" sz="1500" b="1" dirty="0">
                <a:solidFill>
                  <a:srgbClr val="1F2933"/>
                </a:solidFill>
              </a:rPr>
              <a:t>coarse 출력: vehicles_1 (탈것)</a:t>
            </a:r>
            <a:endParaRPr lang="en-US" sz="1500" dirty="0"/>
          </a:p>
        </p:txBody>
      </p:sp>
      <p:sp>
        <p:nvSpPr>
          <p:cNvPr id="11" name="card"/>
          <p:cNvSpPr/>
          <p:nvPr/>
        </p:nvSpPr>
        <p:spPr>
          <a:xfrm>
            <a:off x="5669280" y="3931920"/>
            <a:ext cx="5943600" cy="2011680"/>
          </a:xfrm>
          <a:prstGeom prst="roundRect">
            <a:avLst>
              <a:gd name="adj" fmla="val 5455"/>
            </a:avLst>
          </a:prstGeom>
          <a:solidFill>
            <a:srgbClr val="FDEEE6"/>
          </a:solidFill>
          <a:ln w="12700">
            <a:solidFill>
              <a:srgbClr val="FDEEE6"/>
            </a:solidFill>
            <a:prstDash val="solid"/>
          </a:ln>
        </p:spPr>
      </p:sp>
      <p:sp>
        <p:nvSpPr>
          <p:cNvPr id="12" name="tag"/>
          <p:cNvSpPr/>
          <p:nvPr/>
        </p:nvSpPr>
        <p:spPr>
          <a:xfrm>
            <a:off x="5897880" y="4160520"/>
            <a:ext cx="384048" cy="384048"/>
          </a:xfrm>
          <a:prstGeom prst="ellipse">
            <a:avLst/>
          </a:prstGeom>
          <a:solidFill>
            <a:srgbClr val="EB6834"/>
          </a:solidFill>
          <a:ln w="12700">
            <a:solidFill>
              <a:srgbClr val="EB6834"/>
            </a:solidFill>
            <a:prstDash val="solid"/>
          </a:ln>
        </p:spPr>
      </p:sp>
      <p:sp>
        <p:nvSpPr>
          <p:cNvPr id="13" name="Text 10"/>
          <p:cNvSpPr txBox="1"/>
          <p:nvPr/>
        </p:nvSpPr>
        <p:spPr>
          <a:xfrm>
            <a:off x="5897880" y="4160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S</a:t>
            </a:r>
            <a:endParaRPr lang="en-US" sz="1300" dirty="0"/>
          </a:p>
        </p:txBody>
      </p:sp>
      <p:sp>
        <p:nvSpPr>
          <p:cNvPr id="14" name="Text 11"/>
          <p:cNvSpPr txBox="1"/>
          <p:nvPr/>
        </p:nvSpPr>
        <p:spPr>
          <a:xfrm>
            <a:off x="6400800" y="4133088"/>
            <a:ext cx="5029200" cy="438912"/>
          </a:xfrm>
          <a:prstGeom prst="rect">
            <a:avLst/>
          </a:prstGeom>
          <a:noFill/>
          <a:ln/>
        </p:spPr>
        <p:txBody>
          <a:bodyPr wrap="square" lIns="0" tIns="0" rIns="0" bIns="0" rtlCol="0" anchor="ctr"/>
          <a:lstStyle/>
          <a:p>
            <a:pPr indent="0" marL="0">
              <a:buNone/>
            </a:pPr>
            <a:r>
              <a:rPr lang="en-US" sz="1800" b="1" dirty="0">
                <a:solidFill>
                  <a:srgbClr val="1F2933"/>
                </a:solidFill>
              </a:rPr>
              <a:t>사람이 아는 규칙</a:t>
            </a:r>
            <a:endParaRPr lang="en-US" sz="1800" dirty="0"/>
          </a:p>
        </p:txBody>
      </p:sp>
      <p:sp>
        <p:nvSpPr>
          <p:cNvPr id="15" name="Text 12"/>
          <p:cNvSpPr txBox="1"/>
          <p:nvPr/>
        </p:nvSpPr>
        <p:spPr>
          <a:xfrm>
            <a:off x="5897880" y="4663440"/>
            <a:ext cx="5486400" cy="11430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maple_tree → trees : 단풍나무이면 나무다</a:t>
            </a:r>
            <a:endParaRPr lang="en-US" sz="1500" dirty="0"/>
          </a:p>
          <a:p>
            <a:pPr marL="228600" indent="-228600">
              <a:spcAft>
                <a:spcPts val="800"/>
              </a:spcAft>
              <a:buSzPct val="100000"/>
              <a:buChar char="•"/>
            </a:pPr>
            <a:r>
              <a:rPr lang="en-US" sz="1500" dirty="0">
                <a:solidFill>
                  <a:srgbClr val="1F2933"/>
                </a:solidFill>
              </a:rPr>
              <a:t>세부 클래스마다 규칙 하나, 100개면 모순이 사라진다</a:t>
            </a:r>
            <a:endParaRPr lang="en-US" sz="1500" dirty="0"/>
          </a:p>
          <a:p>
            <a:pPr marL="228600" indent="-228600">
              <a:spcAft>
                <a:spcPts val="800"/>
              </a:spcAft>
              <a:buSzPct val="100000"/>
              <a:buChar char="•"/>
            </a:pPr>
            <a:r>
              <a:rPr lang="en-US" sz="1500" dirty="0">
                <a:solidFill>
                  <a:srgbClr val="1F2933"/>
                </a:solidFill>
              </a:rPr>
              <a:t>질문: 이 지식을 신경망 학습에 어떻게 넣을 것인가?</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number"/>
          <p:cNvSpPr txBox="1"/>
          <p:nvPr/>
        </p:nvSpPr>
        <p:spPr>
          <a:xfrm>
            <a:off x="548640" y="1737360"/>
            <a:ext cx="4572000" cy="822960"/>
          </a:xfrm>
          <a:prstGeom prst="rect">
            <a:avLst/>
          </a:prstGeom>
          <a:noFill/>
          <a:ln/>
        </p:spPr>
        <p:txBody>
          <a:bodyPr wrap="square" lIns="0" tIns="0" rIns="0" bIns="0" rtlCol="0" anchor="ctr"/>
          <a:lstStyle/>
          <a:p>
            <a:pPr indent="0" marL="0">
              <a:buNone/>
            </a:pPr>
            <a:r>
              <a:rPr lang="en-US" sz="5400" b="1" dirty="0">
                <a:solidFill>
                  <a:srgbClr val="EB6834"/>
                </a:solidFill>
              </a:rPr>
              <a:t>01</a:t>
            </a:r>
            <a:endParaRPr lang="en-US" sz="5400" dirty="0"/>
          </a:p>
        </p:txBody>
      </p:sp>
      <p:sp>
        <p:nvSpPr>
          <p:cNvPr id="3" name="Text 0"/>
          <p:cNvSpPr/>
          <p:nvPr>
            <p:ph idx="100" type="title" hasCustomPrompt="1"/>
          </p:nvPr>
        </p:nvSpPr>
        <p:spPr>
          <a:xfrm>
            <a:off x="548640" y="2651760"/>
            <a:ext cx="10607040" cy="1005840"/>
          </a:xfrm>
          <a:prstGeom prst="rect">
            <a:avLst/>
          </a:prstGeom>
          <a:noFill/>
          <a:ln/>
        </p:spPr>
        <p:txBody>
          <a:bodyPr wrap="square" lIns="0" tIns="0" rIns="0" bIns="0" rtlCol="0" anchor="t"/>
          <a:lstStyle/>
          <a:p>
            <a:pPr algn="l" indent="0" marL="0">
              <a:buNone/>
            </a:pPr>
            <a:r>
              <a:rPr lang="en-US" sz="4000" b="1" dirty="0">
                <a:solidFill>
                  <a:schemeClr val="bg1"/>
                </a:solidFill>
              </a:rPr>
              <a:t>뉴로심볼릭 도입</a:t>
            </a:r>
            <a:endParaRPr lang="en-US" sz="4000" dirty="0"/>
          </a:p>
        </p:txBody>
      </p:sp>
      <p:sp>
        <p:nvSpPr>
          <p:cNvPr id="4" name="Text 0"/>
          <p:cNvSpPr/>
          <p:nvPr>
            <p:ph idx="101" type="body" hasCustomPrompt="1"/>
          </p:nvPr>
        </p:nvSpPr>
        <p:spPr>
          <a:xfrm>
            <a:off x="548640" y="3749040"/>
            <a:ext cx="10607040" cy="1280160"/>
          </a:xfrm>
          <a:prstGeom prst="rect">
            <a:avLst/>
          </a:prstGeom>
          <a:noFill/>
          <a:ln/>
        </p:spPr>
        <p:txBody>
          <a:bodyPr wrap="square" lIns="0" tIns="0" rIns="0" bIns="0" rtlCol="0" anchor="t"/>
          <a:lstStyle/>
          <a:p>
            <a:pPr algn="l" indent="0" marL="0">
              <a:buNone/>
            </a:pPr>
            <a:r>
              <a:rPr lang="en-US" sz="1800" dirty="0">
                <a:solidFill>
                  <a:srgbClr val="BCCCDC"/>
                </a:solidFill>
              </a:rPr>
              <a:t>지각(perception)과 추론(reasoning)을 한 시스템에</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두 패러다임은 서로의 약점을 보완한다</a:t>
            </a:r>
            <a:endParaRPr lang="en-US" sz="3000" dirty="0"/>
          </a:p>
        </p:txBody>
      </p:sp>
      <p:sp>
        <p:nvSpPr>
          <p:cNvPr id="3" name="card"/>
          <p:cNvSpPr/>
          <p:nvPr/>
        </p:nvSpPr>
        <p:spPr>
          <a:xfrm>
            <a:off x="548640" y="1371600"/>
            <a:ext cx="5394960" cy="3291840"/>
          </a:xfrm>
          <a:prstGeom prst="roundRect">
            <a:avLst>
              <a:gd name="adj" fmla="val 3333"/>
            </a:avLst>
          </a:prstGeom>
          <a:solidFill>
            <a:srgbClr val="E6F0FB"/>
          </a:solidFill>
          <a:ln w="12700">
            <a:solidFill>
              <a:srgbClr val="E6F0FB"/>
            </a:solidFill>
            <a:prstDash val="solid"/>
          </a:ln>
        </p:spPr>
      </p:sp>
      <p:sp>
        <p:nvSpPr>
          <p:cNvPr id="4" name="tag"/>
          <p:cNvSpPr/>
          <p:nvPr/>
        </p:nvSpPr>
        <p:spPr>
          <a:xfrm>
            <a:off x="777240" y="1600200"/>
            <a:ext cx="384048" cy="384048"/>
          </a:xfrm>
          <a:prstGeom prst="ellipse">
            <a:avLst/>
          </a:prstGeom>
          <a:solidFill>
            <a:srgbClr val="2A78D6"/>
          </a:solidFill>
          <a:ln w="12700">
            <a:solidFill>
              <a:srgbClr val="2A78D6"/>
            </a:solidFill>
            <a:prstDash val="solid"/>
          </a:ln>
        </p:spPr>
      </p:sp>
      <p:sp>
        <p:nvSpPr>
          <p:cNvPr id="5" name="Text 3"/>
          <p:cNvSpPr txBox="1"/>
          <p:nvPr/>
        </p:nvSpPr>
        <p:spPr>
          <a:xfrm>
            <a:off x="77724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N</a:t>
            </a:r>
            <a:endParaRPr lang="en-US" sz="1300" dirty="0"/>
          </a:p>
        </p:txBody>
      </p:sp>
      <p:sp>
        <p:nvSpPr>
          <p:cNvPr id="6" name="Text 4"/>
          <p:cNvSpPr txBox="1"/>
          <p:nvPr/>
        </p:nvSpPr>
        <p:spPr>
          <a:xfrm>
            <a:off x="1280160" y="1572768"/>
            <a:ext cx="4480560" cy="438912"/>
          </a:xfrm>
          <a:prstGeom prst="rect">
            <a:avLst/>
          </a:prstGeom>
          <a:noFill/>
          <a:ln/>
        </p:spPr>
        <p:txBody>
          <a:bodyPr wrap="square" lIns="0" tIns="0" rIns="0" bIns="0" rtlCol="0" anchor="ctr"/>
          <a:lstStyle/>
          <a:p>
            <a:pPr indent="0" marL="0">
              <a:buNone/>
            </a:pPr>
            <a:r>
              <a:rPr lang="en-US" sz="1800" b="1" dirty="0">
                <a:solidFill>
                  <a:srgbClr val="1F2933"/>
                </a:solidFill>
              </a:rPr>
              <a:t>신경망 (Neural)</a:t>
            </a:r>
            <a:endParaRPr lang="en-US" sz="1800" dirty="0"/>
          </a:p>
        </p:txBody>
      </p:sp>
      <p:sp>
        <p:nvSpPr>
          <p:cNvPr id="7" name="Text 5"/>
          <p:cNvSpPr txBox="1"/>
          <p:nvPr/>
        </p:nvSpPr>
        <p:spPr>
          <a:xfrm>
            <a:off x="777240" y="2103120"/>
            <a:ext cx="4937760" cy="24231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강점: 이미지·음성·텍스트 같은 원시 데이터에서 패턴을 학습</a:t>
            </a:r>
            <a:endParaRPr lang="en-US" sz="1500" dirty="0"/>
          </a:p>
          <a:p>
            <a:pPr marL="228600" indent="-228600">
              <a:spcAft>
                <a:spcPts val="800"/>
              </a:spcAft>
              <a:buSzPct val="100000"/>
              <a:buChar char="•"/>
            </a:pPr>
            <a:r>
              <a:rPr lang="en-US" sz="1500" dirty="0">
                <a:solidFill>
                  <a:srgbClr val="1F2933"/>
                </a:solidFill>
              </a:rPr>
              <a:t>강점: 잡음에 강하고 미분 가능 → 경사하강법</a:t>
            </a:r>
            <a:endParaRPr lang="en-US" sz="1500" dirty="0"/>
          </a:p>
          <a:p>
            <a:pPr marL="228600" indent="-228600">
              <a:spcAft>
                <a:spcPts val="800"/>
              </a:spcAft>
              <a:buSzPct val="100000"/>
              <a:buChar char="•"/>
            </a:pPr>
            <a:r>
              <a:rPr lang="en-US" sz="1500" dirty="0">
                <a:solidFill>
                  <a:srgbClr val="1F2933"/>
                </a:solidFill>
              </a:rPr>
              <a:t>약점: 대량의 라벨 데이터가 필요</a:t>
            </a:r>
            <a:endParaRPr lang="en-US" sz="1500" dirty="0"/>
          </a:p>
          <a:p>
            <a:pPr marL="228600" indent="-228600">
              <a:spcAft>
                <a:spcPts val="800"/>
              </a:spcAft>
              <a:buSzPct val="100000"/>
              <a:buChar char="•"/>
            </a:pPr>
            <a:r>
              <a:rPr lang="en-US" sz="1500" dirty="0">
                <a:solidFill>
                  <a:srgbClr val="1F2933"/>
                </a:solidFill>
              </a:rPr>
              <a:t>약점: 명시적 규칙을 보장하지 못함 (모순된 출력 가능)</a:t>
            </a:r>
            <a:endParaRPr lang="en-US" sz="1500" dirty="0"/>
          </a:p>
          <a:p>
            <a:pPr marL="228600" indent="-228600">
              <a:spcAft>
                <a:spcPts val="800"/>
              </a:spcAft>
              <a:buSzPct val="100000"/>
              <a:buChar char="•"/>
            </a:pPr>
            <a:r>
              <a:rPr lang="en-US" sz="1500" dirty="0">
                <a:solidFill>
                  <a:srgbClr val="1F2933"/>
                </a:solidFill>
              </a:rPr>
              <a:t>약점: 왜 그런 답을 냈는지 설명하기 어려움</a:t>
            </a:r>
            <a:endParaRPr lang="en-US" sz="1500" dirty="0"/>
          </a:p>
        </p:txBody>
      </p:sp>
      <p:sp>
        <p:nvSpPr>
          <p:cNvPr id="8" name="card"/>
          <p:cNvSpPr/>
          <p:nvPr/>
        </p:nvSpPr>
        <p:spPr>
          <a:xfrm>
            <a:off x="6217920" y="1371600"/>
            <a:ext cx="5394960" cy="3291840"/>
          </a:xfrm>
          <a:prstGeom prst="roundRect">
            <a:avLst>
              <a:gd name="adj" fmla="val 3333"/>
            </a:avLst>
          </a:prstGeom>
          <a:solidFill>
            <a:srgbClr val="FDEEE6"/>
          </a:solidFill>
          <a:ln w="12700">
            <a:solidFill>
              <a:srgbClr val="FDEEE6"/>
            </a:solidFill>
            <a:prstDash val="solid"/>
          </a:ln>
        </p:spPr>
      </p:sp>
      <p:sp>
        <p:nvSpPr>
          <p:cNvPr id="9" name="tag"/>
          <p:cNvSpPr/>
          <p:nvPr/>
        </p:nvSpPr>
        <p:spPr>
          <a:xfrm>
            <a:off x="6446520" y="1600200"/>
            <a:ext cx="384048" cy="384048"/>
          </a:xfrm>
          <a:prstGeom prst="ellipse">
            <a:avLst/>
          </a:prstGeom>
          <a:solidFill>
            <a:srgbClr val="EB6834"/>
          </a:solidFill>
          <a:ln w="12700">
            <a:solidFill>
              <a:srgbClr val="EB6834"/>
            </a:solidFill>
            <a:prstDash val="solid"/>
          </a:ln>
        </p:spPr>
      </p:sp>
      <p:sp>
        <p:nvSpPr>
          <p:cNvPr id="10" name="Text 8"/>
          <p:cNvSpPr txBox="1"/>
          <p:nvPr/>
        </p:nvSpPr>
        <p:spPr>
          <a:xfrm>
            <a:off x="644652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S</a:t>
            </a:r>
            <a:endParaRPr lang="en-US" sz="1300" dirty="0"/>
          </a:p>
        </p:txBody>
      </p:sp>
      <p:sp>
        <p:nvSpPr>
          <p:cNvPr id="11" name="Text 9"/>
          <p:cNvSpPr txBox="1"/>
          <p:nvPr/>
        </p:nvSpPr>
        <p:spPr>
          <a:xfrm>
            <a:off x="6949440" y="1572768"/>
            <a:ext cx="4480560" cy="438912"/>
          </a:xfrm>
          <a:prstGeom prst="rect">
            <a:avLst/>
          </a:prstGeom>
          <a:noFill/>
          <a:ln/>
        </p:spPr>
        <p:txBody>
          <a:bodyPr wrap="square" lIns="0" tIns="0" rIns="0" bIns="0" rtlCol="0" anchor="ctr"/>
          <a:lstStyle/>
          <a:p>
            <a:pPr indent="0" marL="0">
              <a:buNone/>
            </a:pPr>
            <a:r>
              <a:rPr lang="en-US" sz="1800" b="1" dirty="0">
                <a:solidFill>
                  <a:srgbClr val="1F2933"/>
                </a:solidFill>
              </a:rPr>
              <a:t>기호 AI (Symbolic)</a:t>
            </a:r>
            <a:endParaRPr lang="en-US" sz="1800" dirty="0"/>
          </a:p>
        </p:txBody>
      </p:sp>
      <p:sp>
        <p:nvSpPr>
          <p:cNvPr id="12" name="Text 10"/>
          <p:cNvSpPr txBox="1"/>
          <p:nvPr/>
        </p:nvSpPr>
        <p:spPr>
          <a:xfrm>
            <a:off x="6446520" y="2103120"/>
            <a:ext cx="4937760" cy="24231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강점: 논리 규칙으로 지식을 정확하게 표현</a:t>
            </a:r>
            <a:endParaRPr lang="en-US" sz="1500" dirty="0"/>
          </a:p>
          <a:p>
            <a:pPr marL="228600" indent="-228600">
              <a:spcAft>
                <a:spcPts val="800"/>
              </a:spcAft>
              <a:buSzPct val="100000"/>
              <a:buChar char="•"/>
            </a:pPr>
            <a:r>
              <a:rPr lang="en-US" sz="1500" dirty="0">
                <a:solidFill>
                  <a:srgbClr val="1F2933"/>
                </a:solidFill>
              </a:rPr>
              <a:t>강점: 적은 데이터로도 추론 가능, 결과 설명 가능</a:t>
            </a:r>
            <a:endParaRPr lang="en-US" sz="1500" dirty="0"/>
          </a:p>
          <a:p>
            <a:pPr marL="228600" indent="-228600">
              <a:spcAft>
                <a:spcPts val="800"/>
              </a:spcAft>
              <a:buSzPct val="100000"/>
              <a:buChar char="•"/>
            </a:pPr>
            <a:r>
              <a:rPr lang="en-US" sz="1500" dirty="0">
                <a:solidFill>
                  <a:srgbClr val="1F2933"/>
                </a:solidFill>
              </a:rPr>
              <a:t>강점: 제약을 100% 만족하는 답을 보장</a:t>
            </a:r>
            <a:endParaRPr lang="en-US" sz="1500" dirty="0"/>
          </a:p>
          <a:p>
            <a:pPr marL="228600" indent="-228600">
              <a:spcAft>
                <a:spcPts val="800"/>
              </a:spcAft>
              <a:buSzPct val="100000"/>
              <a:buChar char="•"/>
            </a:pPr>
            <a:r>
              <a:rPr lang="en-US" sz="1500" dirty="0">
                <a:solidFill>
                  <a:srgbClr val="1F2933"/>
                </a:solidFill>
              </a:rPr>
              <a:t>약점: 원시 데이터(픽셀)를 직접 다루지 못함</a:t>
            </a:r>
            <a:endParaRPr lang="en-US" sz="1500" dirty="0"/>
          </a:p>
          <a:p>
            <a:pPr marL="228600" indent="-228600">
              <a:spcAft>
                <a:spcPts val="800"/>
              </a:spcAft>
              <a:buSzPct val="100000"/>
              <a:buChar char="•"/>
            </a:pPr>
            <a:r>
              <a:rPr lang="en-US" sz="1500" dirty="0">
                <a:solidFill>
                  <a:srgbClr val="1F2933"/>
                </a:solidFill>
              </a:rPr>
              <a:t>약점: 규칙을 사람이 작성해야 하고, 예외에 취약</a:t>
            </a:r>
            <a:endParaRPr lang="en-US" sz="1500" dirty="0"/>
          </a:p>
        </p:txBody>
      </p:sp>
      <p:sp>
        <p:nvSpPr>
          <p:cNvPr id="13" name="callout"/>
          <p:cNvSpPr/>
          <p:nvPr/>
        </p:nvSpPr>
        <p:spPr>
          <a:xfrm>
            <a:off x="548640" y="4937760"/>
            <a:ext cx="11094415" cy="960120"/>
          </a:xfrm>
          <a:prstGeom prst="roundRect">
            <a:avLst>
              <a:gd name="adj" fmla="val 11429"/>
            </a:avLst>
          </a:prstGeom>
          <a:solidFill>
            <a:srgbClr val="FFFFFF"/>
          </a:solidFill>
          <a:ln w="19050">
            <a:solidFill>
              <a:srgbClr val="4A3AA7"/>
            </a:solidFill>
            <a:prstDash val="solid"/>
          </a:ln>
        </p:spPr>
      </p:sp>
      <p:sp>
        <p:nvSpPr>
          <p:cNvPr id="14" name="Text 12"/>
          <p:cNvSpPr txBox="1"/>
          <p:nvPr/>
        </p:nvSpPr>
        <p:spPr>
          <a:xfrm>
            <a:off x="822960" y="4937760"/>
            <a:ext cx="10545775" cy="960120"/>
          </a:xfrm>
          <a:prstGeom prst="rect">
            <a:avLst/>
          </a:prstGeom>
          <a:noFill/>
          <a:ln/>
        </p:spPr>
        <p:txBody>
          <a:bodyPr wrap="square" lIns="0" tIns="0" rIns="0" bIns="0" rtlCol="0" anchor="ctr"/>
          <a:lstStyle/>
          <a:p>
            <a:pPr indent="0" marL="0">
              <a:spcAft>
                <a:spcPts val="600"/>
              </a:spcAft>
              <a:buNone/>
            </a:pPr>
            <a:r>
              <a:rPr lang="en-US" sz="1700" b="1" dirty="0">
                <a:solidFill>
                  <a:srgbClr val="4A3AA7"/>
                </a:solidFill>
              </a:rPr>
              <a:t>뉴로심볼릭 AI</a:t>
            </a:r>
            <a:pPr indent="0" marL="0">
              <a:spcAft>
                <a:spcPts val="600"/>
              </a:spcAft>
              <a:buNone/>
            </a:pPr>
            <a:r>
              <a:rPr lang="en-US" sz="1700" dirty="0">
                <a:solidFill>
                  <a:srgbClr val="1F2933"/>
                </a:solidFill>
              </a:rPr>
              <a:t> = 신경망의 지각(픽셀 → 개념) + 기호 AI의 추론(개념 → 규칙에 맞는 결론)</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지식을 신경망에 넣는 세 가지 통로</a:t>
            </a:r>
            <a:endParaRPr lang="en-US" sz="3000" dirty="0"/>
          </a:p>
        </p:txBody>
      </p:sp>
      <p:sp>
        <p:nvSpPr>
          <p:cNvPr id="3" name="card"/>
          <p:cNvSpPr/>
          <p:nvPr/>
        </p:nvSpPr>
        <p:spPr>
          <a:xfrm>
            <a:off x="548640" y="1463040"/>
            <a:ext cx="3520440" cy="2743200"/>
          </a:xfrm>
          <a:prstGeom prst="roundRect">
            <a:avLst>
              <a:gd name="adj" fmla="val 4000"/>
            </a:avLst>
          </a:prstGeom>
          <a:solidFill>
            <a:srgbClr val="F1F4F8"/>
          </a:solidFill>
          <a:ln w="12700">
            <a:solidFill>
              <a:srgbClr val="F1F4F8"/>
            </a:solidFill>
            <a:prstDash val="solid"/>
          </a:ln>
        </p:spPr>
      </p:sp>
      <p:sp>
        <p:nvSpPr>
          <p:cNvPr id="4" name="tag"/>
          <p:cNvSpPr/>
          <p:nvPr/>
        </p:nvSpPr>
        <p:spPr>
          <a:xfrm>
            <a:off x="777240" y="1691640"/>
            <a:ext cx="384048" cy="384048"/>
          </a:xfrm>
          <a:prstGeom prst="ellipse">
            <a:avLst/>
          </a:prstGeom>
          <a:solidFill>
            <a:srgbClr val="52606D"/>
          </a:solidFill>
          <a:ln w="12700">
            <a:solidFill>
              <a:srgbClr val="52606D"/>
            </a:solidFill>
            <a:prstDash val="solid"/>
          </a:ln>
        </p:spPr>
      </p:sp>
      <p:sp>
        <p:nvSpPr>
          <p:cNvPr id="5" name="Text 3"/>
          <p:cNvSpPr txBox="1"/>
          <p:nvPr/>
        </p:nvSpPr>
        <p:spPr>
          <a:xfrm>
            <a:off x="777240" y="1691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280160" y="1664208"/>
            <a:ext cx="2606040" cy="438912"/>
          </a:xfrm>
          <a:prstGeom prst="rect">
            <a:avLst/>
          </a:prstGeom>
          <a:noFill/>
          <a:ln/>
        </p:spPr>
        <p:txBody>
          <a:bodyPr wrap="square" lIns="0" tIns="0" rIns="0" bIns="0" rtlCol="0" anchor="ctr"/>
          <a:lstStyle/>
          <a:p>
            <a:pPr indent="0" marL="0">
              <a:buNone/>
            </a:pPr>
            <a:r>
              <a:rPr lang="en-US" sz="1800" b="1" dirty="0">
                <a:solidFill>
                  <a:srgbClr val="1F2933"/>
                </a:solidFill>
              </a:rPr>
              <a:t>입력 · 데이터</a:t>
            </a:r>
            <a:endParaRPr lang="en-US" sz="1800" dirty="0"/>
          </a:p>
        </p:txBody>
      </p:sp>
      <p:sp>
        <p:nvSpPr>
          <p:cNvPr id="7" name="Text 5"/>
          <p:cNvSpPr txBox="1"/>
          <p:nvPr/>
        </p:nvSpPr>
        <p:spPr>
          <a:xfrm>
            <a:off x="777240" y="2194560"/>
            <a:ext cx="3063240" cy="18745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규칙으로 데이터를 보강</a:t>
            </a:r>
            <a:endParaRPr lang="en-US" sz="1500" dirty="0"/>
          </a:p>
          <a:p>
            <a:pPr marL="228600" indent="-228600">
              <a:spcAft>
                <a:spcPts val="800"/>
              </a:spcAft>
              <a:buSzPct val="100000"/>
              <a:buChar char="•"/>
            </a:pPr>
            <a:r>
              <a:rPr lang="en-US" sz="1500" dirty="0">
                <a:solidFill>
                  <a:srgbClr val="1F2933"/>
                </a:solidFill>
              </a:rPr>
              <a:t>예: 규칙 기반 증강, 가짜 라벨</a:t>
            </a:r>
            <a:endParaRPr lang="en-US" sz="1500" dirty="0"/>
          </a:p>
        </p:txBody>
      </p:sp>
      <p:sp>
        <p:nvSpPr>
          <p:cNvPr id="8" name="card"/>
          <p:cNvSpPr/>
          <p:nvPr/>
        </p:nvSpPr>
        <p:spPr>
          <a:xfrm>
            <a:off x="4297680" y="1463040"/>
            <a:ext cx="3520440" cy="2743200"/>
          </a:xfrm>
          <a:prstGeom prst="roundRect">
            <a:avLst>
              <a:gd name="adj" fmla="val 4000"/>
            </a:avLst>
          </a:prstGeom>
          <a:solidFill>
            <a:srgbClr val="F1F4F8"/>
          </a:solidFill>
          <a:ln w="12700">
            <a:solidFill>
              <a:srgbClr val="F1F4F8"/>
            </a:solidFill>
            <a:prstDash val="solid"/>
          </a:ln>
        </p:spPr>
      </p:sp>
      <p:sp>
        <p:nvSpPr>
          <p:cNvPr id="9" name="tag"/>
          <p:cNvSpPr/>
          <p:nvPr/>
        </p:nvSpPr>
        <p:spPr>
          <a:xfrm>
            <a:off x="4526280" y="1691640"/>
            <a:ext cx="384048" cy="384048"/>
          </a:xfrm>
          <a:prstGeom prst="ellipse">
            <a:avLst/>
          </a:prstGeom>
          <a:solidFill>
            <a:srgbClr val="4A3AA7"/>
          </a:solidFill>
          <a:ln w="12700">
            <a:solidFill>
              <a:srgbClr val="4A3AA7"/>
            </a:solidFill>
            <a:prstDash val="solid"/>
          </a:ln>
        </p:spPr>
      </p:sp>
      <p:sp>
        <p:nvSpPr>
          <p:cNvPr id="10" name="Text 8"/>
          <p:cNvSpPr txBox="1"/>
          <p:nvPr/>
        </p:nvSpPr>
        <p:spPr>
          <a:xfrm>
            <a:off x="4526280" y="1691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txBox="1"/>
          <p:nvPr/>
        </p:nvSpPr>
        <p:spPr>
          <a:xfrm>
            <a:off x="5029200" y="1664208"/>
            <a:ext cx="2606040" cy="438912"/>
          </a:xfrm>
          <a:prstGeom prst="rect">
            <a:avLst/>
          </a:prstGeom>
          <a:noFill/>
          <a:ln/>
        </p:spPr>
        <p:txBody>
          <a:bodyPr wrap="square" lIns="0" tIns="0" rIns="0" bIns="0" rtlCol="0" anchor="ctr"/>
          <a:lstStyle/>
          <a:p>
            <a:pPr indent="0" marL="0">
              <a:buNone/>
            </a:pPr>
            <a:r>
              <a:rPr lang="en-US" sz="1800" b="1" dirty="0">
                <a:solidFill>
                  <a:srgbClr val="1F2933"/>
                </a:solidFill>
              </a:rPr>
              <a:t>구조 · 추론</a:t>
            </a:r>
            <a:endParaRPr lang="en-US" sz="1800" dirty="0"/>
          </a:p>
        </p:txBody>
      </p:sp>
      <p:sp>
        <p:nvSpPr>
          <p:cNvPr id="12" name="Text 10"/>
          <p:cNvSpPr txBox="1"/>
          <p:nvPr/>
        </p:nvSpPr>
        <p:spPr>
          <a:xfrm>
            <a:off x="4526280" y="2194560"/>
            <a:ext cx="3063240" cy="18745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네트워크에 논리 추론기를 내장</a:t>
            </a:r>
            <a:endParaRPr lang="en-US" sz="1500" dirty="0"/>
          </a:p>
          <a:p>
            <a:pPr marL="228600" indent="-228600">
              <a:spcAft>
                <a:spcPts val="800"/>
              </a:spcAft>
              <a:buSzPct val="100000"/>
              <a:buChar char="•"/>
            </a:pPr>
            <a:r>
              <a:rPr lang="en-US" sz="1500" dirty="0">
                <a:solidFill>
                  <a:srgbClr val="1F2933"/>
                </a:solidFill>
              </a:rPr>
              <a:t>예: DeepProbLog, 제약 출력층</a:t>
            </a:r>
            <a:endParaRPr lang="en-US" sz="1500" dirty="0"/>
          </a:p>
        </p:txBody>
      </p:sp>
      <p:sp>
        <p:nvSpPr>
          <p:cNvPr id="13" name="card"/>
          <p:cNvSpPr/>
          <p:nvPr/>
        </p:nvSpPr>
        <p:spPr>
          <a:xfrm>
            <a:off x="8046720" y="1463040"/>
            <a:ext cx="3520440" cy="2743200"/>
          </a:xfrm>
          <a:prstGeom prst="roundRect">
            <a:avLst>
              <a:gd name="adj" fmla="val 4000"/>
            </a:avLst>
          </a:prstGeom>
          <a:solidFill>
            <a:srgbClr val="FDEEE6"/>
          </a:solidFill>
          <a:ln w="12700">
            <a:solidFill>
              <a:srgbClr val="FDEEE6"/>
            </a:solidFill>
            <a:prstDash val="solid"/>
          </a:ln>
        </p:spPr>
      </p:sp>
      <p:sp>
        <p:nvSpPr>
          <p:cNvPr id="14" name="tag"/>
          <p:cNvSpPr/>
          <p:nvPr/>
        </p:nvSpPr>
        <p:spPr>
          <a:xfrm>
            <a:off x="8275320" y="1691640"/>
            <a:ext cx="384048" cy="384048"/>
          </a:xfrm>
          <a:prstGeom prst="ellipse">
            <a:avLst/>
          </a:prstGeom>
          <a:solidFill>
            <a:srgbClr val="EB6834"/>
          </a:solidFill>
          <a:ln w="12700">
            <a:solidFill>
              <a:srgbClr val="EB6834"/>
            </a:solidFill>
            <a:prstDash val="solid"/>
          </a:ln>
        </p:spPr>
      </p:sp>
      <p:sp>
        <p:nvSpPr>
          <p:cNvPr id="15" name="Text 13"/>
          <p:cNvSpPr txBox="1"/>
          <p:nvPr/>
        </p:nvSpPr>
        <p:spPr>
          <a:xfrm>
            <a:off x="8275320" y="1691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4"/>
          <p:cNvSpPr txBox="1"/>
          <p:nvPr/>
        </p:nvSpPr>
        <p:spPr>
          <a:xfrm>
            <a:off x="8778240" y="1664208"/>
            <a:ext cx="2606040" cy="438912"/>
          </a:xfrm>
          <a:prstGeom prst="rect">
            <a:avLst/>
          </a:prstGeom>
          <a:noFill/>
          <a:ln/>
        </p:spPr>
        <p:txBody>
          <a:bodyPr wrap="square" lIns="0" tIns="0" rIns="0" bIns="0" rtlCol="0" anchor="ctr"/>
          <a:lstStyle/>
          <a:p>
            <a:pPr indent="0" marL="0">
              <a:buNone/>
            </a:pPr>
            <a:r>
              <a:rPr lang="en-US" sz="1800" b="1" dirty="0">
                <a:solidFill>
                  <a:srgbClr val="1F2933"/>
                </a:solidFill>
              </a:rPr>
              <a:t>손실 · 학습 목표</a:t>
            </a:r>
            <a:endParaRPr lang="en-US" sz="1800" dirty="0"/>
          </a:p>
        </p:txBody>
      </p:sp>
      <p:sp>
        <p:nvSpPr>
          <p:cNvPr id="17" name="Text 15"/>
          <p:cNvSpPr txBox="1"/>
          <p:nvPr/>
        </p:nvSpPr>
        <p:spPr>
          <a:xfrm>
            <a:off x="8275320" y="2194560"/>
            <a:ext cx="3063240" cy="18745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규칙 위반을 벌점으로 학습</a:t>
            </a:r>
            <a:endParaRPr lang="en-US" sz="1500" dirty="0"/>
          </a:p>
          <a:p>
            <a:pPr marL="228600" indent="-228600">
              <a:spcAft>
                <a:spcPts val="800"/>
              </a:spcAft>
              <a:buSzPct val="100000"/>
              <a:buChar char="•"/>
            </a:pPr>
            <a:r>
              <a:rPr lang="en-US" sz="1500" dirty="0">
                <a:solidFill>
                  <a:srgbClr val="1F2933"/>
                </a:solidFill>
              </a:rPr>
              <a:t>예: 의미 손실, LTN</a:t>
            </a:r>
            <a:endParaRPr lang="en-US" sz="1500" dirty="0"/>
          </a:p>
        </p:txBody>
      </p:sp>
      <p:sp>
        <p:nvSpPr>
          <p:cNvPr id="18" name="callout"/>
          <p:cNvSpPr/>
          <p:nvPr/>
        </p:nvSpPr>
        <p:spPr>
          <a:xfrm>
            <a:off x="548640" y="4526280"/>
            <a:ext cx="11094415" cy="1325880"/>
          </a:xfrm>
          <a:prstGeom prst="roundRect">
            <a:avLst>
              <a:gd name="adj" fmla="val 8276"/>
            </a:avLst>
          </a:prstGeom>
          <a:solidFill>
            <a:srgbClr val="FFFFFF"/>
          </a:solidFill>
          <a:ln w="19050">
            <a:solidFill>
              <a:srgbClr val="EB6834"/>
            </a:solidFill>
            <a:prstDash val="solid"/>
          </a:ln>
        </p:spPr>
      </p:sp>
      <p:sp>
        <p:nvSpPr>
          <p:cNvPr id="19" name="Text 17"/>
          <p:cNvSpPr txBox="1"/>
          <p:nvPr/>
        </p:nvSpPr>
        <p:spPr>
          <a:xfrm>
            <a:off x="822960" y="4709160"/>
            <a:ext cx="10545775" cy="1005840"/>
          </a:xfrm>
          <a:prstGeom prst="rect">
            <a:avLst/>
          </a:prstGeom>
          <a:noFill/>
          <a:ln/>
        </p:spPr>
        <p:txBody>
          <a:bodyPr wrap="square" lIns="0" tIns="0" rIns="0" bIns="0" rtlCol="0" anchor="t"/>
          <a:lstStyle/>
          <a:p>
            <a:pPr indent="0" marL="0">
              <a:spcAft>
                <a:spcPts val="600"/>
              </a:spcAft>
              <a:buNone/>
            </a:pPr>
            <a:r>
              <a:rPr lang="en-US" sz="1600" b="1" dirty="0">
                <a:solidFill>
                  <a:srgbClr val="EB6834"/>
                </a:solidFill>
              </a:rPr>
              <a:t>오늘의 주제 — 의미 손실 (Xu et al., ICML 2018)</a:t>
            </a:r>
            <a:endParaRPr lang="en-US" sz="1600" dirty="0"/>
          </a:p>
          <a:p>
            <a:pPr indent="0" marL="0">
              <a:spcAft>
                <a:spcPts val="600"/>
              </a:spcAft>
              <a:buNone/>
            </a:pPr>
            <a:r>
              <a:rPr lang="en-US" sz="1600" dirty="0">
                <a:solidFill>
                  <a:srgbClr val="1F2933"/>
                </a:solidFill>
              </a:rPr>
              <a:t>명제논리 제약 α를 만족할 확률을 손실로 바꾼다 — 구조 변경 없음 · 추론 비용 없음 · 라벨 없는 데이터에도 적용</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number"/>
          <p:cNvSpPr txBox="1"/>
          <p:nvPr/>
        </p:nvSpPr>
        <p:spPr>
          <a:xfrm>
            <a:off x="548640" y="1737360"/>
            <a:ext cx="4572000" cy="822960"/>
          </a:xfrm>
          <a:prstGeom prst="rect">
            <a:avLst/>
          </a:prstGeom>
          <a:noFill/>
          <a:ln/>
        </p:spPr>
        <p:txBody>
          <a:bodyPr wrap="square" lIns="0" tIns="0" rIns="0" bIns="0" rtlCol="0" anchor="ctr"/>
          <a:lstStyle/>
          <a:p>
            <a:pPr indent="0" marL="0">
              <a:buNone/>
            </a:pPr>
            <a:r>
              <a:rPr lang="en-US" sz="5400" b="1" dirty="0">
                <a:solidFill>
                  <a:srgbClr val="EB6834"/>
                </a:solidFill>
              </a:rPr>
              <a:t>02</a:t>
            </a:r>
            <a:endParaRPr lang="en-US" sz="5400" dirty="0"/>
          </a:p>
        </p:txBody>
      </p:sp>
      <p:sp>
        <p:nvSpPr>
          <p:cNvPr id="3" name="Text 0"/>
          <p:cNvSpPr/>
          <p:nvPr>
            <p:ph idx="100" type="title" hasCustomPrompt="1"/>
          </p:nvPr>
        </p:nvSpPr>
        <p:spPr>
          <a:xfrm>
            <a:off x="548640" y="2651760"/>
            <a:ext cx="10607040" cy="1005840"/>
          </a:xfrm>
          <a:prstGeom prst="rect">
            <a:avLst/>
          </a:prstGeom>
          <a:noFill/>
          <a:ln/>
        </p:spPr>
        <p:txBody>
          <a:bodyPr wrap="square" lIns="0" tIns="0" rIns="0" bIns="0" rtlCol="0" anchor="t"/>
          <a:lstStyle/>
          <a:p>
            <a:pPr algn="l" indent="0" marL="0">
              <a:buNone/>
            </a:pPr>
            <a:r>
              <a:rPr lang="en-US" sz="4000" b="1" dirty="0">
                <a:solidFill>
                  <a:schemeClr val="bg1"/>
                </a:solidFill>
              </a:rPr>
              <a:t>사전 지식</a:t>
            </a:r>
            <a:endParaRPr lang="en-US" sz="4000" dirty="0"/>
          </a:p>
        </p:txBody>
      </p:sp>
      <p:sp>
        <p:nvSpPr>
          <p:cNvPr id="4" name="Text 0"/>
          <p:cNvSpPr/>
          <p:nvPr>
            <p:ph idx="101" type="body" hasCustomPrompt="1"/>
          </p:nvPr>
        </p:nvSpPr>
        <p:spPr>
          <a:xfrm>
            <a:off x="548640" y="3749040"/>
            <a:ext cx="10607040" cy="1280160"/>
          </a:xfrm>
          <a:prstGeom prst="rect">
            <a:avLst/>
          </a:prstGeom>
          <a:noFill/>
          <a:ln/>
        </p:spPr>
        <p:txBody>
          <a:bodyPr wrap="square" lIns="0" tIns="0" rIns="0" bIns="0" rtlCol="0" anchor="t"/>
          <a:lstStyle/>
          <a:p>
            <a:pPr algn="l" indent="0" marL="0">
              <a:buNone/>
            </a:pPr>
            <a:r>
              <a:rPr lang="en-US" sz="1800" dirty="0">
                <a:solidFill>
                  <a:srgbClr val="BCCCDC"/>
                </a:solidFill>
              </a:rPr>
              <a:t>출력 확률, 손실 함수, 명제논리의 기본 개념</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시그모이드와 소프트맥스: 두 가지 확률 해석</a:t>
            </a:r>
            <a:endParaRPr lang="en-US" sz="3000" dirty="0"/>
          </a:p>
        </p:txBody>
      </p:sp>
      <p:sp>
        <p:nvSpPr>
          <p:cNvPr id="3" name="card"/>
          <p:cNvSpPr/>
          <p:nvPr/>
        </p:nvSpPr>
        <p:spPr>
          <a:xfrm>
            <a:off x="548640" y="1371600"/>
            <a:ext cx="5394960" cy="4526280"/>
          </a:xfrm>
          <a:prstGeom prst="roundRect">
            <a:avLst>
              <a:gd name="adj" fmla="val 2424"/>
            </a:avLst>
          </a:prstGeom>
          <a:solidFill>
            <a:srgbClr val="F1F4F8"/>
          </a:solidFill>
          <a:ln w="12700">
            <a:solidFill>
              <a:srgbClr val="F1F4F8"/>
            </a:solidFill>
            <a:prstDash val="solid"/>
          </a:ln>
        </p:spPr>
      </p:sp>
      <p:sp>
        <p:nvSpPr>
          <p:cNvPr id="4" name="tag"/>
          <p:cNvSpPr/>
          <p:nvPr/>
        </p:nvSpPr>
        <p:spPr>
          <a:xfrm>
            <a:off x="777240" y="1600200"/>
            <a:ext cx="384048" cy="384048"/>
          </a:xfrm>
          <a:prstGeom prst="ellipse">
            <a:avLst/>
          </a:prstGeom>
          <a:solidFill>
            <a:srgbClr val="4A3AA7"/>
          </a:solidFill>
          <a:ln w="12700">
            <a:solidFill>
              <a:srgbClr val="4A3AA7"/>
            </a:solidFill>
            <a:prstDash val="solid"/>
          </a:ln>
        </p:spPr>
      </p:sp>
      <p:sp>
        <p:nvSpPr>
          <p:cNvPr id="5" name="Text 3"/>
          <p:cNvSpPr txBox="1"/>
          <p:nvPr/>
        </p:nvSpPr>
        <p:spPr>
          <a:xfrm>
            <a:off x="77724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280160" y="1572768"/>
            <a:ext cx="4480560" cy="438912"/>
          </a:xfrm>
          <a:prstGeom prst="rect">
            <a:avLst/>
          </a:prstGeom>
          <a:noFill/>
          <a:ln/>
        </p:spPr>
        <p:txBody>
          <a:bodyPr wrap="square" lIns="0" tIns="0" rIns="0" bIns="0" rtlCol="0" anchor="ctr"/>
          <a:lstStyle/>
          <a:p>
            <a:pPr indent="0" marL="0">
              <a:buNone/>
            </a:pPr>
            <a:r>
              <a:rPr lang="en-US" sz="1800" b="1" dirty="0">
                <a:solidFill>
                  <a:srgbClr val="1F2933"/>
                </a:solidFill>
              </a:rPr>
              <a:t>소프트맥스 — 하나의 범주형 분포</a:t>
            </a:r>
            <a:endParaRPr lang="en-US" sz="1800" dirty="0"/>
          </a:p>
        </p:txBody>
      </p:sp>
      <p:pic>
        <p:nvPicPr>
          <p:cNvPr id="7" name="equation" descr="\mathrm{softmax}(z)_i = \dfrac{e^{z_i}}{\sum_{j=1}^{n} e^{z_j}},\qquad \sum_i p_i = 1">    </p:cNvPr>
          <p:cNvPicPr>
            <a:picLocks noChangeAspect="1"/>
          </p:cNvPicPr>
          <p:nvPr/>
        </p:nvPicPr>
        <p:blipFill>
          <a:blip r:embed="rId1"/>
          <a:stretch>
            <a:fillRect/>
          </a:stretch>
        </p:blipFill>
        <p:spPr>
          <a:xfrm>
            <a:off x="822960" y="2240280"/>
            <a:ext cx="4357458" cy="646102"/>
          </a:xfrm>
          <a:prstGeom prst="rect">
            <a:avLst/>
          </a:prstGeom>
        </p:spPr>
      </p:pic>
      <p:sp>
        <p:nvSpPr>
          <p:cNvPr id="8" name="Text 5"/>
          <p:cNvSpPr txBox="1"/>
          <p:nvPr/>
        </p:nvSpPr>
        <p:spPr>
          <a:xfrm>
            <a:off x="822960" y="3520440"/>
            <a:ext cx="4846320" cy="21031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F2933"/>
                </a:solidFill>
              </a:rPr>
              <a:t>정확히 하나의 클래스가 정답이라고 가정</a:t>
            </a:r>
            <a:endParaRPr lang="en-US" sz="1600" dirty="0"/>
          </a:p>
          <a:p>
            <a:pPr marL="228600" indent="-228600">
              <a:spcAft>
                <a:spcPts val="800"/>
              </a:spcAft>
              <a:buSzPct val="100000"/>
              <a:buChar char="•"/>
            </a:pPr>
            <a:r>
              <a:rPr lang="en-US" sz="1600" dirty="0">
                <a:solidFill>
                  <a:srgbClr val="1F2933"/>
                </a:solidFill>
              </a:rPr>
              <a:t>다중 클래스 분류의 표준 (교차 엔트로피와 결합)</a:t>
            </a:r>
            <a:endParaRPr lang="en-US" sz="1600" dirty="0"/>
          </a:p>
          <a:p>
            <a:pPr marL="228600" indent="-228600">
              <a:spcAft>
                <a:spcPts val="800"/>
              </a:spcAft>
              <a:buSzPct val="100000"/>
              <a:buChar char="•"/>
            </a:pPr>
            <a:r>
              <a:rPr lang="en-US" sz="1600" dirty="0">
                <a:solidFill>
                  <a:srgbClr val="1F2933"/>
                </a:solidFill>
              </a:rPr>
              <a:t>출력 사이의 관계가 구조적으로 고정됨</a:t>
            </a:r>
            <a:endParaRPr lang="en-US" sz="1600" dirty="0"/>
          </a:p>
        </p:txBody>
      </p:sp>
      <p:sp>
        <p:nvSpPr>
          <p:cNvPr id="9" name="card"/>
          <p:cNvSpPr/>
          <p:nvPr/>
        </p:nvSpPr>
        <p:spPr>
          <a:xfrm>
            <a:off x="6217920" y="1371600"/>
            <a:ext cx="5394960" cy="4526280"/>
          </a:xfrm>
          <a:prstGeom prst="roundRect">
            <a:avLst>
              <a:gd name="adj" fmla="val 2424"/>
            </a:avLst>
          </a:prstGeom>
          <a:solidFill>
            <a:srgbClr val="FDEEE6"/>
          </a:solidFill>
          <a:ln w="12700">
            <a:solidFill>
              <a:srgbClr val="FDEEE6"/>
            </a:solidFill>
            <a:prstDash val="solid"/>
          </a:ln>
        </p:spPr>
      </p:sp>
      <p:sp>
        <p:nvSpPr>
          <p:cNvPr id="10" name="tag"/>
          <p:cNvSpPr/>
          <p:nvPr/>
        </p:nvSpPr>
        <p:spPr>
          <a:xfrm>
            <a:off x="6446520" y="1600200"/>
            <a:ext cx="384048" cy="384048"/>
          </a:xfrm>
          <a:prstGeom prst="ellipse">
            <a:avLst/>
          </a:prstGeom>
          <a:solidFill>
            <a:srgbClr val="EB6834"/>
          </a:solidFill>
          <a:ln w="12700">
            <a:solidFill>
              <a:srgbClr val="EB6834"/>
            </a:solidFill>
            <a:prstDash val="solid"/>
          </a:ln>
        </p:spPr>
      </p:sp>
      <p:sp>
        <p:nvSpPr>
          <p:cNvPr id="11" name="Text 8"/>
          <p:cNvSpPr txBox="1"/>
          <p:nvPr/>
        </p:nvSpPr>
        <p:spPr>
          <a:xfrm>
            <a:off x="644652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9"/>
          <p:cNvSpPr txBox="1"/>
          <p:nvPr/>
        </p:nvSpPr>
        <p:spPr>
          <a:xfrm>
            <a:off x="6949440" y="1572768"/>
            <a:ext cx="4480560" cy="438912"/>
          </a:xfrm>
          <a:prstGeom prst="rect">
            <a:avLst/>
          </a:prstGeom>
          <a:noFill/>
          <a:ln/>
        </p:spPr>
        <p:txBody>
          <a:bodyPr wrap="square" lIns="0" tIns="0" rIns="0" bIns="0" rtlCol="0" anchor="ctr"/>
          <a:lstStyle/>
          <a:p>
            <a:pPr indent="0" marL="0">
              <a:buNone/>
            </a:pPr>
            <a:r>
              <a:rPr lang="en-US" sz="1800" b="1" dirty="0">
                <a:solidFill>
                  <a:srgbClr val="1F2933"/>
                </a:solidFill>
              </a:rPr>
              <a:t>시그모이드 — 독립적인 n개의 베르누이</a:t>
            </a:r>
            <a:endParaRPr lang="en-US" sz="1800" dirty="0"/>
          </a:p>
        </p:txBody>
      </p:sp>
      <p:pic>
        <p:nvPicPr>
          <p:cNvPr id="13" name="equation" descr="p_i = \sigma(z_i) = \dfrac{1}{1+e^{-z_i}},\qquad X_i \sim \mathrm{Bernoulli}(p_i)">    </p:cNvPr>
          <p:cNvPicPr>
            <a:picLocks noChangeAspect="1"/>
          </p:cNvPicPr>
          <p:nvPr/>
        </p:nvPicPr>
        <p:blipFill>
          <a:blip r:embed="rId2"/>
          <a:stretch>
            <a:fillRect/>
          </a:stretch>
        </p:blipFill>
        <p:spPr>
          <a:xfrm>
            <a:off x="6492240" y="2240280"/>
            <a:ext cx="4846320" cy="511549"/>
          </a:xfrm>
          <a:prstGeom prst="rect">
            <a:avLst/>
          </a:prstGeom>
        </p:spPr>
      </p:pic>
      <p:sp>
        <p:nvSpPr>
          <p:cNvPr id="14" name="Text 10"/>
          <p:cNvSpPr txBox="1"/>
          <p:nvPr/>
        </p:nvSpPr>
        <p:spPr>
          <a:xfrm>
            <a:off x="6492240" y="3520440"/>
            <a:ext cx="4846320" cy="219456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F2933"/>
                </a:solidFill>
              </a:rPr>
              <a:t>각 출력 = '명제 X_i가 참'일 확률</a:t>
            </a:r>
            <a:endParaRPr lang="en-US" sz="1600" dirty="0"/>
          </a:p>
          <a:p>
            <a:pPr marL="228600" indent="-228600">
              <a:spcAft>
                <a:spcPts val="800"/>
              </a:spcAft>
              <a:buSzPct val="100000"/>
              <a:buChar char="•"/>
            </a:pPr>
            <a:r>
              <a:rPr lang="en-US" sz="1600" dirty="0">
                <a:solidFill>
                  <a:srgbClr val="1F2933"/>
                </a:solidFill>
              </a:rPr>
              <a:t>합이 1일 필요 없음 → 동시에 여러 개가 참일 수도</a:t>
            </a:r>
            <a:endParaRPr lang="en-US" sz="1600" dirty="0"/>
          </a:p>
          <a:p>
            <a:pPr marL="228600" indent="-228600">
              <a:spcAft>
                <a:spcPts val="800"/>
              </a:spcAft>
              <a:buSzPct val="100000"/>
              <a:buChar char="•"/>
            </a:pPr>
            <a:r>
              <a:rPr lang="en-US" sz="1600" dirty="0">
                <a:solidFill>
                  <a:srgbClr val="1F2933"/>
                </a:solidFill>
              </a:rPr>
              <a:t>의미 손실은 이 해석을 사용</a:t>
            </a:r>
            <a:endParaRPr lang="en-US" sz="1600" dirty="0"/>
          </a:p>
          <a:p>
            <a:pPr lvl="1" marL="457200" indent="-228600">
              <a:spcAft>
                <a:spcPts val="800"/>
              </a:spcAft>
              <a:buSzPct val="100000"/>
              <a:buChar char="•"/>
            </a:pPr>
            <a:r>
              <a:rPr lang="en-US" sz="1400" dirty="0">
                <a:solidFill>
                  <a:srgbClr val="52606D"/>
                </a:solidFill>
              </a:rPr>
              <a:t>z → log p = −softplus(−z),  log(1−p) = −softplus(z)</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교차 엔트로피: 정답 방향을 알려주는 손실</a:t>
            </a:r>
            <a:endParaRPr lang="en-US" sz="3000" dirty="0"/>
          </a:p>
        </p:txBody>
      </p:sp>
      <p:pic>
        <p:nvPicPr>
          <p:cNvPr id="3" name="equation" descr="\mathcal{L}_{\mathrm{CE}}(z, y) = -\log \mathrm{softmax}(z)_y = -z_y + \log \sum_{j} e^{z_j}">    </p:cNvPr>
          <p:cNvPicPr>
            <a:picLocks noChangeAspect="1"/>
          </p:cNvPicPr>
          <p:nvPr/>
        </p:nvPicPr>
        <p:blipFill>
          <a:blip r:embed="rId1"/>
          <a:stretch>
            <a:fillRect/>
          </a:stretch>
        </p:blipFill>
        <p:spPr>
          <a:xfrm>
            <a:off x="548640" y="1463040"/>
            <a:ext cx="7004939" cy="752364"/>
          </a:xfrm>
          <a:prstGeom prst="rect">
            <a:avLst/>
          </a:prstGeom>
        </p:spPr>
      </p:pic>
      <p:pic>
        <p:nvPicPr>
          <p:cNvPr id="4" name="equation" descr="\frac{\partial \mathcal{L}_{\mathrm{CE}}}{\partial z_j} = p_j - \mathbb{1}[j = y]">    </p:cNvPr>
          <p:cNvPicPr>
            <a:picLocks noChangeAspect="1"/>
          </p:cNvPicPr>
          <p:nvPr/>
        </p:nvPicPr>
        <p:blipFill>
          <a:blip r:embed="rId2"/>
          <a:stretch>
            <a:fillRect/>
          </a:stretch>
        </p:blipFill>
        <p:spPr>
          <a:xfrm>
            <a:off x="548640" y="2514600"/>
            <a:ext cx="3168540" cy="783013"/>
          </a:xfrm>
          <a:prstGeom prst="rect">
            <a:avLst/>
          </a:prstGeom>
        </p:spPr>
      </p:pic>
      <p:sp>
        <p:nvSpPr>
          <p:cNvPr id="5" name="card"/>
          <p:cNvSpPr/>
          <p:nvPr/>
        </p:nvSpPr>
        <p:spPr>
          <a:xfrm>
            <a:off x="548640" y="3657600"/>
            <a:ext cx="5394960" cy="2240280"/>
          </a:xfrm>
          <a:prstGeom prst="roundRect">
            <a:avLst>
              <a:gd name="adj" fmla="val 4898"/>
            </a:avLst>
          </a:prstGeom>
          <a:solidFill>
            <a:srgbClr val="E6F0FB"/>
          </a:solidFill>
          <a:ln w="12700">
            <a:solidFill>
              <a:srgbClr val="E6F0FB"/>
            </a:solidFill>
            <a:prstDash val="solid"/>
          </a:ln>
        </p:spPr>
      </p:sp>
      <p:sp>
        <p:nvSpPr>
          <p:cNvPr id="6" name="tag"/>
          <p:cNvSpPr/>
          <p:nvPr/>
        </p:nvSpPr>
        <p:spPr>
          <a:xfrm>
            <a:off x="777240" y="3886200"/>
            <a:ext cx="384048" cy="384048"/>
          </a:xfrm>
          <a:prstGeom prst="ellipse">
            <a:avLst/>
          </a:prstGeom>
          <a:solidFill>
            <a:srgbClr val="2A78D6"/>
          </a:solidFill>
          <a:ln w="12700">
            <a:solidFill>
              <a:srgbClr val="2A78D6"/>
            </a:solidFill>
            <a:prstDash val="solid"/>
          </a:ln>
        </p:spPr>
      </p:sp>
      <p:sp>
        <p:nvSpPr>
          <p:cNvPr id="7" name="Text 3"/>
          <p:cNvSpPr txBox="1"/>
          <p:nvPr/>
        </p:nvSpPr>
        <p:spPr>
          <a:xfrm>
            <a:off x="77724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N</a:t>
            </a:r>
            <a:endParaRPr lang="en-US" sz="1300" dirty="0"/>
          </a:p>
        </p:txBody>
      </p:sp>
      <p:sp>
        <p:nvSpPr>
          <p:cNvPr id="8" name="Text 4"/>
          <p:cNvSpPr txBox="1"/>
          <p:nvPr/>
        </p:nvSpPr>
        <p:spPr>
          <a:xfrm>
            <a:off x="1280160" y="3858768"/>
            <a:ext cx="4480560" cy="438912"/>
          </a:xfrm>
          <a:prstGeom prst="rect">
            <a:avLst/>
          </a:prstGeom>
          <a:noFill/>
          <a:ln/>
        </p:spPr>
        <p:txBody>
          <a:bodyPr wrap="square" lIns="0" tIns="0" rIns="0" bIns="0" rtlCol="0" anchor="ctr"/>
          <a:lstStyle/>
          <a:p>
            <a:pPr indent="0" marL="0">
              <a:buNone/>
            </a:pPr>
            <a:r>
              <a:rPr lang="en-US" sz="1800" b="1" dirty="0">
                <a:solidFill>
                  <a:srgbClr val="1F2933"/>
                </a:solidFill>
              </a:rPr>
              <a:t>필요한 것: 정답 라벨 y</a:t>
            </a:r>
            <a:endParaRPr lang="en-US" sz="1800" dirty="0"/>
          </a:p>
        </p:txBody>
      </p:sp>
      <p:sp>
        <p:nvSpPr>
          <p:cNvPr id="9" name="Text 5"/>
          <p:cNvSpPr txBox="1"/>
          <p:nvPr/>
        </p:nvSpPr>
        <p:spPr>
          <a:xfrm>
            <a:off x="777240" y="4389120"/>
            <a:ext cx="4937760" cy="1371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라벨이 있는 데이터에만 적용 가능</a:t>
            </a:r>
            <a:endParaRPr lang="en-US" sz="1500" dirty="0"/>
          </a:p>
          <a:p>
            <a:pPr marL="228600" indent="-228600">
              <a:spcAft>
                <a:spcPts val="800"/>
              </a:spcAft>
              <a:buSzPct val="100000"/>
              <a:buChar char="•"/>
            </a:pPr>
            <a:r>
              <a:rPr lang="en-US" sz="1500" dirty="0">
                <a:solidFill>
                  <a:srgbClr val="1F2933"/>
                </a:solidFill>
              </a:rPr>
              <a:t>정답 클래스의 확률을 1로, 나머지를 0으로 민다</a:t>
            </a:r>
            <a:endParaRPr lang="en-US" sz="1500" dirty="0"/>
          </a:p>
        </p:txBody>
      </p:sp>
      <p:sp>
        <p:nvSpPr>
          <p:cNvPr id="10" name="card"/>
          <p:cNvSpPr/>
          <p:nvPr/>
        </p:nvSpPr>
        <p:spPr>
          <a:xfrm>
            <a:off x="6217920" y="3657600"/>
            <a:ext cx="5394960" cy="2240280"/>
          </a:xfrm>
          <a:prstGeom prst="roundRect">
            <a:avLst>
              <a:gd name="adj" fmla="val 4898"/>
            </a:avLst>
          </a:prstGeom>
          <a:solidFill>
            <a:srgbClr val="FDEEE6"/>
          </a:solidFill>
          <a:ln w="12700">
            <a:solidFill>
              <a:srgbClr val="FDEEE6"/>
            </a:solidFill>
            <a:prstDash val="solid"/>
          </a:ln>
        </p:spPr>
      </p:sp>
      <p:sp>
        <p:nvSpPr>
          <p:cNvPr id="11" name="tag"/>
          <p:cNvSpPr/>
          <p:nvPr/>
        </p:nvSpPr>
        <p:spPr>
          <a:xfrm>
            <a:off x="6446520" y="3886200"/>
            <a:ext cx="384048" cy="384048"/>
          </a:xfrm>
          <a:prstGeom prst="ellipse">
            <a:avLst/>
          </a:prstGeom>
          <a:solidFill>
            <a:srgbClr val="EB6834"/>
          </a:solidFill>
          <a:ln w="12700">
            <a:solidFill>
              <a:srgbClr val="EB6834"/>
            </a:solidFill>
            <a:prstDash val="solid"/>
          </a:ln>
        </p:spPr>
      </p:sp>
      <p:sp>
        <p:nvSpPr>
          <p:cNvPr id="12" name="Text 8"/>
          <p:cNvSpPr txBox="1"/>
          <p:nvPr/>
        </p:nvSpPr>
        <p:spPr>
          <a:xfrm>
            <a:off x="644652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S</a:t>
            </a:r>
            <a:endParaRPr lang="en-US" sz="1300" dirty="0"/>
          </a:p>
        </p:txBody>
      </p:sp>
      <p:sp>
        <p:nvSpPr>
          <p:cNvPr id="13" name="Text 9"/>
          <p:cNvSpPr txBox="1"/>
          <p:nvPr/>
        </p:nvSpPr>
        <p:spPr>
          <a:xfrm>
            <a:off x="6949440" y="3858768"/>
            <a:ext cx="4480560" cy="438912"/>
          </a:xfrm>
          <a:prstGeom prst="rect">
            <a:avLst/>
          </a:prstGeom>
          <a:noFill/>
          <a:ln/>
        </p:spPr>
        <p:txBody>
          <a:bodyPr wrap="square" lIns="0" tIns="0" rIns="0" bIns="0" rtlCol="0" anchor="ctr"/>
          <a:lstStyle/>
          <a:p>
            <a:pPr indent="0" marL="0">
              <a:buNone/>
            </a:pPr>
            <a:r>
              <a:rPr lang="en-US" sz="1800" b="1" dirty="0">
                <a:solidFill>
                  <a:srgbClr val="1F2933"/>
                </a:solidFill>
              </a:rPr>
              <a:t>의미 손실과의 차이</a:t>
            </a:r>
            <a:endParaRPr lang="en-US" sz="1800" dirty="0"/>
          </a:p>
        </p:txBody>
      </p:sp>
      <p:sp>
        <p:nvSpPr>
          <p:cNvPr id="14" name="Text 10"/>
          <p:cNvSpPr txBox="1"/>
          <p:nvPr/>
        </p:nvSpPr>
        <p:spPr>
          <a:xfrm>
            <a:off x="6446520" y="4389120"/>
            <a:ext cx="4937760" cy="137160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의미 손실은 y가 필요 없다 — 규칙 α만 있으면 된다</a:t>
            </a:r>
            <a:endParaRPr lang="en-US" sz="1500" dirty="0"/>
          </a:p>
          <a:p>
            <a:pPr marL="228600" indent="-228600">
              <a:spcAft>
                <a:spcPts val="800"/>
              </a:spcAft>
              <a:buSzPct val="100000"/>
              <a:buChar char="•"/>
            </a:pPr>
            <a:r>
              <a:rPr lang="en-US" sz="1500" dirty="0">
                <a:solidFill>
                  <a:srgbClr val="1F2933"/>
                </a:solidFill>
              </a:rPr>
              <a:t>"무엇이 정답인지"가 아니라 "어떤 조합이 가능한지"를 가르친다</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명제논리 기초: 함의(→)의 진리표</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6766560" cy="914400"/>
        </p:xfrm>
        <a:graphic>
          <a:graphicData uri="http://schemas.openxmlformats.org/drawingml/2006/table">
            <a:tbl>
              <a:tblPr/>
              <a:tblGrid>
                <a:gridCol w="731520"/>
                <a:gridCol w="731520"/>
                <a:gridCol w="1097280"/>
                <a:gridCol w="4206240"/>
              </a:tblGrid>
              <a:tr h="502920">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P</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Q</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P → Q</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읽는 법</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r>
              <a:tr h="502920">
                <a:tc>
                  <a:txBody>
                    <a:bodyPr/>
                    <a:lstStyle/>
                    <a:p>
                      <a:pPr algn="ctr" indent="0" marL="0">
                        <a:buNone/>
                      </a:pPr>
                      <a:r>
                        <a:rPr lang="en-US" sz="1500" dirty="0">
                          <a:solidFill>
                            <a:srgbClr val="1F2933"/>
                          </a:solidFill>
                          <a:latin typeface="Malgun Gothic" pitchFamily="34" charset="0"/>
                          <a:ea typeface="Malgun Gothic" pitchFamily="34" charset="-122"/>
                          <a:cs typeface="Malgun Gothic" pitchFamily="34" charset="-120"/>
                        </a:rPr>
                        <a:t>1</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3"/>
                          </a:solidFill>
                          <a:latin typeface="Malgun Gothic" pitchFamily="34" charset="0"/>
                          <a:ea typeface="Malgun Gothic" pitchFamily="34" charset="-122"/>
                          <a:cs typeface="Malgun Gothic" pitchFamily="34" charset="-120"/>
                        </a:rPr>
                        <a:t>1</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3"/>
                          </a:solidFill>
                          <a:latin typeface="Malgun Gothic" pitchFamily="34" charset="0"/>
                          <a:ea typeface="Malgun Gothic" pitchFamily="34" charset="-122"/>
                          <a:cs typeface="Malgun Gothic" pitchFamily="34" charset="-120"/>
                        </a:rPr>
                        <a:t>1</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3F4EC"/>
                    </a:solidFill>
                  </a:tcPr>
                </a:tc>
                <a:tc>
                  <a:txBody>
                    <a:bodyPr/>
                    <a:lstStyle/>
                    <a:p>
                      <a:pPr algn="ctr" indent="0" marL="0">
                        <a:buNone/>
                      </a:pPr>
                      <a:r>
                        <a:rPr lang="en-US" sz="1500" dirty="0">
                          <a:solidFill>
                            <a:srgbClr val="1F2933"/>
                          </a:solidFill>
                          <a:latin typeface="Malgun Gothic" pitchFamily="34" charset="0"/>
                          <a:ea typeface="Malgun Gothic" pitchFamily="34" charset="-122"/>
                          <a:cs typeface="Malgun Gothic" pitchFamily="34" charset="-120"/>
                        </a:rPr>
                        <a:t>펭귄이고 새다 — 규칙 만족</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F2933"/>
                          </a:solidFill>
                          <a:latin typeface="Malgun Gothic" pitchFamily="34" charset="0"/>
                          <a:ea typeface="Malgun Gothic" pitchFamily="34" charset="-122"/>
                          <a:cs typeface="Malgun Gothic" pitchFamily="34" charset="-120"/>
                        </a:rPr>
                        <a:t>1</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500" dirty="0">
                          <a:solidFill>
                            <a:srgbClr val="1F2933"/>
                          </a:solidFill>
                          <a:latin typeface="Malgun Gothic" pitchFamily="34" charset="0"/>
                          <a:ea typeface="Malgun Gothic" pitchFamily="34" charset="-122"/>
                          <a:cs typeface="Malgun Gothic" pitchFamily="34" charset="-120"/>
                        </a:rPr>
                        <a:t>0</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500" b="1" dirty="0">
                          <a:solidFill>
                            <a:srgbClr val="1F2933"/>
                          </a:solidFill>
                          <a:latin typeface="Malgun Gothic" pitchFamily="34" charset="0"/>
                          <a:ea typeface="Malgun Gothic" pitchFamily="34" charset="-122"/>
                          <a:cs typeface="Malgun Gothic" pitchFamily="34" charset="-120"/>
                        </a:rPr>
                        <a:t>0</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CE6DC"/>
                    </a:solidFill>
                  </a:tcPr>
                </a:tc>
                <a:tc>
                  <a:txBody>
                    <a:bodyPr/>
                    <a:lstStyle/>
                    <a:p>
                      <a:pPr algn="ctr" indent="0" marL="0">
                        <a:buNone/>
                      </a:pPr>
                      <a:r>
                        <a:rPr lang="en-US" sz="1500" dirty="0">
                          <a:solidFill>
                            <a:srgbClr val="1F2933"/>
                          </a:solidFill>
                          <a:latin typeface="Malgun Gothic" pitchFamily="34" charset="0"/>
                          <a:ea typeface="Malgun Gothic" pitchFamily="34" charset="-122"/>
                          <a:cs typeface="Malgun Gothic" pitchFamily="34" charset="-120"/>
                        </a:rPr>
                        <a:t>펭귄인데 새가 아니다 — 유일한 위반</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r>
              <a:tr h="502920">
                <a:tc>
                  <a:txBody>
                    <a:bodyPr/>
                    <a:lstStyle/>
                    <a:p>
                      <a:pPr algn="ctr" indent="0" marL="0">
                        <a:buNone/>
                      </a:pPr>
                      <a:r>
                        <a:rPr lang="en-US" sz="1500" dirty="0">
                          <a:solidFill>
                            <a:srgbClr val="1F2933"/>
                          </a:solidFill>
                          <a:latin typeface="Malgun Gothic" pitchFamily="34" charset="0"/>
                          <a:ea typeface="Malgun Gothic" pitchFamily="34" charset="-122"/>
                          <a:cs typeface="Malgun Gothic" pitchFamily="34" charset="-120"/>
                        </a:rPr>
                        <a:t>0</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3"/>
                          </a:solidFill>
                          <a:latin typeface="Malgun Gothic" pitchFamily="34" charset="0"/>
                          <a:ea typeface="Malgun Gothic" pitchFamily="34" charset="-122"/>
                          <a:cs typeface="Malgun Gothic" pitchFamily="34" charset="-120"/>
                        </a:rPr>
                        <a:t>1</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3"/>
                          </a:solidFill>
                          <a:latin typeface="Malgun Gothic" pitchFamily="34" charset="0"/>
                          <a:ea typeface="Malgun Gothic" pitchFamily="34" charset="-122"/>
                          <a:cs typeface="Malgun Gothic" pitchFamily="34" charset="-120"/>
                        </a:rPr>
                        <a:t>1</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3F4EC"/>
                    </a:solidFill>
                  </a:tcPr>
                </a:tc>
                <a:tc>
                  <a:txBody>
                    <a:bodyPr/>
                    <a:lstStyle/>
                    <a:p>
                      <a:pPr algn="ctr" indent="0" marL="0">
                        <a:buNone/>
                      </a:pPr>
                      <a:r>
                        <a:rPr lang="en-US" sz="1500" dirty="0">
                          <a:solidFill>
                            <a:srgbClr val="1F2933"/>
                          </a:solidFill>
                          <a:latin typeface="Malgun Gothic" pitchFamily="34" charset="0"/>
                          <a:ea typeface="Malgun Gothic" pitchFamily="34" charset="-122"/>
                          <a:cs typeface="Malgun Gothic" pitchFamily="34" charset="-120"/>
                        </a:rPr>
                        <a:t>펭귄이 아니다 — 규칙과 무관 (공허한 참)</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502920">
                <a:tc>
                  <a:txBody>
                    <a:bodyPr/>
                    <a:lstStyle/>
                    <a:p>
                      <a:pPr algn="ctr" indent="0" marL="0">
                        <a:buNone/>
                      </a:pPr>
                      <a:r>
                        <a:rPr lang="en-US" sz="1500" dirty="0">
                          <a:solidFill>
                            <a:srgbClr val="1F2933"/>
                          </a:solidFill>
                          <a:latin typeface="Malgun Gothic" pitchFamily="34" charset="0"/>
                          <a:ea typeface="Malgun Gothic" pitchFamily="34" charset="-122"/>
                          <a:cs typeface="Malgun Gothic" pitchFamily="34" charset="-120"/>
                        </a:rPr>
                        <a:t>0</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500" dirty="0">
                          <a:solidFill>
                            <a:srgbClr val="1F2933"/>
                          </a:solidFill>
                          <a:latin typeface="Malgun Gothic" pitchFamily="34" charset="0"/>
                          <a:ea typeface="Malgun Gothic" pitchFamily="34" charset="-122"/>
                          <a:cs typeface="Malgun Gothic" pitchFamily="34" charset="-120"/>
                        </a:rPr>
                        <a:t>0</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500" dirty="0">
                          <a:solidFill>
                            <a:srgbClr val="1F2933"/>
                          </a:solidFill>
                          <a:latin typeface="Malgun Gothic" pitchFamily="34" charset="0"/>
                          <a:ea typeface="Malgun Gothic" pitchFamily="34" charset="-122"/>
                          <a:cs typeface="Malgun Gothic" pitchFamily="34" charset="-120"/>
                        </a:rPr>
                        <a:t>1</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3F4EC"/>
                    </a:solidFill>
                  </a:tcPr>
                </a:tc>
                <a:tc>
                  <a:txBody>
                    <a:bodyPr/>
                    <a:lstStyle/>
                    <a:p>
                      <a:pPr algn="ctr" indent="0" marL="0">
                        <a:buNone/>
                      </a:pPr>
                      <a:r>
                        <a:rPr lang="en-US" sz="1500" dirty="0">
                          <a:solidFill>
                            <a:srgbClr val="1F2933"/>
                          </a:solidFill>
                          <a:latin typeface="Malgun Gothic" pitchFamily="34" charset="0"/>
                          <a:ea typeface="Malgun Gothic" pitchFamily="34" charset="-122"/>
                          <a:cs typeface="Malgun Gothic" pitchFamily="34" charset="-120"/>
                        </a:rPr>
                        <a:t>펭귄이 아니다 — 규칙과 무관 (공허한 참)</a:t>
                      </a:r>
                      <a:endParaRPr lang="en-US" sz="15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r>
            </a:tbl>
          </a:graphicData>
        </a:graphic>
      </p:graphicFrame>
      <p:sp>
        <p:nvSpPr>
          <p:cNvPr id="4" name="card"/>
          <p:cNvSpPr/>
          <p:nvPr/>
        </p:nvSpPr>
        <p:spPr>
          <a:xfrm>
            <a:off x="7680960" y="1417320"/>
            <a:ext cx="3959352" cy="4480560"/>
          </a:xfrm>
          <a:prstGeom prst="roundRect">
            <a:avLst>
              <a:gd name="adj" fmla="val 2771"/>
            </a:avLst>
          </a:prstGeom>
          <a:solidFill>
            <a:srgbClr val="FDEEE6"/>
          </a:solidFill>
          <a:ln w="12700">
            <a:solidFill>
              <a:srgbClr val="FDEEE6"/>
            </a:solidFill>
            <a:prstDash val="solid"/>
          </a:ln>
        </p:spPr>
      </p:sp>
      <p:sp>
        <p:nvSpPr>
          <p:cNvPr id="5" name="tag"/>
          <p:cNvSpPr/>
          <p:nvPr/>
        </p:nvSpPr>
        <p:spPr>
          <a:xfrm>
            <a:off x="7909560" y="1645920"/>
            <a:ext cx="384048" cy="384048"/>
          </a:xfrm>
          <a:prstGeom prst="ellipse">
            <a:avLst/>
          </a:prstGeom>
          <a:solidFill>
            <a:srgbClr val="EB6834"/>
          </a:solidFill>
          <a:ln w="12700">
            <a:solidFill>
              <a:srgbClr val="EB6834"/>
            </a:solidFill>
            <a:prstDash val="solid"/>
          </a:ln>
        </p:spPr>
      </p:sp>
      <p:sp>
        <p:nvSpPr>
          <p:cNvPr id="6" name="Text 3"/>
          <p:cNvSpPr txBox="1"/>
          <p:nvPr/>
        </p:nvSpPr>
        <p:spPr>
          <a:xfrm>
            <a:off x="790956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S</a:t>
            </a:r>
            <a:endParaRPr lang="en-US" sz="1300" dirty="0"/>
          </a:p>
        </p:txBody>
      </p:sp>
      <p:sp>
        <p:nvSpPr>
          <p:cNvPr id="7" name="Text 4"/>
          <p:cNvSpPr txBox="1"/>
          <p:nvPr/>
        </p:nvSpPr>
        <p:spPr>
          <a:xfrm>
            <a:off x="8412480" y="1618488"/>
            <a:ext cx="3044952" cy="438912"/>
          </a:xfrm>
          <a:prstGeom prst="rect">
            <a:avLst/>
          </a:prstGeom>
          <a:noFill/>
          <a:ln/>
        </p:spPr>
        <p:txBody>
          <a:bodyPr wrap="square" lIns="0" tIns="0" rIns="0" bIns="0" rtlCol="0" anchor="ctr"/>
          <a:lstStyle/>
          <a:p>
            <a:pPr indent="0" marL="0">
              <a:buNone/>
            </a:pPr>
            <a:r>
              <a:rPr lang="en-US" sz="1800" b="1" dirty="0">
                <a:solidFill>
                  <a:srgbClr val="1F2933"/>
                </a:solidFill>
              </a:rPr>
              <a:t>기호 정리</a:t>
            </a:r>
            <a:endParaRPr lang="en-US" sz="1800" dirty="0"/>
          </a:p>
        </p:txBody>
      </p:sp>
      <p:sp>
        <p:nvSpPr>
          <p:cNvPr id="8" name="Text 5"/>
          <p:cNvSpPr txBox="1"/>
          <p:nvPr/>
        </p:nvSpPr>
        <p:spPr>
          <a:xfrm>
            <a:off x="7909560" y="2148840"/>
            <a:ext cx="3502152" cy="36118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 부정 (not)</a:t>
            </a:r>
            <a:endParaRPr lang="en-US" sz="1500" dirty="0"/>
          </a:p>
          <a:p>
            <a:pPr marL="228600" indent="-228600">
              <a:spcAft>
                <a:spcPts val="800"/>
              </a:spcAft>
              <a:buSzPct val="100000"/>
              <a:buChar char="•"/>
            </a:pPr>
            <a:r>
              <a:rPr lang="en-US" sz="1500" dirty="0">
                <a:solidFill>
                  <a:srgbClr val="1F2933"/>
                </a:solidFill>
              </a:rPr>
              <a:t>∧ 논리곱 (and)</a:t>
            </a:r>
            <a:endParaRPr lang="en-US" sz="1500" dirty="0"/>
          </a:p>
          <a:p>
            <a:pPr marL="228600" indent="-228600">
              <a:spcAft>
                <a:spcPts val="800"/>
              </a:spcAft>
              <a:buSzPct val="100000"/>
              <a:buChar char="•"/>
            </a:pPr>
            <a:r>
              <a:rPr lang="en-US" sz="1500" dirty="0">
                <a:solidFill>
                  <a:srgbClr val="1F2933"/>
                </a:solidFill>
              </a:rPr>
              <a:t>∨ 논리합 (or)</a:t>
            </a:r>
            <a:endParaRPr lang="en-US" sz="1500" dirty="0"/>
          </a:p>
          <a:p>
            <a:pPr marL="228600" indent="-228600">
              <a:spcAft>
                <a:spcPts val="800"/>
              </a:spcAft>
              <a:buSzPct val="100000"/>
              <a:buChar char="•"/>
            </a:pPr>
            <a:r>
              <a:rPr lang="en-US" sz="1500" dirty="0">
                <a:solidFill>
                  <a:srgbClr val="1F2933"/>
                </a:solidFill>
              </a:rPr>
              <a:t>→ 함의 (if-then)</a:t>
            </a:r>
            <a:endParaRPr lang="en-US" sz="1500" dirty="0"/>
          </a:p>
          <a:p>
            <a:pPr marL="228600" indent="-228600">
              <a:spcAft>
                <a:spcPts val="800"/>
              </a:spcAft>
              <a:buSzPct val="100000"/>
              <a:buChar char="•"/>
            </a:pPr>
            <a:r>
              <a:rPr lang="en-US" sz="1500" dirty="0">
                <a:solidFill>
                  <a:srgbClr val="1F2933"/>
                </a:solidFill>
              </a:rPr>
              <a:t>P → Q ≡ ¬P ∨ Q</a:t>
            </a:r>
            <a:endParaRPr lang="en-US" sz="1500" dirty="0"/>
          </a:p>
          <a:p>
            <a:pPr marL="228600" indent="-228600">
              <a:spcAft>
                <a:spcPts val="800"/>
              </a:spcAft>
              <a:buSzPct val="100000"/>
              <a:buChar char="•"/>
            </a:pPr>
            <a:r>
              <a:rPr lang="en-US" sz="1500" dirty="0">
                <a:solidFill>
                  <a:srgbClr val="1F2933"/>
                </a:solidFill>
              </a:rPr>
              <a:t>리터럴: 변수 또는 그 부정</a:t>
            </a:r>
            <a:endParaRPr lang="en-US" sz="1500" dirty="0"/>
          </a:p>
          <a:p>
            <a:pPr marL="228600" indent="-228600">
              <a:spcAft>
                <a:spcPts val="800"/>
              </a:spcAft>
              <a:buSzPct val="100000"/>
              <a:buChar char="•"/>
            </a:pPr>
            <a:r>
              <a:rPr lang="en-US" sz="1500" dirty="0">
                <a:solidFill>
                  <a:srgbClr val="1F2933"/>
                </a:solidFill>
              </a:rPr>
              <a:t>절(clause): 리터럴의 논리합</a:t>
            </a:r>
            <a:endParaRPr lang="en-US" sz="1500" dirty="0"/>
          </a:p>
        </p:txBody>
      </p:sp>
      <p:sp>
        <p:nvSpPr>
          <p:cNvPr id="9" name="Text 6"/>
          <p:cNvSpPr txBox="1"/>
          <p:nvPr/>
        </p:nvSpPr>
        <p:spPr>
          <a:xfrm>
            <a:off x="548640" y="4160520"/>
            <a:ext cx="6766560" cy="731520"/>
          </a:xfrm>
          <a:prstGeom prst="rect">
            <a:avLst/>
          </a:prstGeom>
          <a:noFill/>
          <a:ln/>
        </p:spPr>
        <p:txBody>
          <a:bodyPr wrap="square" lIns="0" tIns="0" rIns="0" bIns="0" rtlCol="0" anchor="t"/>
          <a:lstStyle/>
          <a:p>
            <a:pPr indent="0" marL="0">
              <a:spcAft>
                <a:spcPts val="600"/>
              </a:spcAft>
              <a:buNone/>
            </a:pPr>
            <a:r>
              <a:rPr lang="en-US" sz="1700" b="1" dirty="0">
                <a:solidFill>
                  <a:srgbClr val="EB6834"/>
                </a:solidFill>
              </a:rPr>
              <a:t>핵심: P → Q는 "P가 참이면서 Q가 거짓"인 경우 하나만 금지한다.</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CNF와 "세계(world)": 제약을 만족하는 할당의 집합</a:t>
            </a:r>
            <a:endParaRPr lang="en-US" sz="3000" dirty="0"/>
          </a:p>
        </p:txBody>
      </p:sp>
      <p:pic>
        <p:nvPicPr>
          <p:cNvPr id="3" name="equation" descr="\alpha = \underbrace{(X_1 \lor X_2 \lor X_3)}_{\text{at least one}} \land \underbrace{(\lnot X_1 \lor \lnot X_2) \land (\lnot X_1 \lor \lnot X_3) \land (\lnot X_2 \lor \lnot X_3)}_{\text{at most one}}">    </p:cNvPr>
          <p:cNvPicPr>
            <a:picLocks noChangeAspect="1"/>
          </p:cNvPicPr>
          <p:nvPr/>
        </p:nvPicPr>
        <p:blipFill>
          <a:blip r:embed="rId1"/>
          <a:stretch>
            <a:fillRect/>
          </a:stretch>
        </p:blipFill>
        <p:spPr>
          <a:xfrm>
            <a:off x="548640" y="1371600"/>
            <a:ext cx="8203266" cy="666501"/>
          </a:xfrm>
          <a:prstGeom prst="rect">
            <a:avLst/>
          </a:prstGeom>
        </p:spPr>
      </p:pic>
      <p:sp>
        <p:nvSpPr>
          <p:cNvPr id="4" name="box"/>
          <p:cNvSpPr/>
          <p:nvPr/>
        </p:nvSpPr>
        <p:spPr>
          <a:xfrm>
            <a:off x="548640" y="2880360"/>
            <a:ext cx="1188720" cy="731520"/>
          </a:xfrm>
          <a:prstGeom prst="roundRect">
            <a:avLst>
              <a:gd name="adj" fmla="val 10000"/>
            </a:avLst>
          </a:prstGeom>
          <a:solidFill>
            <a:srgbClr val="F1F4F8"/>
          </a:solidFill>
          <a:ln w="12700">
            <a:solidFill>
              <a:srgbClr val="D9DEE5"/>
            </a:solidFill>
            <a:prstDash val="solid"/>
          </a:ln>
        </p:spPr>
      </p:sp>
      <p:sp>
        <p:nvSpPr>
          <p:cNvPr id="5" name="Text 2"/>
          <p:cNvSpPr txBox="1"/>
          <p:nvPr/>
        </p:nvSpPr>
        <p:spPr>
          <a:xfrm>
            <a:off x="548640" y="2880360"/>
            <a:ext cx="1188720" cy="731520"/>
          </a:xfrm>
          <a:prstGeom prst="rect">
            <a:avLst/>
          </a:prstGeom>
          <a:noFill/>
          <a:ln/>
        </p:spPr>
        <p:txBody>
          <a:bodyPr wrap="square" lIns="25400" tIns="25400" rIns="25400" bIns="25400" rtlCol="0" anchor="ctr"/>
          <a:lstStyle/>
          <a:p>
            <a:pPr algn="ctr" indent="0" marL="0">
              <a:buNone/>
            </a:pPr>
            <a:r>
              <a:rPr lang="en-US" sz="1600" dirty="0">
                <a:solidFill>
                  <a:srgbClr val="1F2933"/>
                </a:solidFill>
              </a:rPr>
              <a:t>(0,0,0)</a:t>
            </a:r>
            <a:endParaRPr lang="en-US" sz="1600" dirty="0"/>
          </a:p>
        </p:txBody>
      </p:sp>
      <p:sp>
        <p:nvSpPr>
          <p:cNvPr id="6" name="Text 3"/>
          <p:cNvSpPr txBox="1"/>
          <p:nvPr/>
        </p:nvSpPr>
        <p:spPr>
          <a:xfrm>
            <a:off x="548640" y="3657600"/>
            <a:ext cx="1188720" cy="320040"/>
          </a:xfrm>
          <a:prstGeom prst="rect">
            <a:avLst/>
          </a:prstGeom>
          <a:noFill/>
          <a:ln/>
        </p:spPr>
        <p:txBody>
          <a:bodyPr wrap="square" lIns="0" tIns="0" rIns="0" bIns="0" rtlCol="0" anchor="ctr"/>
          <a:lstStyle/>
          <a:p>
            <a:pPr algn="ctr" indent="0" marL="0">
              <a:buNone/>
            </a:pPr>
            <a:r>
              <a:rPr lang="en-US" sz="1200" dirty="0">
                <a:solidFill>
                  <a:srgbClr val="7B8794"/>
                </a:solidFill>
              </a:rPr>
              <a:t>위반</a:t>
            </a:r>
            <a:endParaRPr lang="en-US" sz="1200" dirty="0"/>
          </a:p>
        </p:txBody>
      </p:sp>
      <p:sp>
        <p:nvSpPr>
          <p:cNvPr id="7" name="box"/>
          <p:cNvSpPr/>
          <p:nvPr/>
        </p:nvSpPr>
        <p:spPr>
          <a:xfrm>
            <a:off x="1920240" y="2880360"/>
            <a:ext cx="1188720" cy="731520"/>
          </a:xfrm>
          <a:prstGeom prst="roundRect">
            <a:avLst>
              <a:gd name="adj" fmla="val 10000"/>
            </a:avLst>
          </a:prstGeom>
          <a:solidFill>
            <a:srgbClr val="E3F4EC"/>
          </a:solidFill>
          <a:ln w="12700">
            <a:solidFill>
              <a:srgbClr val="1BAF7A"/>
            </a:solidFill>
            <a:prstDash val="solid"/>
          </a:ln>
        </p:spPr>
      </p:sp>
      <p:sp>
        <p:nvSpPr>
          <p:cNvPr id="8" name="Text 5"/>
          <p:cNvSpPr txBox="1"/>
          <p:nvPr/>
        </p:nvSpPr>
        <p:spPr>
          <a:xfrm>
            <a:off x="1920240" y="2880360"/>
            <a:ext cx="1188720" cy="731520"/>
          </a:xfrm>
          <a:prstGeom prst="rect">
            <a:avLst/>
          </a:prstGeom>
          <a:noFill/>
          <a:ln/>
        </p:spPr>
        <p:txBody>
          <a:bodyPr wrap="square" lIns="25400" tIns="25400" rIns="25400" bIns="25400" rtlCol="0" anchor="ctr"/>
          <a:lstStyle/>
          <a:p>
            <a:pPr algn="ctr" indent="0" marL="0">
              <a:buNone/>
            </a:pPr>
            <a:r>
              <a:rPr lang="en-US" sz="1600" b="1" dirty="0">
                <a:solidFill>
                  <a:srgbClr val="1F2933"/>
                </a:solidFill>
              </a:rPr>
              <a:t>(0,0,1)</a:t>
            </a:r>
            <a:endParaRPr lang="en-US" sz="1600" dirty="0"/>
          </a:p>
        </p:txBody>
      </p:sp>
      <p:sp>
        <p:nvSpPr>
          <p:cNvPr id="9" name="Text 6"/>
          <p:cNvSpPr txBox="1"/>
          <p:nvPr/>
        </p:nvSpPr>
        <p:spPr>
          <a:xfrm>
            <a:off x="1920240" y="3657600"/>
            <a:ext cx="1188720" cy="320040"/>
          </a:xfrm>
          <a:prstGeom prst="rect">
            <a:avLst/>
          </a:prstGeom>
          <a:noFill/>
          <a:ln/>
        </p:spPr>
        <p:txBody>
          <a:bodyPr wrap="square" lIns="0" tIns="0" rIns="0" bIns="0" rtlCol="0" anchor="ctr"/>
          <a:lstStyle/>
          <a:p>
            <a:pPr algn="ctr" indent="0" marL="0">
              <a:buNone/>
            </a:pPr>
            <a:r>
              <a:rPr lang="en-US" sz="1200" dirty="0">
                <a:solidFill>
                  <a:srgbClr val="1BAF7A"/>
                </a:solidFill>
              </a:rPr>
              <a:t>만족</a:t>
            </a:r>
            <a:endParaRPr lang="en-US" sz="1200" dirty="0"/>
          </a:p>
        </p:txBody>
      </p:sp>
      <p:sp>
        <p:nvSpPr>
          <p:cNvPr id="10" name="box"/>
          <p:cNvSpPr/>
          <p:nvPr/>
        </p:nvSpPr>
        <p:spPr>
          <a:xfrm>
            <a:off x="3291840" y="2880360"/>
            <a:ext cx="1188720" cy="731520"/>
          </a:xfrm>
          <a:prstGeom prst="roundRect">
            <a:avLst>
              <a:gd name="adj" fmla="val 10000"/>
            </a:avLst>
          </a:prstGeom>
          <a:solidFill>
            <a:srgbClr val="E3F4EC"/>
          </a:solidFill>
          <a:ln w="12700">
            <a:solidFill>
              <a:srgbClr val="1BAF7A"/>
            </a:solidFill>
            <a:prstDash val="solid"/>
          </a:ln>
        </p:spPr>
      </p:sp>
      <p:sp>
        <p:nvSpPr>
          <p:cNvPr id="11" name="Text 8"/>
          <p:cNvSpPr txBox="1"/>
          <p:nvPr/>
        </p:nvSpPr>
        <p:spPr>
          <a:xfrm>
            <a:off x="3291840" y="2880360"/>
            <a:ext cx="1188720" cy="731520"/>
          </a:xfrm>
          <a:prstGeom prst="rect">
            <a:avLst/>
          </a:prstGeom>
          <a:noFill/>
          <a:ln/>
        </p:spPr>
        <p:txBody>
          <a:bodyPr wrap="square" lIns="25400" tIns="25400" rIns="25400" bIns="25400" rtlCol="0" anchor="ctr"/>
          <a:lstStyle/>
          <a:p>
            <a:pPr algn="ctr" indent="0" marL="0">
              <a:buNone/>
            </a:pPr>
            <a:r>
              <a:rPr lang="en-US" sz="1600" b="1" dirty="0">
                <a:solidFill>
                  <a:srgbClr val="1F2933"/>
                </a:solidFill>
              </a:rPr>
              <a:t>(0,1,0)</a:t>
            </a:r>
            <a:endParaRPr lang="en-US" sz="1600" dirty="0"/>
          </a:p>
        </p:txBody>
      </p:sp>
      <p:sp>
        <p:nvSpPr>
          <p:cNvPr id="12" name="Text 9"/>
          <p:cNvSpPr txBox="1"/>
          <p:nvPr/>
        </p:nvSpPr>
        <p:spPr>
          <a:xfrm>
            <a:off x="3291840" y="3657600"/>
            <a:ext cx="1188720" cy="320040"/>
          </a:xfrm>
          <a:prstGeom prst="rect">
            <a:avLst/>
          </a:prstGeom>
          <a:noFill/>
          <a:ln/>
        </p:spPr>
        <p:txBody>
          <a:bodyPr wrap="square" lIns="0" tIns="0" rIns="0" bIns="0" rtlCol="0" anchor="ctr"/>
          <a:lstStyle/>
          <a:p>
            <a:pPr algn="ctr" indent="0" marL="0">
              <a:buNone/>
            </a:pPr>
            <a:r>
              <a:rPr lang="en-US" sz="1200" dirty="0">
                <a:solidFill>
                  <a:srgbClr val="1BAF7A"/>
                </a:solidFill>
              </a:rPr>
              <a:t>만족</a:t>
            </a:r>
            <a:endParaRPr lang="en-US" sz="1200" dirty="0"/>
          </a:p>
        </p:txBody>
      </p:sp>
      <p:sp>
        <p:nvSpPr>
          <p:cNvPr id="13" name="box"/>
          <p:cNvSpPr/>
          <p:nvPr/>
        </p:nvSpPr>
        <p:spPr>
          <a:xfrm>
            <a:off x="4663440" y="2880360"/>
            <a:ext cx="1188720" cy="731520"/>
          </a:xfrm>
          <a:prstGeom prst="roundRect">
            <a:avLst>
              <a:gd name="adj" fmla="val 10000"/>
            </a:avLst>
          </a:prstGeom>
          <a:solidFill>
            <a:srgbClr val="F1F4F8"/>
          </a:solidFill>
          <a:ln w="12700">
            <a:solidFill>
              <a:srgbClr val="D9DEE5"/>
            </a:solidFill>
            <a:prstDash val="solid"/>
          </a:ln>
        </p:spPr>
      </p:sp>
      <p:sp>
        <p:nvSpPr>
          <p:cNvPr id="14" name="Text 11"/>
          <p:cNvSpPr txBox="1"/>
          <p:nvPr/>
        </p:nvSpPr>
        <p:spPr>
          <a:xfrm>
            <a:off x="4663440" y="2880360"/>
            <a:ext cx="1188720" cy="731520"/>
          </a:xfrm>
          <a:prstGeom prst="rect">
            <a:avLst/>
          </a:prstGeom>
          <a:noFill/>
          <a:ln/>
        </p:spPr>
        <p:txBody>
          <a:bodyPr wrap="square" lIns="25400" tIns="25400" rIns="25400" bIns="25400" rtlCol="0" anchor="ctr"/>
          <a:lstStyle/>
          <a:p>
            <a:pPr algn="ctr" indent="0" marL="0">
              <a:buNone/>
            </a:pPr>
            <a:r>
              <a:rPr lang="en-US" sz="1600" dirty="0">
                <a:solidFill>
                  <a:srgbClr val="1F2933"/>
                </a:solidFill>
              </a:rPr>
              <a:t>(0,1,1)</a:t>
            </a:r>
            <a:endParaRPr lang="en-US" sz="1600" dirty="0"/>
          </a:p>
        </p:txBody>
      </p:sp>
      <p:sp>
        <p:nvSpPr>
          <p:cNvPr id="15" name="Text 12"/>
          <p:cNvSpPr txBox="1"/>
          <p:nvPr/>
        </p:nvSpPr>
        <p:spPr>
          <a:xfrm>
            <a:off x="4663440" y="3657600"/>
            <a:ext cx="1188720" cy="320040"/>
          </a:xfrm>
          <a:prstGeom prst="rect">
            <a:avLst/>
          </a:prstGeom>
          <a:noFill/>
          <a:ln/>
        </p:spPr>
        <p:txBody>
          <a:bodyPr wrap="square" lIns="0" tIns="0" rIns="0" bIns="0" rtlCol="0" anchor="ctr"/>
          <a:lstStyle/>
          <a:p>
            <a:pPr algn="ctr" indent="0" marL="0">
              <a:buNone/>
            </a:pPr>
            <a:r>
              <a:rPr lang="en-US" sz="1200" dirty="0">
                <a:solidFill>
                  <a:srgbClr val="7B8794"/>
                </a:solidFill>
              </a:rPr>
              <a:t>위반</a:t>
            </a:r>
            <a:endParaRPr lang="en-US" sz="1200" dirty="0"/>
          </a:p>
        </p:txBody>
      </p:sp>
      <p:sp>
        <p:nvSpPr>
          <p:cNvPr id="16" name="box"/>
          <p:cNvSpPr/>
          <p:nvPr/>
        </p:nvSpPr>
        <p:spPr>
          <a:xfrm>
            <a:off x="6035040" y="2880360"/>
            <a:ext cx="1188720" cy="731520"/>
          </a:xfrm>
          <a:prstGeom prst="roundRect">
            <a:avLst>
              <a:gd name="adj" fmla="val 10000"/>
            </a:avLst>
          </a:prstGeom>
          <a:solidFill>
            <a:srgbClr val="E3F4EC"/>
          </a:solidFill>
          <a:ln w="12700">
            <a:solidFill>
              <a:srgbClr val="1BAF7A"/>
            </a:solidFill>
            <a:prstDash val="solid"/>
          </a:ln>
        </p:spPr>
      </p:sp>
      <p:sp>
        <p:nvSpPr>
          <p:cNvPr id="17" name="Text 14"/>
          <p:cNvSpPr txBox="1"/>
          <p:nvPr/>
        </p:nvSpPr>
        <p:spPr>
          <a:xfrm>
            <a:off x="6035040" y="2880360"/>
            <a:ext cx="1188720" cy="731520"/>
          </a:xfrm>
          <a:prstGeom prst="rect">
            <a:avLst/>
          </a:prstGeom>
          <a:noFill/>
          <a:ln/>
        </p:spPr>
        <p:txBody>
          <a:bodyPr wrap="square" lIns="25400" tIns="25400" rIns="25400" bIns="25400" rtlCol="0" anchor="ctr"/>
          <a:lstStyle/>
          <a:p>
            <a:pPr algn="ctr" indent="0" marL="0">
              <a:buNone/>
            </a:pPr>
            <a:r>
              <a:rPr lang="en-US" sz="1600" b="1" dirty="0">
                <a:solidFill>
                  <a:srgbClr val="1F2933"/>
                </a:solidFill>
              </a:rPr>
              <a:t>(1,0,0)</a:t>
            </a:r>
            <a:endParaRPr lang="en-US" sz="1600" dirty="0"/>
          </a:p>
        </p:txBody>
      </p:sp>
      <p:sp>
        <p:nvSpPr>
          <p:cNvPr id="18" name="Text 15"/>
          <p:cNvSpPr txBox="1"/>
          <p:nvPr/>
        </p:nvSpPr>
        <p:spPr>
          <a:xfrm>
            <a:off x="6035040" y="3657600"/>
            <a:ext cx="1188720" cy="320040"/>
          </a:xfrm>
          <a:prstGeom prst="rect">
            <a:avLst/>
          </a:prstGeom>
          <a:noFill/>
          <a:ln/>
        </p:spPr>
        <p:txBody>
          <a:bodyPr wrap="square" lIns="0" tIns="0" rIns="0" bIns="0" rtlCol="0" anchor="ctr"/>
          <a:lstStyle/>
          <a:p>
            <a:pPr algn="ctr" indent="0" marL="0">
              <a:buNone/>
            </a:pPr>
            <a:r>
              <a:rPr lang="en-US" sz="1200" dirty="0">
                <a:solidFill>
                  <a:srgbClr val="1BAF7A"/>
                </a:solidFill>
              </a:rPr>
              <a:t>만족</a:t>
            </a:r>
            <a:endParaRPr lang="en-US" sz="1200" dirty="0"/>
          </a:p>
        </p:txBody>
      </p:sp>
      <p:sp>
        <p:nvSpPr>
          <p:cNvPr id="19" name="box"/>
          <p:cNvSpPr/>
          <p:nvPr/>
        </p:nvSpPr>
        <p:spPr>
          <a:xfrm>
            <a:off x="7406640" y="2880360"/>
            <a:ext cx="1188720" cy="731520"/>
          </a:xfrm>
          <a:prstGeom prst="roundRect">
            <a:avLst>
              <a:gd name="adj" fmla="val 10000"/>
            </a:avLst>
          </a:prstGeom>
          <a:solidFill>
            <a:srgbClr val="F1F4F8"/>
          </a:solidFill>
          <a:ln w="12700">
            <a:solidFill>
              <a:srgbClr val="D9DEE5"/>
            </a:solidFill>
            <a:prstDash val="solid"/>
          </a:ln>
        </p:spPr>
      </p:sp>
      <p:sp>
        <p:nvSpPr>
          <p:cNvPr id="20" name="Text 17"/>
          <p:cNvSpPr txBox="1"/>
          <p:nvPr/>
        </p:nvSpPr>
        <p:spPr>
          <a:xfrm>
            <a:off x="7406640" y="2880360"/>
            <a:ext cx="1188720" cy="731520"/>
          </a:xfrm>
          <a:prstGeom prst="rect">
            <a:avLst/>
          </a:prstGeom>
          <a:noFill/>
          <a:ln/>
        </p:spPr>
        <p:txBody>
          <a:bodyPr wrap="square" lIns="25400" tIns="25400" rIns="25400" bIns="25400" rtlCol="0" anchor="ctr"/>
          <a:lstStyle/>
          <a:p>
            <a:pPr algn="ctr" indent="0" marL="0">
              <a:buNone/>
            </a:pPr>
            <a:r>
              <a:rPr lang="en-US" sz="1600" dirty="0">
                <a:solidFill>
                  <a:srgbClr val="1F2933"/>
                </a:solidFill>
              </a:rPr>
              <a:t>(1,0,1)</a:t>
            </a:r>
            <a:endParaRPr lang="en-US" sz="1600" dirty="0"/>
          </a:p>
        </p:txBody>
      </p:sp>
      <p:sp>
        <p:nvSpPr>
          <p:cNvPr id="21" name="Text 18"/>
          <p:cNvSpPr txBox="1"/>
          <p:nvPr/>
        </p:nvSpPr>
        <p:spPr>
          <a:xfrm>
            <a:off x="7406640" y="3657600"/>
            <a:ext cx="1188720" cy="320040"/>
          </a:xfrm>
          <a:prstGeom prst="rect">
            <a:avLst/>
          </a:prstGeom>
          <a:noFill/>
          <a:ln/>
        </p:spPr>
        <p:txBody>
          <a:bodyPr wrap="square" lIns="0" tIns="0" rIns="0" bIns="0" rtlCol="0" anchor="ctr"/>
          <a:lstStyle/>
          <a:p>
            <a:pPr algn="ctr" indent="0" marL="0">
              <a:buNone/>
            </a:pPr>
            <a:r>
              <a:rPr lang="en-US" sz="1200" dirty="0">
                <a:solidFill>
                  <a:srgbClr val="7B8794"/>
                </a:solidFill>
              </a:rPr>
              <a:t>위반</a:t>
            </a:r>
            <a:endParaRPr lang="en-US" sz="1200" dirty="0"/>
          </a:p>
        </p:txBody>
      </p:sp>
      <p:sp>
        <p:nvSpPr>
          <p:cNvPr id="22" name="box"/>
          <p:cNvSpPr/>
          <p:nvPr/>
        </p:nvSpPr>
        <p:spPr>
          <a:xfrm>
            <a:off x="8778240" y="2880360"/>
            <a:ext cx="1188720" cy="731520"/>
          </a:xfrm>
          <a:prstGeom prst="roundRect">
            <a:avLst>
              <a:gd name="adj" fmla="val 10000"/>
            </a:avLst>
          </a:prstGeom>
          <a:solidFill>
            <a:srgbClr val="F1F4F8"/>
          </a:solidFill>
          <a:ln w="12700">
            <a:solidFill>
              <a:srgbClr val="D9DEE5"/>
            </a:solidFill>
            <a:prstDash val="solid"/>
          </a:ln>
        </p:spPr>
      </p:sp>
      <p:sp>
        <p:nvSpPr>
          <p:cNvPr id="23" name="Text 20"/>
          <p:cNvSpPr txBox="1"/>
          <p:nvPr/>
        </p:nvSpPr>
        <p:spPr>
          <a:xfrm>
            <a:off x="8778240" y="2880360"/>
            <a:ext cx="1188720" cy="731520"/>
          </a:xfrm>
          <a:prstGeom prst="rect">
            <a:avLst/>
          </a:prstGeom>
          <a:noFill/>
          <a:ln/>
        </p:spPr>
        <p:txBody>
          <a:bodyPr wrap="square" lIns="25400" tIns="25400" rIns="25400" bIns="25400" rtlCol="0" anchor="ctr"/>
          <a:lstStyle/>
          <a:p>
            <a:pPr algn="ctr" indent="0" marL="0">
              <a:buNone/>
            </a:pPr>
            <a:r>
              <a:rPr lang="en-US" sz="1600" dirty="0">
                <a:solidFill>
                  <a:srgbClr val="1F2933"/>
                </a:solidFill>
              </a:rPr>
              <a:t>(1,1,0)</a:t>
            </a:r>
            <a:endParaRPr lang="en-US" sz="1600" dirty="0"/>
          </a:p>
        </p:txBody>
      </p:sp>
      <p:sp>
        <p:nvSpPr>
          <p:cNvPr id="24" name="Text 21"/>
          <p:cNvSpPr txBox="1"/>
          <p:nvPr/>
        </p:nvSpPr>
        <p:spPr>
          <a:xfrm>
            <a:off x="8778240" y="3657600"/>
            <a:ext cx="1188720" cy="320040"/>
          </a:xfrm>
          <a:prstGeom prst="rect">
            <a:avLst/>
          </a:prstGeom>
          <a:noFill/>
          <a:ln/>
        </p:spPr>
        <p:txBody>
          <a:bodyPr wrap="square" lIns="0" tIns="0" rIns="0" bIns="0" rtlCol="0" anchor="ctr"/>
          <a:lstStyle/>
          <a:p>
            <a:pPr algn="ctr" indent="0" marL="0">
              <a:buNone/>
            </a:pPr>
            <a:r>
              <a:rPr lang="en-US" sz="1200" dirty="0">
                <a:solidFill>
                  <a:srgbClr val="7B8794"/>
                </a:solidFill>
              </a:rPr>
              <a:t>위반</a:t>
            </a:r>
            <a:endParaRPr lang="en-US" sz="1200" dirty="0"/>
          </a:p>
        </p:txBody>
      </p:sp>
      <p:sp>
        <p:nvSpPr>
          <p:cNvPr id="25" name="box"/>
          <p:cNvSpPr/>
          <p:nvPr/>
        </p:nvSpPr>
        <p:spPr>
          <a:xfrm>
            <a:off x="10149840" y="2880360"/>
            <a:ext cx="1188720" cy="731520"/>
          </a:xfrm>
          <a:prstGeom prst="roundRect">
            <a:avLst>
              <a:gd name="adj" fmla="val 10000"/>
            </a:avLst>
          </a:prstGeom>
          <a:solidFill>
            <a:srgbClr val="F1F4F8"/>
          </a:solidFill>
          <a:ln w="12700">
            <a:solidFill>
              <a:srgbClr val="D9DEE5"/>
            </a:solidFill>
            <a:prstDash val="solid"/>
          </a:ln>
        </p:spPr>
      </p:sp>
      <p:sp>
        <p:nvSpPr>
          <p:cNvPr id="26" name="Text 23"/>
          <p:cNvSpPr txBox="1"/>
          <p:nvPr/>
        </p:nvSpPr>
        <p:spPr>
          <a:xfrm>
            <a:off x="10149840" y="2880360"/>
            <a:ext cx="1188720" cy="731520"/>
          </a:xfrm>
          <a:prstGeom prst="rect">
            <a:avLst/>
          </a:prstGeom>
          <a:noFill/>
          <a:ln/>
        </p:spPr>
        <p:txBody>
          <a:bodyPr wrap="square" lIns="25400" tIns="25400" rIns="25400" bIns="25400" rtlCol="0" anchor="ctr"/>
          <a:lstStyle/>
          <a:p>
            <a:pPr algn="ctr" indent="0" marL="0">
              <a:buNone/>
            </a:pPr>
            <a:r>
              <a:rPr lang="en-US" sz="1600" dirty="0">
                <a:solidFill>
                  <a:srgbClr val="1F2933"/>
                </a:solidFill>
              </a:rPr>
              <a:t>(1,1,1)</a:t>
            </a:r>
            <a:endParaRPr lang="en-US" sz="1600" dirty="0"/>
          </a:p>
        </p:txBody>
      </p:sp>
      <p:sp>
        <p:nvSpPr>
          <p:cNvPr id="27" name="Text 24"/>
          <p:cNvSpPr txBox="1"/>
          <p:nvPr/>
        </p:nvSpPr>
        <p:spPr>
          <a:xfrm>
            <a:off x="10149840" y="3657600"/>
            <a:ext cx="1188720" cy="320040"/>
          </a:xfrm>
          <a:prstGeom prst="rect">
            <a:avLst/>
          </a:prstGeom>
          <a:noFill/>
          <a:ln/>
        </p:spPr>
        <p:txBody>
          <a:bodyPr wrap="square" lIns="0" tIns="0" rIns="0" bIns="0" rtlCol="0" anchor="ctr"/>
          <a:lstStyle/>
          <a:p>
            <a:pPr algn="ctr" indent="0" marL="0">
              <a:buNone/>
            </a:pPr>
            <a:r>
              <a:rPr lang="en-US" sz="1200" dirty="0">
                <a:solidFill>
                  <a:srgbClr val="7B8794"/>
                </a:solidFill>
              </a:rPr>
              <a:t>위반</a:t>
            </a:r>
            <a:endParaRPr lang="en-US" sz="1200" dirty="0"/>
          </a:p>
        </p:txBody>
      </p:sp>
      <p:sp>
        <p:nvSpPr>
          <p:cNvPr id="28" name="Text 25"/>
          <p:cNvSpPr txBox="1"/>
          <p:nvPr/>
        </p:nvSpPr>
        <p:spPr>
          <a:xfrm>
            <a:off x="548640" y="4251960"/>
            <a:ext cx="11094415" cy="164592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F2933"/>
                </a:solidFill>
              </a:rPr>
              <a:t>세계 = 모든 변수에 0/1을 할당한 것 (n개 변수 → 2ⁿ개)</a:t>
            </a:r>
            <a:endParaRPr lang="en-US" sz="1600" dirty="0"/>
          </a:p>
          <a:p>
            <a:pPr marL="228600" indent="-228600">
              <a:spcAft>
                <a:spcPts val="800"/>
              </a:spcAft>
              <a:buSzPct val="100000"/>
              <a:buChar char="•"/>
            </a:pPr>
            <a:r>
              <a:rPr lang="en-US" sz="1600" dirty="0">
                <a:solidFill>
                  <a:srgbClr val="1F2933"/>
                </a:solidFill>
              </a:rPr>
              <a:t>x ⊨ α : 세계 x가 α를 만족한다</a:t>
            </a:r>
            <a:endParaRPr lang="en-US" sz="1600" dirty="0"/>
          </a:p>
          <a:p>
            <a:pPr marL="228600" indent="-228600">
              <a:spcAft>
                <a:spcPts val="800"/>
              </a:spcAft>
              <a:buSzPct val="100000"/>
              <a:buChar char="•"/>
            </a:pPr>
            <a:r>
              <a:rPr lang="en-US" sz="1600" dirty="0">
                <a:solidFill>
                  <a:srgbClr val="1F2933"/>
                </a:solidFill>
              </a:rPr>
              <a:t>exactly-one(원-핫) 제약을 만족하는 세계는 (1,0,0), (0,1,0), (0,0,1) 세 개뿐</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number"/>
          <p:cNvSpPr txBox="1"/>
          <p:nvPr/>
        </p:nvSpPr>
        <p:spPr>
          <a:xfrm>
            <a:off x="548640" y="1737360"/>
            <a:ext cx="4572000" cy="822960"/>
          </a:xfrm>
          <a:prstGeom prst="rect">
            <a:avLst/>
          </a:prstGeom>
          <a:noFill/>
          <a:ln/>
        </p:spPr>
        <p:txBody>
          <a:bodyPr wrap="square" lIns="0" tIns="0" rIns="0" bIns="0" rtlCol="0" anchor="ctr"/>
          <a:lstStyle/>
          <a:p>
            <a:pPr indent="0" marL="0">
              <a:buNone/>
            </a:pPr>
            <a:r>
              <a:rPr lang="en-US" sz="5400" b="1" dirty="0">
                <a:solidFill>
                  <a:srgbClr val="EB6834"/>
                </a:solidFill>
              </a:rPr>
              <a:t>03</a:t>
            </a:r>
            <a:endParaRPr lang="en-US" sz="5400" dirty="0"/>
          </a:p>
        </p:txBody>
      </p:sp>
      <p:sp>
        <p:nvSpPr>
          <p:cNvPr id="3" name="Text 0"/>
          <p:cNvSpPr/>
          <p:nvPr>
            <p:ph idx="100" type="title" hasCustomPrompt="1"/>
          </p:nvPr>
        </p:nvSpPr>
        <p:spPr>
          <a:xfrm>
            <a:off x="548640" y="2651760"/>
            <a:ext cx="10607040" cy="1005840"/>
          </a:xfrm>
          <a:prstGeom prst="rect">
            <a:avLst/>
          </a:prstGeom>
          <a:noFill/>
          <a:ln/>
        </p:spPr>
        <p:txBody>
          <a:bodyPr wrap="square" lIns="0" tIns="0" rIns="0" bIns="0" rtlCol="0" anchor="t"/>
          <a:lstStyle/>
          <a:p>
            <a:pPr algn="l" indent="0" marL="0">
              <a:buNone/>
            </a:pPr>
            <a:r>
              <a:rPr lang="en-US" sz="4000" b="1" dirty="0">
                <a:solidFill>
                  <a:schemeClr val="bg1"/>
                </a:solidFill>
              </a:rPr>
              <a:t>의미 손실 이론</a:t>
            </a:r>
            <a:endParaRPr lang="en-US" sz="4000" dirty="0"/>
          </a:p>
        </p:txBody>
      </p:sp>
      <p:sp>
        <p:nvSpPr>
          <p:cNvPr id="4" name="Text 0"/>
          <p:cNvSpPr/>
          <p:nvPr>
            <p:ph idx="101" type="body" hasCustomPrompt="1"/>
          </p:nvPr>
        </p:nvSpPr>
        <p:spPr>
          <a:xfrm>
            <a:off x="548640" y="3749040"/>
            <a:ext cx="10607040" cy="1280160"/>
          </a:xfrm>
          <a:prstGeom prst="rect">
            <a:avLst/>
          </a:prstGeom>
          <a:noFill/>
          <a:ln/>
        </p:spPr>
        <p:txBody>
          <a:bodyPr wrap="square" lIns="0" tIns="0" rIns="0" bIns="0" rtlCol="0" anchor="t"/>
          <a:lstStyle/>
          <a:p>
            <a:pPr algn="l" indent="0" marL="0">
              <a:buNone/>
            </a:pPr>
            <a:r>
              <a:rPr lang="en-US" sz="1800" dirty="0">
                <a:solidFill>
                  <a:srgbClr val="BCCCDC"/>
                </a:solidFill>
              </a:rPr>
              <a:t>제약을 만족할 확률을 손실로 — Xu et al. (2018)</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의미 손실의 정의</a:t>
            </a:r>
            <a:endParaRPr lang="en-US" sz="3000" dirty="0"/>
          </a:p>
        </p:txBody>
      </p:sp>
      <p:pic>
        <p:nvPicPr>
          <p:cNvPr id="3" name="eq-wmc" descr="\Pr(\alpha \mid \mathbf{p}) = \sum_{\mathbf{x} \models \alpha} \; \prod_{i:\, x_i = 1} p_i \prod_{i:\, x_i = 0} (1 - p_i)">    </p:cNvPr>
          <p:cNvPicPr>
            <a:picLocks noChangeAspect="1"/>
          </p:cNvPicPr>
          <p:nvPr/>
        </p:nvPicPr>
        <p:blipFill>
          <a:blip r:embed="rId1"/>
          <a:stretch>
            <a:fillRect/>
          </a:stretch>
        </p:blipFill>
        <p:spPr>
          <a:xfrm>
            <a:off x="3043309" y="1371600"/>
            <a:ext cx="6105078" cy="904319"/>
          </a:xfrm>
          <a:prstGeom prst="rect">
            <a:avLst/>
          </a:prstGeom>
        </p:spPr>
      </p:pic>
      <p:pic>
        <p:nvPicPr>
          <p:cNvPr id="4" name="eq-sl" descr="L^{s}(\alpha, \mathbf{p}) \;\propto\; -\log \Pr(\alpha \mid \mathbf{p})">    </p:cNvPr>
          <p:cNvPicPr>
            <a:picLocks noChangeAspect="1"/>
          </p:cNvPicPr>
          <p:nvPr/>
        </p:nvPicPr>
        <p:blipFill>
          <a:blip r:embed="rId2"/>
          <a:stretch>
            <a:fillRect/>
          </a:stretch>
        </p:blipFill>
        <p:spPr>
          <a:xfrm>
            <a:off x="3840355" y="2743200"/>
            <a:ext cx="4510984" cy="380925"/>
          </a:xfrm>
          <a:prstGeom prst="rect">
            <a:avLst/>
          </a:prstGeom>
        </p:spPr>
      </p:pic>
      <p:sp>
        <p:nvSpPr>
          <p:cNvPr id="5" name="card"/>
          <p:cNvSpPr/>
          <p:nvPr/>
        </p:nvSpPr>
        <p:spPr>
          <a:xfrm>
            <a:off x="548640" y="4069080"/>
            <a:ext cx="2606040" cy="1828800"/>
          </a:xfrm>
          <a:prstGeom prst="roundRect">
            <a:avLst>
              <a:gd name="adj" fmla="val 6000"/>
            </a:avLst>
          </a:prstGeom>
          <a:solidFill>
            <a:srgbClr val="FDEEE6"/>
          </a:solidFill>
          <a:ln w="12700">
            <a:solidFill>
              <a:srgbClr val="FDEEE6"/>
            </a:solidFill>
            <a:prstDash val="solid"/>
          </a:ln>
        </p:spPr>
      </p:sp>
      <p:sp>
        <p:nvSpPr>
          <p:cNvPr id="6" name="Text 2"/>
          <p:cNvSpPr txBox="1"/>
          <p:nvPr/>
        </p:nvSpPr>
        <p:spPr>
          <a:xfrm>
            <a:off x="777240" y="4270248"/>
            <a:ext cx="2194560" cy="438912"/>
          </a:xfrm>
          <a:prstGeom prst="rect">
            <a:avLst/>
          </a:prstGeom>
          <a:noFill/>
          <a:ln/>
        </p:spPr>
        <p:txBody>
          <a:bodyPr wrap="square" lIns="0" tIns="0" rIns="0" bIns="0" rtlCol="0" anchor="ctr"/>
          <a:lstStyle/>
          <a:p>
            <a:pPr indent="0" marL="0">
              <a:buNone/>
            </a:pPr>
            <a:r>
              <a:rPr lang="en-US" sz="1800" b="1" dirty="0">
                <a:solidFill>
                  <a:srgbClr val="1F2933"/>
                </a:solidFill>
              </a:rPr>
              <a:t>𝐩</a:t>
            </a:r>
            <a:endParaRPr lang="en-US" sz="1800" dirty="0"/>
          </a:p>
        </p:txBody>
      </p:sp>
      <p:sp>
        <p:nvSpPr>
          <p:cNvPr id="7" name="Text 3"/>
          <p:cNvSpPr txBox="1"/>
          <p:nvPr/>
        </p:nvSpPr>
        <p:spPr>
          <a:xfrm>
            <a:off x="777240" y="4800600"/>
            <a:ext cx="2148840" cy="96012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신경망의 시그모이드 출력 (독립 확률)</a:t>
            </a:r>
            <a:endParaRPr lang="en-US" sz="1400" dirty="0"/>
          </a:p>
        </p:txBody>
      </p:sp>
      <p:sp>
        <p:nvSpPr>
          <p:cNvPr id="8" name="card"/>
          <p:cNvSpPr/>
          <p:nvPr/>
        </p:nvSpPr>
        <p:spPr>
          <a:xfrm>
            <a:off x="3337560" y="4069080"/>
            <a:ext cx="2606040" cy="1828800"/>
          </a:xfrm>
          <a:prstGeom prst="roundRect">
            <a:avLst>
              <a:gd name="adj" fmla="val 6000"/>
            </a:avLst>
          </a:prstGeom>
          <a:solidFill>
            <a:srgbClr val="F1F4F8"/>
          </a:solidFill>
          <a:ln w="12700">
            <a:solidFill>
              <a:srgbClr val="F1F4F8"/>
            </a:solidFill>
            <a:prstDash val="solid"/>
          </a:ln>
        </p:spPr>
      </p:sp>
      <p:sp>
        <p:nvSpPr>
          <p:cNvPr id="9" name="Text 5"/>
          <p:cNvSpPr txBox="1"/>
          <p:nvPr/>
        </p:nvSpPr>
        <p:spPr>
          <a:xfrm>
            <a:off x="3566160" y="4270248"/>
            <a:ext cx="2194560" cy="438912"/>
          </a:xfrm>
          <a:prstGeom prst="rect">
            <a:avLst/>
          </a:prstGeom>
          <a:noFill/>
          <a:ln/>
        </p:spPr>
        <p:txBody>
          <a:bodyPr wrap="square" lIns="0" tIns="0" rIns="0" bIns="0" rtlCol="0" anchor="ctr"/>
          <a:lstStyle/>
          <a:p>
            <a:pPr indent="0" marL="0">
              <a:buNone/>
            </a:pPr>
            <a:r>
              <a:rPr lang="en-US" sz="1800" b="1" dirty="0">
                <a:solidFill>
                  <a:srgbClr val="1F2933"/>
                </a:solidFill>
              </a:rPr>
              <a:t>𝐱 ⊨ α</a:t>
            </a:r>
            <a:endParaRPr lang="en-US" sz="1800" dirty="0"/>
          </a:p>
        </p:txBody>
      </p:sp>
      <p:sp>
        <p:nvSpPr>
          <p:cNvPr id="10" name="Text 6"/>
          <p:cNvSpPr txBox="1"/>
          <p:nvPr/>
        </p:nvSpPr>
        <p:spPr>
          <a:xfrm>
            <a:off x="3566160" y="4800600"/>
            <a:ext cx="2148840" cy="96012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α를 만족하는 모든 세계에 대해 합</a:t>
            </a:r>
            <a:endParaRPr lang="en-US" sz="1400" dirty="0"/>
          </a:p>
        </p:txBody>
      </p:sp>
      <p:sp>
        <p:nvSpPr>
          <p:cNvPr id="11" name="card"/>
          <p:cNvSpPr/>
          <p:nvPr/>
        </p:nvSpPr>
        <p:spPr>
          <a:xfrm>
            <a:off x="6126480" y="4069080"/>
            <a:ext cx="2606040" cy="1828800"/>
          </a:xfrm>
          <a:prstGeom prst="roundRect">
            <a:avLst>
              <a:gd name="adj" fmla="val 6000"/>
            </a:avLst>
          </a:prstGeom>
          <a:solidFill>
            <a:srgbClr val="FDEEE6"/>
          </a:solidFill>
          <a:ln w="12700">
            <a:solidFill>
              <a:srgbClr val="FDEEE6"/>
            </a:solidFill>
            <a:prstDash val="solid"/>
          </a:ln>
        </p:spPr>
      </p:sp>
      <p:sp>
        <p:nvSpPr>
          <p:cNvPr id="12" name="Text 8"/>
          <p:cNvSpPr txBox="1"/>
          <p:nvPr/>
        </p:nvSpPr>
        <p:spPr>
          <a:xfrm>
            <a:off x="6355080" y="4270248"/>
            <a:ext cx="2194560" cy="438912"/>
          </a:xfrm>
          <a:prstGeom prst="rect">
            <a:avLst/>
          </a:prstGeom>
          <a:noFill/>
          <a:ln/>
        </p:spPr>
        <p:txBody>
          <a:bodyPr wrap="square" lIns="0" tIns="0" rIns="0" bIns="0" rtlCol="0" anchor="ctr"/>
          <a:lstStyle/>
          <a:p>
            <a:pPr indent="0" marL="0">
              <a:buNone/>
            </a:pPr>
            <a:r>
              <a:rPr lang="en-US" sz="1800" b="1" dirty="0">
                <a:solidFill>
                  <a:srgbClr val="1F2933"/>
                </a:solidFill>
              </a:rPr>
              <a:t>∏</a:t>
            </a:r>
            <a:endParaRPr lang="en-US" sz="1800" dirty="0"/>
          </a:p>
        </p:txBody>
      </p:sp>
      <p:sp>
        <p:nvSpPr>
          <p:cNvPr id="13" name="Text 9"/>
          <p:cNvSpPr txBox="1"/>
          <p:nvPr/>
        </p:nvSpPr>
        <p:spPr>
          <a:xfrm>
            <a:off x="6355080" y="4800600"/>
            <a:ext cx="2148840" cy="96012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세계 하나의 확률: 참이면 pᵢ, 거짓이면 1−pᵢ</a:t>
            </a:r>
            <a:endParaRPr lang="en-US" sz="1400" dirty="0"/>
          </a:p>
        </p:txBody>
      </p:sp>
      <p:sp>
        <p:nvSpPr>
          <p:cNvPr id="14" name="card"/>
          <p:cNvSpPr/>
          <p:nvPr/>
        </p:nvSpPr>
        <p:spPr>
          <a:xfrm>
            <a:off x="8915400" y="4069080"/>
            <a:ext cx="2606040" cy="1828800"/>
          </a:xfrm>
          <a:prstGeom prst="roundRect">
            <a:avLst>
              <a:gd name="adj" fmla="val 6000"/>
            </a:avLst>
          </a:prstGeom>
          <a:solidFill>
            <a:srgbClr val="F1F4F8"/>
          </a:solidFill>
          <a:ln w="12700">
            <a:solidFill>
              <a:srgbClr val="F1F4F8"/>
            </a:solidFill>
            <a:prstDash val="solid"/>
          </a:ln>
        </p:spPr>
      </p:sp>
      <p:sp>
        <p:nvSpPr>
          <p:cNvPr id="15" name="Text 11"/>
          <p:cNvSpPr txBox="1"/>
          <p:nvPr/>
        </p:nvSpPr>
        <p:spPr>
          <a:xfrm>
            <a:off x="9144000" y="4270248"/>
            <a:ext cx="2194560" cy="438912"/>
          </a:xfrm>
          <a:prstGeom prst="rect">
            <a:avLst/>
          </a:prstGeom>
          <a:noFill/>
          <a:ln/>
        </p:spPr>
        <p:txBody>
          <a:bodyPr wrap="square" lIns="0" tIns="0" rIns="0" bIns="0" rtlCol="0" anchor="ctr"/>
          <a:lstStyle/>
          <a:p>
            <a:pPr indent="0" marL="0">
              <a:buNone/>
            </a:pPr>
            <a:r>
              <a:rPr lang="en-US" sz="1800" b="1" dirty="0">
                <a:solidFill>
                  <a:srgbClr val="1F2933"/>
                </a:solidFill>
              </a:rPr>
              <a:t>−log</a:t>
            </a:r>
            <a:endParaRPr lang="en-US" sz="1800" dirty="0"/>
          </a:p>
        </p:txBody>
      </p:sp>
      <p:sp>
        <p:nvSpPr>
          <p:cNvPr id="16" name="Text 12"/>
          <p:cNvSpPr txBox="1"/>
          <p:nvPr/>
        </p:nvSpPr>
        <p:spPr>
          <a:xfrm>
            <a:off x="9144000" y="4800600"/>
            <a:ext cx="2148840" cy="96012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만족 확률이 1이면 손실 0, 0에 가까우면 손실 ∞</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의미 손실이 갖는 좋은 성질</a:t>
            </a:r>
            <a:endParaRPr lang="en-US" sz="3000" dirty="0"/>
          </a:p>
        </p:txBody>
      </p:sp>
      <p:sp>
        <p:nvSpPr>
          <p:cNvPr id="3" name="card"/>
          <p:cNvSpPr/>
          <p:nvPr/>
        </p:nvSpPr>
        <p:spPr>
          <a:xfrm>
            <a:off x="548640" y="1417320"/>
            <a:ext cx="5440680" cy="2057400"/>
          </a:xfrm>
          <a:prstGeom prst="roundRect">
            <a:avLst>
              <a:gd name="adj" fmla="val 5333"/>
            </a:avLst>
          </a:prstGeom>
          <a:solidFill>
            <a:srgbClr val="F1F4F8"/>
          </a:solidFill>
          <a:ln w="12700">
            <a:solidFill>
              <a:srgbClr val="F1F4F8"/>
            </a:solidFill>
            <a:prstDash val="solid"/>
          </a:ln>
        </p:spPr>
      </p:sp>
      <p:sp>
        <p:nvSpPr>
          <p:cNvPr id="4" name="tag"/>
          <p:cNvSpPr/>
          <p:nvPr/>
        </p:nvSpPr>
        <p:spPr>
          <a:xfrm>
            <a:off x="777240" y="1645920"/>
            <a:ext cx="384048" cy="384048"/>
          </a:xfrm>
          <a:prstGeom prst="ellipse">
            <a:avLst/>
          </a:prstGeom>
          <a:solidFill>
            <a:srgbClr val="2A78D6"/>
          </a:solidFill>
          <a:ln w="12700">
            <a:solidFill>
              <a:srgbClr val="2A78D6"/>
            </a:solidFill>
            <a:prstDash val="solid"/>
          </a:ln>
        </p:spPr>
      </p:sp>
      <p:sp>
        <p:nvSpPr>
          <p:cNvPr id="5" name="Text 3"/>
          <p:cNvSpPr txBox="1"/>
          <p:nvPr/>
        </p:nvSpPr>
        <p:spPr>
          <a:xfrm>
            <a:off x="77724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280160" y="161848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미분 가능</a:t>
            </a:r>
            <a:endParaRPr lang="en-US" sz="1800" dirty="0"/>
          </a:p>
        </p:txBody>
      </p:sp>
      <p:sp>
        <p:nvSpPr>
          <p:cNvPr id="7" name="Text 5"/>
          <p:cNvSpPr txBox="1"/>
          <p:nvPr/>
        </p:nvSpPr>
        <p:spPr>
          <a:xfrm>
            <a:off x="777240" y="2148840"/>
            <a:ext cx="4983480" cy="118872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Pr(α)는 pᵢ의 다항식 → 역전파로 학습 가능</a:t>
            </a:r>
            <a:endParaRPr lang="en-US" sz="1500" dirty="0"/>
          </a:p>
        </p:txBody>
      </p:sp>
      <p:sp>
        <p:nvSpPr>
          <p:cNvPr id="8" name="card"/>
          <p:cNvSpPr/>
          <p:nvPr/>
        </p:nvSpPr>
        <p:spPr>
          <a:xfrm>
            <a:off x="6172200" y="1417320"/>
            <a:ext cx="5440680" cy="2057400"/>
          </a:xfrm>
          <a:prstGeom prst="roundRect">
            <a:avLst>
              <a:gd name="adj" fmla="val 5333"/>
            </a:avLst>
          </a:prstGeom>
          <a:solidFill>
            <a:srgbClr val="F1F4F8"/>
          </a:solidFill>
          <a:ln w="12700">
            <a:solidFill>
              <a:srgbClr val="F1F4F8"/>
            </a:solidFill>
            <a:prstDash val="solid"/>
          </a:ln>
        </p:spPr>
      </p:sp>
      <p:sp>
        <p:nvSpPr>
          <p:cNvPr id="9" name="tag"/>
          <p:cNvSpPr/>
          <p:nvPr/>
        </p:nvSpPr>
        <p:spPr>
          <a:xfrm>
            <a:off x="6400800" y="1645920"/>
            <a:ext cx="384048" cy="384048"/>
          </a:xfrm>
          <a:prstGeom prst="ellipse">
            <a:avLst/>
          </a:prstGeom>
          <a:solidFill>
            <a:srgbClr val="EB6834"/>
          </a:solidFill>
          <a:ln w="12700">
            <a:solidFill>
              <a:srgbClr val="EB6834"/>
            </a:solidFill>
            <a:prstDash val="solid"/>
          </a:ln>
        </p:spPr>
      </p:sp>
      <p:sp>
        <p:nvSpPr>
          <p:cNvPr id="10" name="Text 8"/>
          <p:cNvSpPr txBox="1"/>
          <p:nvPr/>
        </p:nvSpPr>
        <p:spPr>
          <a:xfrm>
            <a:off x="640080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txBox="1"/>
          <p:nvPr/>
        </p:nvSpPr>
        <p:spPr>
          <a:xfrm>
            <a:off x="6903720" y="161848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라벨 불필요</a:t>
            </a:r>
            <a:endParaRPr lang="en-US" sz="1800" dirty="0"/>
          </a:p>
        </p:txBody>
      </p:sp>
      <p:sp>
        <p:nvSpPr>
          <p:cNvPr id="12" name="Text 10"/>
          <p:cNvSpPr txBox="1"/>
          <p:nvPr/>
        </p:nvSpPr>
        <p:spPr>
          <a:xfrm>
            <a:off x="6400800" y="2148840"/>
            <a:ext cx="4983480" cy="118872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α만 있으면 계산 가능 → 라벨 없는 데이터도 학습 신호를 받음</a:t>
            </a:r>
            <a:endParaRPr lang="en-US" sz="1500" dirty="0"/>
          </a:p>
        </p:txBody>
      </p:sp>
      <p:sp>
        <p:nvSpPr>
          <p:cNvPr id="13" name="card"/>
          <p:cNvSpPr/>
          <p:nvPr/>
        </p:nvSpPr>
        <p:spPr>
          <a:xfrm>
            <a:off x="548640" y="3703320"/>
            <a:ext cx="5440680" cy="2057400"/>
          </a:xfrm>
          <a:prstGeom prst="roundRect">
            <a:avLst>
              <a:gd name="adj" fmla="val 5333"/>
            </a:avLst>
          </a:prstGeom>
          <a:solidFill>
            <a:srgbClr val="F1F4F8"/>
          </a:solidFill>
          <a:ln w="12700">
            <a:solidFill>
              <a:srgbClr val="F1F4F8"/>
            </a:solidFill>
            <a:prstDash val="solid"/>
          </a:ln>
        </p:spPr>
      </p:sp>
      <p:sp>
        <p:nvSpPr>
          <p:cNvPr id="14" name="tag"/>
          <p:cNvSpPr/>
          <p:nvPr/>
        </p:nvSpPr>
        <p:spPr>
          <a:xfrm>
            <a:off x="777240" y="3931920"/>
            <a:ext cx="384048" cy="384048"/>
          </a:xfrm>
          <a:prstGeom prst="ellipse">
            <a:avLst/>
          </a:prstGeom>
          <a:solidFill>
            <a:srgbClr val="4A3AA7"/>
          </a:solidFill>
          <a:ln w="12700">
            <a:solidFill>
              <a:srgbClr val="4A3AA7"/>
            </a:solidFill>
            <a:prstDash val="solid"/>
          </a:ln>
        </p:spPr>
      </p:sp>
      <p:sp>
        <p:nvSpPr>
          <p:cNvPr id="15" name="Text 13"/>
          <p:cNvSpPr txBox="1"/>
          <p:nvPr/>
        </p:nvSpPr>
        <p:spPr>
          <a:xfrm>
            <a:off x="777240" y="3931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4"/>
          <p:cNvSpPr txBox="1"/>
          <p:nvPr/>
        </p:nvSpPr>
        <p:spPr>
          <a:xfrm>
            <a:off x="1280160" y="390448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의미에만 의존</a:t>
            </a:r>
            <a:endParaRPr lang="en-US" sz="1800" dirty="0"/>
          </a:p>
        </p:txBody>
      </p:sp>
      <p:sp>
        <p:nvSpPr>
          <p:cNvPr id="17" name="Text 15"/>
          <p:cNvSpPr txBox="1"/>
          <p:nvPr/>
        </p:nvSpPr>
        <p:spPr>
          <a:xfrm>
            <a:off x="777240" y="4434840"/>
            <a:ext cx="4983480" cy="118872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논리적으로 동치인 식은 같은 손실 (P→Q 와 ¬P∨Q)</a:t>
            </a:r>
            <a:endParaRPr lang="en-US" sz="1500" dirty="0"/>
          </a:p>
        </p:txBody>
      </p:sp>
      <p:sp>
        <p:nvSpPr>
          <p:cNvPr id="18" name="card"/>
          <p:cNvSpPr/>
          <p:nvPr/>
        </p:nvSpPr>
        <p:spPr>
          <a:xfrm>
            <a:off x="6172200" y="3703320"/>
            <a:ext cx="5440680" cy="2057400"/>
          </a:xfrm>
          <a:prstGeom prst="roundRect">
            <a:avLst>
              <a:gd name="adj" fmla="val 5333"/>
            </a:avLst>
          </a:prstGeom>
          <a:solidFill>
            <a:srgbClr val="F1F4F8"/>
          </a:solidFill>
          <a:ln w="12700">
            <a:solidFill>
              <a:srgbClr val="F1F4F8"/>
            </a:solidFill>
            <a:prstDash val="solid"/>
          </a:ln>
        </p:spPr>
      </p:sp>
      <p:sp>
        <p:nvSpPr>
          <p:cNvPr id="19" name="tag"/>
          <p:cNvSpPr/>
          <p:nvPr/>
        </p:nvSpPr>
        <p:spPr>
          <a:xfrm>
            <a:off x="6400800" y="3931920"/>
            <a:ext cx="384048" cy="384048"/>
          </a:xfrm>
          <a:prstGeom prst="ellipse">
            <a:avLst/>
          </a:prstGeom>
          <a:solidFill>
            <a:srgbClr val="1BAF7A"/>
          </a:solidFill>
          <a:ln w="12700">
            <a:solidFill>
              <a:srgbClr val="1BAF7A"/>
            </a:solidFill>
            <a:prstDash val="solid"/>
          </a:ln>
        </p:spPr>
      </p:sp>
      <p:sp>
        <p:nvSpPr>
          <p:cNvPr id="20" name="Text 18"/>
          <p:cNvSpPr txBox="1"/>
          <p:nvPr/>
        </p:nvSpPr>
        <p:spPr>
          <a:xfrm>
            <a:off x="6400800" y="3931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Text 19"/>
          <p:cNvSpPr txBox="1"/>
          <p:nvPr/>
        </p:nvSpPr>
        <p:spPr>
          <a:xfrm>
            <a:off x="6903720" y="390448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만족 &amp; 확신이면 0</a:t>
            </a:r>
            <a:endParaRPr lang="en-US" sz="1800" dirty="0"/>
          </a:p>
        </p:txBody>
      </p:sp>
      <p:sp>
        <p:nvSpPr>
          <p:cNvPr id="22" name="Text 20"/>
          <p:cNvSpPr txBox="1"/>
          <p:nvPr/>
        </p:nvSpPr>
        <p:spPr>
          <a:xfrm>
            <a:off x="6400800" y="4434840"/>
            <a:ext cx="4983480" cy="118872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출력이 α를 만족하는 한 세계로 확신하면 Lˢ = 0</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예제 1: exactly-one 제약</a:t>
            </a:r>
            <a:endParaRPr lang="en-US" sz="3000" dirty="0"/>
          </a:p>
        </p:txBody>
      </p:sp>
      <p:pic>
        <p:nvPicPr>
          <p:cNvPr id="3" name="equation" descr="\Pr(\text{exactly-one}) = \sum_{i=1}^{n} p_i \prod_{j \ne i} (1 - p_j)">    </p:cNvPr>
          <p:cNvPicPr>
            <a:picLocks noChangeAspect="1"/>
          </p:cNvPicPr>
          <p:nvPr/>
        </p:nvPicPr>
        <p:blipFill>
          <a:blip r:embed="rId1"/>
          <a:stretch>
            <a:fillRect/>
          </a:stretch>
        </p:blipFill>
        <p:spPr>
          <a:xfrm>
            <a:off x="548640" y="1371600"/>
            <a:ext cx="4691410" cy="895494"/>
          </a:xfrm>
          <a:prstGeom prst="rect">
            <a:avLst/>
          </a:prstGeom>
        </p:spPr>
      </p:pic>
      <p:pic>
        <p:nvPicPr>
          <p:cNvPr id="4" name="equation" descr="0.8\cdot 0.9 \cdot 0.9 + 0.1 \cdot 0.2 \cdot 0.9 + 0.1 \cdot 0.2 \cdot 0.9 = 0.684">    </p:cNvPr>
          <p:cNvPicPr>
            <a:picLocks noChangeAspect="1"/>
          </p:cNvPicPr>
          <p:nvPr/>
        </p:nvPicPr>
        <p:blipFill>
          <a:blip r:embed="rId2"/>
          <a:stretch>
            <a:fillRect/>
          </a:stretch>
        </p:blipFill>
        <p:spPr>
          <a:xfrm>
            <a:off x="548640" y="2423160"/>
            <a:ext cx="5560859" cy="192764"/>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11094415" cy="914400"/>
        </p:xfrm>
        <a:graphic>
          <a:graphicData uri="http://schemas.openxmlformats.org/drawingml/2006/table">
            <a:tbl>
              <a:tblPr/>
              <a:tblGrid>
                <a:gridCol w="2743200"/>
                <a:gridCol w="3776472"/>
                <a:gridCol w="1828800"/>
                <a:gridCol w="2743200"/>
              </a:tblGrid>
              <a:tr h="475488">
                <a:tc>
                  <a:txBody>
                    <a:bodyP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출력 𝐩</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해석</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Pr(α)</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Lˢ = −log Pr(α)</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r>
              <a:tr h="475488">
                <a:tc>
                  <a:txBody>
                    <a:bodyPr/>
                    <a:lstStyle/>
                    <a:p>
                      <a:pPr algn="l" indent="0" marL="0">
                        <a:buNone/>
                      </a:pPr>
                      <a:r>
                        <a:rPr lang="en-US" sz="1600" dirty="0">
                          <a:solidFill>
                            <a:srgbClr val="1F2933"/>
                          </a:solidFill>
                          <a:latin typeface="Malgun Gothic" pitchFamily="34" charset="0"/>
                          <a:ea typeface="Malgun Gothic" pitchFamily="34" charset="-122"/>
                          <a:cs typeface="Malgun Gothic" pitchFamily="34" charset="-120"/>
                        </a:rPr>
                        <a:t>(0.98, 0.01, 0.01)</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3"/>
                          </a:solidFill>
                          <a:latin typeface="Malgun Gothic" pitchFamily="34" charset="0"/>
                          <a:ea typeface="Malgun Gothic" pitchFamily="34" charset="-122"/>
                          <a:cs typeface="Malgun Gothic" pitchFamily="34" charset="-120"/>
                        </a:rPr>
                        <a:t>확신 있고 원-핫에 가까움</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3"/>
                          </a:solidFill>
                          <a:latin typeface="Malgun Gothic" pitchFamily="34" charset="0"/>
                          <a:ea typeface="Malgun Gothic" pitchFamily="34" charset="-122"/>
                          <a:cs typeface="Malgun Gothic" pitchFamily="34" charset="-120"/>
                        </a:rPr>
                        <a:t>0.961</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F2933"/>
                          </a:solidFill>
                          <a:latin typeface="Malgun Gothic" pitchFamily="34" charset="0"/>
                          <a:ea typeface="Malgun Gothic" pitchFamily="34" charset="-122"/>
                          <a:cs typeface="Malgun Gothic" pitchFamily="34" charset="-120"/>
                        </a:rPr>
                        <a:t>0.04</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3F4EC"/>
                    </a:solidFill>
                  </a:tcPr>
                </a:tc>
              </a:tr>
              <a:tr h="475488">
                <a:tc>
                  <a:txBody>
                    <a:bodyPr/>
                    <a:lstStyle/>
                    <a:p>
                      <a:pPr algn="l" indent="0" marL="0">
                        <a:buNone/>
                      </a:pPr>
                      <a:r>
                        <a:rPr lang="en-US" sz="1600" dirty="0">
                          <a:solidFill>
                            <a:srgbClr val="1F2933"/>
                          </a:solidFill>
                          <a:latin typeface="Malgun Gothic" pitchFamily="34" charset="0"/>
                          <a:ea typeface="Malgun Gothic" pitchFamily="34" charset="-122"/>
                          <a:cs typeface="Malgun Gothic" pitchFamily="34" charset="-120"/>
                        </a:rPr>
                        <a:t>(0.8, 0.1, 0.1)</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600" dirty="0">
                          <a:solidFill>
                            <a:srgbClr val="1F2933"/>
                          </a:solidFill>
                          <a:latin typeface="Malgun Gothic" pitchFamily="34" charset="0"/>
                          <a:ea typeface="Malgun Gothic" pitchFamily="34" charset="-122"/>
                          <a:cs typeface="Malgun Gothic" pitchFamily="34" charset="-120"/>
                        </a:rPr>
                        <a:t>어느 정도 확신</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600" dirty="0">
                          <a:solidFill>
                            <a:srgbClr val="1F2933"/>
                          </a:solidFill>
                          <a:latin typeface="Malgun Gothic" pitchFamily="34" charset="0"/>
                          <a:ea typeface="Malgun Gothic" pitchFamily="34" charset="-122"/>
                          <a:cs typeface="Malgun Gothic" pitchFamily="34" charset="-120"/>
                        </a:rPr>
                        <a:t>0.684</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600" dirty="0">
                          <a:solidFill>
                            <a:srgbClr val="1F2933"/>
                          </a:solidFill>
                          <a:latin typeface="Malgun Gothic" pitchFamily="34" charset="0"/>
                          <a:ea typeface="Malgun Gothic" pitchFamily="34" charset="-122"/>
                          <a:cs typeface="Malgun Gothic" pitchFamily="34" charset="-120"/>
                        </a:rPr>
                        <a:t>0.38</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r>
              <a:tr h="475488">
                <a:tc>
                  <a:txBody>
                    <a:bodyPr/>
                    <a:lstStyle/>
                    <a:p>
                      <a:pPr algn="l" indent="0" marL="0">
                        <a:buNone/>
                      </a:pPr>
                      <a:r>
                        <a:rPr lang="en-US" sz="1600" dirty="0">
                          <a:solidFill>
                            <a:srgbClr val="1F2933"/>
                          </a:solidFill>
                          <a:latin typeface="Malgun Gothic" pitchFamily="34" charset="0"/>
                          <a:ea typeface="Malgun Gothic" pitchFamily="34" charset="-122"/>
                          <a:cs typeface="Malgun Gothic" pitchFamily="34" charset="-120"/>
                        </a:rPr>
                        <a:t>(0.4, 0.4, 0.2)</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3"/>
                          </a:solidFill>
                          <a:latin typeface="Malgun Gothic" pitchFamily="34" charset="0"/>
                          <a:ea typeface="Malgun Gothic" pitchFamily="34" charset="-122"/>
                          <a:cs typeface="Malgun Gothic" pitchFamily="34" charset="-120"/>
                        </a:rPr>
                        <a:t>애매하게 퍼짐</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600" dirty="0">
                          <a:solidFill>
                            <a:srgbClr val="1F2933"/>
                          </a:solidFill>
                          <a:latin typeface="Malgun Gothic" pitchFamily="34" charset="0"/>
                          <a:ea typeface="Malgun Gothic" pitchFamily="34" charset="-122"/>
                          <a:cs typeface="Malgun Gothic" pitchFamily="34" charset="-120"/>
                        </a:rPr>
                        <a:t>0.456</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1F2933"/>
                          </a:solidFill>
                          <a:latin typeface="Malgun Gothic" pitchFamily="34" charset="0"/>
                          <a:ea typeface="Malgun Gothic" pitchFamily="34" charset="-122"/>
                          <a:cs typeface="Malgun Gothic" pitchFamily="34" charset="-120"/>
                        </a:rPr>
                        <a:t>0.79</a:t>
                      </a:r>
                      <a:endParaRPr lang="en-US" sz="16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CE6DC"/>
                    </a:solidFill>
                  </a:tcPr>
                </a:tc>
              </a:tr>
            </a:tbl>
          </a:graphicData>
        </a:graphic>
      </p:graphicFrame>
      <p:sp>
        <p:nvSpPr>
          <p:cNvPr id="6" name="Text 1"/>
          <p:cNvSpPr txBox="1"/>
          <p:nvPr/>
        </p:nvSpPr>
        <p:spPr>
          <a:xfrm>
            <a:off x="548640" y="5212080"/>
            <a:ext cx="11094415" cy="640080"/>
          </a:xfrm>
          <a:prstGeom prst="rect">
            <a:avLst/>
          </a:prstGeom>
          <a:noFill/>
          <a:ln/>
        </p:spPr>
        <p:txBody>
          <a:bodyPr wrap="square" lIns="0" tIns="0" rIns="0" bIns="0" rtlCol="0" anchor="t"/>
          <a:lstStyle/>
          <a:p>
            <a:pPr indent="0" marL="0">
              <a:spcAft>
                <a:spcPts val="600"/>
              </a:spcAft>
              <a:buNone/>
            </a:pPr>
            <a:r>
              <a:rPr lang="en-US" sz="1600" b="1" dirty="0">
                <a:solidFill>
                  <a:srgbClr val="EB6834"/>
                </a:solidFill>
              </a:rPr>
              <a:t>확률이 한 곳에 모일수록 손실 → 0, 여러 곳에 퍼질수록 손실 ↑ — 라벨 없이도 "원-핫이어야 한다"는 신호를 준다.</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닫힌 형태 유도: exactly-one을 로그 공간에서</a:t>
            </a:r>
            <a:endParaRPr lang="en-US" sz="3000" dirty="0"/>
          </a:p>
        </p:txBody>
      </p:sp>
      <p:sp>
        <p:nvSpPr>
          <p:cNvPr id="3" name="pill"/>
          <p:cNvSpPr/>
          <p:nvPr/>
        </p:nvSpPr>
        <p:spPr>
          <a:xfrm>
            <a:off x="548640" y="1463040"/>
            <a:ext cx="2377440" cy="365760"/>
          </a:xfrm>
          <a:prstGeom prst="roundRect">
            <a:avLst>
              <a:gd name="adj" fmla="val 50000"/>
            </a:avLst>
          </a:prstGeom>
          <a:solidFill>
            <a:srgbClr val="52606D"/>
          </a:solidFill>
          <a:ln w="12700">
            <a:solidFill>
              <a:srgbClr val="52606D"/>
            </a:solidFill>
            <a:prstDash val="solid"/>
          </a:ln>
        </p:spPr>
      </p:sp>
      <p:sp>
        <p:nvSpPr>
          <p:cNvPr id="4" name="Text 2"/>
          <p:cNvSpPr txBox="1"/>
          <p:nvPr/>
        </p:nvSpPr>
        <p:spPr>
          <a:xfrm>
            <a:off x="548640" y="1463040"/>
            <a:ext cx="2377440" cy="365760"/>
          </a:xfrm>
          <a:prstGeom prst="rect">
            <a:avLst/>
          </a:prstGeom>
          <a:noFill/>
          <a:ln/>
        </p:spPr>
        <p:txBody>
          <a:bodyPr wrap="square" lIns="0" tIns="0" rIns="0" bIns="0" rtlCol="0" anchor="ctr"/>
          <a:lstStyle/>
          <a:p>
            <a:pPr algn="ctr" indent="0" marL="0">
              <a:buNone/>
            </a:pPr>
            <a:r>
              <a:rPr lang="en-US" sz="1300" b="1" dirty="0">
                <a:solidFill>
                  <a:srgbClr val="FFFFFF"/>
                </a:solidFill>
              </a:rPr>
              <a:t>공통 인수 추출</a:t>
            </a:r>
            <a:endParaRPr lang="en-US" sz="1300" dirty="0"/>
          </a:p>
        </p:txBody>
      </p:sp>
      <p:pic>
        <p:nvPicPr>
          <p:cNvPr id="5" name="equation" descr="\Pr = \sum_i p_i \prod_{j\ne i}(1-p_j) = \Big[\prod_{j}(1-p_j)\Big] \sum_i \frac{p_i}{1-p_i}">    </p:cNvPr>
          <p:cNvPicPr>
            <a:picLocks noChangeAspect="1"/>
          </p:cNvPicPr>
          <p:nvPr/>
        </p:nvPicPr>
        <p:blipFill>
          <a:blip r:embed="rId1"/>
          <a:stretch>
            <a:fillRect/>
          </a:stretch>
        </p:blipFill>
        <p:spPr>
          <a:xfrm>
            <a:off x="3200400" y="1325880"/>
            <a:ext cx="6018149" cy="705402"/>
          </a:xfrm>
          <a:prstGeom prst="rect">
            <a:avLst/>
          </a:prstGeom>
        </p:spPr>
      </p:pic>
      <p:sp>
        <p:nvSpPr>
          <p:cNvPr id="6" name="pill"/>
          <p:cNvSpPr/>
          <p:nvPr/>
        </p:nvSpPr>
        <p:spPr>
          <a:xfrm>
            <a:off x="548640" y="2697480"/>
            <a:ext cx="2377440" cy="365760"/>
          </a:xfrm>
          <a:prstGeom prst="roundRect">
            <a:avLst>
              <a:gd name="adj" fmla="val 50000"/>
            </a:avLst>
          </a:prstGeom>
          <a:solidFill>
            <a:srgbClr val="52606D"/>
          </a:solidFill>
          <a:ln w="12700">
            <a:solidFill>
              <a:srgbClr val="52606D"/>
            </a:solidFill>
            <a:prstDash val="solid"/>
          </a:ln>
        </p:spPr>
      </p:sp>
      <p:sp>
        <p:nvSpPr>
          <p:cNvPr id="7" name="Text 4"/>
          <p:cNvSpPr txBox="1"/>
          <p:nvPr/>
        </p:nvSpPr>
        <p:spPr>
          <a:xfrm>
            <a:off x="548640" y="2697480"/>
            <a:ext cx="2377440" cy="365760"/>
          </a:xfrm>
          <a:prstGeom prst="rect">
            <a:avLst/>
          </a:prstGeom>
          <a:noFill/>
          <a:ln/>
        </p:spPr>
        <p:txBody>
          <a:bodyPr wrap="square" lIns="0" tIns="0" rIns="0" bIns="0" rtlCol="0" anchor="ctr"/>
          <a:lstStyle/>
          <a:p>
            <a:pPr algn="ctr" indent="0" marL="0">
              <a:buNone/>
            </a:pPr>
            <a:r>
              <a:rPr lang="en-US" sz="1300" b="1" dirty="0">
                <a:solidFill>
                  <a:srgbClr val="FFFFFF"/>
                </a:solidFill>
              </a:rPr>
              <a:t>오즈 = 지수 로짓</a:t>
            </a:r>
            <a:endParaRPr lang="en-US" sz="1300" dirty="0"/>
          </a:p>
        </p:txBody>
      </p:sp>
      <p:pic>
        <p:nvPicPr>
          <p:cNvPr id="8" name="equation" descr="\frac{p_i}{1-p_i} = \frac{\sigma(z_i)}{1-\sigma(z_i)} = e^{z_i}, \qquad \log(1-p_j) = -\mathrm{softplus}(z_j)">    </p:cNvPr>
          <p:cNvPicPr>
            <a:picLocks noChangeAspect="1"/>
          </p:cNvPicPr>
          <p:nvPr/>
        </p:nvPicPr>
        <p:blipFill>
          <a:blip r:embed="rId2"/>
          <a:stretch>
            <a:fillRect/>
          </a:stretch>
        </p:blipFill>
        <p:spPr>
          <a:xfrm>
            <a:off x="3200400" y="2560320"/>
            <a:ext cx="7061556" cy="676134"/>
          </a:xfrm>
          <a:prstGeom prst="rect">
            <a:avLst/>
          </a:prstGeom>
        </p:spPr>
      </p:pic>
      <p:sp>
        <p:nvSpPr>
          <p:cNvPr id="9" name="pill"/>
          <p:cNvSpPr/>
          <p:nvPr/>
        </p:nvSpPr>
        <p:spPr>
          <a:xfrm>
            <a:off x="548640" y="3931920"/>
            <a:ext cx="2377440" cy="365760"/>
          </a:xfrm>
          <a:prstGeom prst="roundRect">
            <a:avLst>
              <a:gd name="adj" fmla="val 50000"/>
            </a:avLst>
          </a:prstGeom>
          <a:solidFill>
            <a:srgbClr val="EB6834"/>
          </a:solidFill>
          <a:ln w="12700">
            <a:solidFill>
              <a:srgbClr val="EB6834"/>
            </a:solidFill>
            <a:prstDash val="solid"/>
          </a:ln>
        </p:spPr>
      </p:sp>
      <p:sp>
        <p:nvSpPr>
          <p:cNvPr id="10" name="Text 6"/>
          <p:cNvSpPr txBox="1"/>
          <p:nvPr/>
        </p:nvSpPr>
        <p:spPr>
          <a:xfrm>
            <a:off x="548640" y="3931920"/>
            <a:ext cx="2377440" cy="365760"/>
          </a:xfrm>
          <a:prstGeom prst="rect">
            <a:avLst/>
          </a:prstGeom>
          <a:noFill/>
          <a:ln/>
        </p:spPr>
        <p:txBody>
          <a:bodyPr wrap="square" lIns="0" tIns="0" rIns="0" bIns="0" rtlCol="0" anchor="ctr"/>
          <a:lstStyle/>
          <a:p>
            <a:pPr algn="ctr" indent="0" marL="0">
              <a:buNone/>
            </a:pPr>
            <a:r>
              <a:rPr lang="en-US" sz="1300" b="1" dirty="0">
                <a:solidFill>
                  <a:srgbClr val="FFFFFF"/>
                </a:solidFill>
              </a:rPr>
              <a:t>최종 형태 (O(n))</a:t>
            </a:r>
            <a:endParaRPr lang="en-US" sz="1300" dirty="0"/>
          </a:p>
        </p:txBody>
      </p:sp>
      <p:pic>
        <p:nvPicPr>
          <p:cNvPr id="11" name="equation" descr="\log \Pr(\text{exactly-one}) = \operatorname{logsumexp}_i(z_i) - \sum_j \mathrm{softplus}(z_j)">    </p:cNvPr>
          <p:cNvPicPr>
            <a:picLocks noChangeAspect="1"/>
          </p:cNvPicPr>
          <p:nvPr/>
        </p:nvPicPr>
        <p:blipFill>
          <a:blip r:embed="rId3"/>
          <a:stretch>
            <a:fillRect/>
          </a:stretch>
        </p:blipFill>
        <p:spPr>
          <a:xfrm>
            <a:off x="3200400" y="3794760"/>
            <a:ext cx="6672795" cy="636616"/>
          </a:xfrm>
          <a:prstGeom prst="rect">
            <a:avLst/>
          </a:prstGeom>
        </p:spPr>
      </p:pic>
      <p:sp>
        <p:nvSpPr>
          <p:cNvPr id="12" name="Text 7"/>
          <p:cNvSpPr txBox="1"/>
          <p:nvPr/>
        </p:nvSpPr>
        <p:spPr>
          <a:xfrm>
            <a:off x="548640" y="5257800"/>
            <a:ext cx="11094415" cy="548640"/>
          </a:xfrm>
          <a:prstGeom prst="rect">
            <a:avLst/>
          </a:prstGeom>
          <a:noFill/>
          <a:ln/>
        </p:spPr>
        <p:txBody>
          <a:bodyPr wrap="square" lIns="0" tIns="0" rIns="0" bIns="0" rtlCol="0" anchor="t"/>
          <a:lstStyle/>
          <a:p>
            <a:pPr indent="0" marL="0">
              <a:spcAft>
                <a:spcPts val="600"/>
              </a:spcAft>
              <a:buNone/>
            </a:pPr>
            <a:r>
              <a:rPr lang="en-US" sz="1500" dirty="0">
                <a:solidFill>
                  <a:srgbClr val="52606D"/>
                </a:solidFill>
              </a:rPr>
              <a:t>logsumexp, softplus 모두 수치적으로 안정한 구현이 있다 → 로짓이 ±40이어도 overflow 없음</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예제 2: 함의 규칙 — 펭귄은 새이고, 날지 못한다</a:t>
            </a:r>
            <a:endParaRPr lang="en-US" sz="3000" dirty="0"/>
          </a:p>
        </p:txBody>
      </p:sp>
      <p:pic>
        <p:nvPicPr>
          <p:cNvPr id="3" name="equation" descr="\alpha = (P \rightarrow B) \land (P \rightarrow \lnot F) \equiv (\lnot P \lor B) \land (\lnot P \lor \lnot F)">    </p:cNvPr>
          <p:cNvPicPr>
            <a:picLocks noChangeAspect="1"/>
          </p:cNvPicPr>
          <p:nvPr/>
        </p:nvPicPr>
        <p:blipFill>
          <a:blip r:embed="rId1"/>
          <a:stretch>
            <a:fillRect/>
          </a:stretch>
        </p:blipFill>
        <p:spPr>
          <a:xfrm>
            <a:off x="548640" y="1280160"/>
            <a:ext cx="6332319" cy="279345"/>
          </a:xfrm>
          <a:prstGeom prst="rect">
            <a:avLst/>
          </a:prstGeom>
        </p:spPr>
      </p:pic>
      <p:sp>
        <p:nvSpPr>
          <p:cNvPr id="4" name="Text 1"/>
          <p:cNvSpPr txBox="1"/>
          <p:nvPr/>
        </p:nvSpPr>
        <p:spPr>
          <a:xfrm>
            <a:off x="548640" y="2011680"/>
            <a:ext cx="11094415" cy="365760"/>
          </a:xfrm>
          <a:prstGeom prst="rect">
            <a:avLst/>
          </a:prstGeom>
          <a:noFill/>
          <a:ln/>
        </p:spPr>
        <p:txBody>
          <a:bodyPr wrap="square" lIns="0" tIns="0" rIns="0" bIns="0" rtlCol="0" anchor="t"/>
          <a:lstStyle/>
          <a:p>
            <a:pPr indent="0" marL="0">
              <a:spcAft>
                <a:spcPts val="600"/>
              </a:spcAft>
              <a:buNone/>
            </a:pPr>
            <a:r>
              <a:rPr lang="en-US" sz="1500" dirty="0">
                <a:solidFill>
                  <a:srgbClr val="52606D"/>
                </a:solidFill>
              </a:rPr>
              <a:t>B = 새다,  F = 날 수 있다,  P = 펭귄이다     출력 𝐩 = (p_B, p_F, p_P) = (0.9, 0.8, 0.8)</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6949440" cy="914400"/>
        </p:xfrm>
        <a:graphic>
          <a:graphicData uri="http://schemas.openxmlformats.org/drawingml/2006/table">
            <a:tbl>
              <a:tblPr/>
              <a:tblGrid>
                <a:gridCol w="1645920"/>
                <a:gridCol w="2011680"/>
                <a:gridCol w="1097280"/>
                <a:gridCol w="2194560"/>
              </a:tblGrid>
              <a:tr h="384048">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세계 (B, F, P)</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계산</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확률</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α</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r>
              <a:tr h="384048">
                <a:tc>
                  <a:txBody>
                    <a:bodyPr/>
                    <a:lstStyle/>
                    <a:p>
                      <a:pPr algn="l" indent="0" marL="0">
                        <a:buNone/>
                      </a:pPr>
                      <a:r>
                        <a:rPr lang="en-US" sz="1300" dirty="0">
                          <a:solidFill>
                            <a:srgbClr val="1F2933"/>
                          </a:solidFill>
                          <a:latin typeface="Malgun Gothic" pitchFamily="34" charset="0"/>
                          <a:ea typeface="Malgun Gothic" pitchFamily="34" charset="-122"/>
                          <a:cs typeface="Malgun Gothic" pitchFamily="34" charset="-120"/>
                        </a:rPr>
                        <a:t>(0, 0, 0)</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0.1 × 0.2 × 0.2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0.004</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만족</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3F4EC"/>
                    </a:solidFill>
                  </a:tcPr>
                </a:tc>
              </a:tr>
              <a:tr h="384048">
                <a:tc>
                  <a:txBody>
                    <a:bodyPr/>
                    <a:lstStyle/>
                    <a:p>
                      <a:pPr algn="l" indent="0" marL="0">
                        <a:buNone/>
                      </a:pPr>
                      <a:r>
                        <a:rPr lang="en-US" sz="1300" dirty="0">
                          <a:solidFill>
                            <a:srgbClr val="1F2933"/>
                          </a:solidFill>
                          <a:latin typeface="Malgun Gothic" pitchFamily="34" charset="0"/>
                          <a:ea typeface="Malgun Gothic" pitchFamily="34" charset="-122"/>
                          <a:cs typeface="Malgun Gothic" pitchFamily="34" charset="-120"/>
                        </a:rPr>
                        <a:t>(0, 1, 0)</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0.1 × 0.8 × 0.2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0.016</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만족</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3F4EC"/>
                    </a:solidFill>
                  </a:tcPr>
                </a:tc>
              </a:tr>
              <a:tr h="384048">
                <a:tc>
                  <a:txBody>
                    <a:bodyPr/>
                    <a:lstStyle/>
                    <a:p>
                      <a:pPr algn="l" indent="0" marL="0">
                        <a:buNone/>
                      </a:pPr>
                      <a:r>
                        <a:rPr lang="en-US" sz="1300" dirty="0">
                          <a:solidFill>
                            <a:srgbClr val="1F2933"/>
                          </a:solidFill>
                          <a:latin typeface="Malgun Gothic" pitchFamily="34" charset="0"/>
                          <a:ea typeface="Malgun Gothic" pitchFamily="34" charset="-122"/>
                          <a:cs typeface="Malgun Gothic" pitchFamily="34" charset="-120"/>
                        </a:rPr>
                        <a:t>(1, 0, 0)</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0.9 × 0.2 × 0.2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0.036</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만족</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3F4EC"/>
                    </a:solidFill>
                  </a:tcPr>
                </a:tc>
              </a:tr>
              <a:tr h="384048">
                <a:tc>
                  <a:txBody>
                    <a:bodyPr/>
                    <a:lstStyle/>
                    <a:p>
                      <a:pPr algn="l" indent="0" marL="0">
                        <a:buNone/>
                      </a:pPr>
                      <a:r>
                        <a:rPr lang="en-US" sz="1300" dirty="0">
                          <a:solidFill>
                            <a:srgbClr val="1F2933"/>
                          </a:solidFill>
                          <a:latin typeface="Malgun Gothic" pitchFamily="34" charset="0"/>
                          <a:ea typeface="Malgun Gothic" pitchFamily="34" charset="-122"/>
                          <a:cs typeface="Malgun Gothic" pitchFamily="34" charset="-120"/>
                        </a:rPr>
                        <a:t>(1, 1, 0)</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0.9 × 0.8 × 0.2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0.144</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만족</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3F4EC"/>
                    </a:solidFill>
                  </a:tcPr>
                </a:tc>
              </a:tr>
              <a:tr h="384048">
                <a:tc>
                  <a:txBody>
                    <a:bodyPr/>
                    <a:lstStyle/>
                    <a:p>
                      <a:pPr algn="l" indent="0" marL="0">
                        <a:buNone/>
                      </a:pPr>
                      <a:r>
                        <a:rPr lang="en-US" sz="1300" dirty="0">
                          <a:solidFill>
                            <a:srgbClr val="1F2933"/>
                          </a:solidFill>
                          <a:latin typeface="Malgun Gothic" pitchFamily="34" charset="0"/>
                          <a:ea typeface="Malgun Gothic" pitchFamily="34" charset="-122"/>
                          <a:cs typeface="Malgun Gothic" pitchFamily="34" charset="-120"/>
                        </a:rPr>
                        <a:t>(1, 0, 1)</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0.9 × 0.2 × 0.8</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0.144</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만족</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3F4EC"/>
                    </a:solidFill>
                  </a:tcPr>
                </a:tc>
              </a:tr>
              <a:tr h="384048">
                <a:tc>
                  <a:txBody>
                    <a:bodyPr/>
                    <a:lstStyle/>
                    <a:p>
                      <a:pPr algn="l" indent="0" marL="0">
                        <a:buNone/>
                      </a:pPr>
                      <a:r>
                        <a:rPr lang="en-US" sz="1300" dirty="0">
                          <a:solidFill>
                            <a:srgbClr val="1F2933"/>
                          </a:solidFill>
                          <a:latin typeface="Malgun Gothic" pitchFamily="34" charset="0"/>
                          <a:ea typeface="Malgun Gothic" pitchFamily="34" charset="-122"/>
                          <a:cs typeface="Malgun Gothic" pitchFamily="34" charset="-120"/>
                        </a:rPr>
                        <a:t>(0, 0, 1)</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0.1 × 0.2 × 0.8</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0.016</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위반: 새 아님</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CE6DC"/>
                    </a:solidFill>
                  </a:tcPr>
                </a:tc>
              </a:tr>
              <a:tr h="384048">
                <a:tc>
                  <a:txBody>
                    <a:bodyPr/>
                    <a:lstStyle/>
                    <a:p>
                      <a:pPr algn="l" indent="0" marL="0">
                        <a:buNone/>
                      </a:pPr>
                      <a:r>
                        <a:rPr lang="en-US" sz="1300" dirty="0">
                          <a:solidFill>
                            <a:srgbClr val="1F2933"/>
                          </a:solidFill>
                          <a:latin typeface="Malgun Gothic" pitchFamily="34" charset="0"/>
                          <a:ea typeface="Malgun Gothic" pitchFamily="34" charset="-122"/>
                          <a:cs typeface="Malgun Gothic" pitchFamily="34" charset="-120"/>
                        </a:rPr>
                        <a:t>(1, 1, 1)</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0.9 × 0.8 × 0.8</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1F2933"/>
                          </a:solidFill>
                          <a:latin typeface="Malgun Gothic" pitchFamily="34" charset="0"/>
                          <a:ea typeface="Malgun Gothic" pitchFamily="34" charset="-122"/>
                          <a:cs typeface="Malgun Gothic" pitchFamily="34" charset="-120"/>
                        </a:rPr>
                        <a:t>0.576</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위반: 펭귄인데 낢</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CE6DC"/>
                    </a:solidFill>
                  </a:tcPr>
                </a:tc>
              </a:tr>
              <a:tr h="384048">
                <a:tc>
                  <a:txBody>
                    <a:bodyPr/>
                    <a:lstStyle/>
                    <a:p>
                      <a:pPr algn="l" indent="0" marL="0">
                        <a:buNone/>
                      </a:pPr>
                      <a:r>
                        <a:rPr lang="en-US" sz="1300" dirty="0">
                          <a:solidFill>
                            <a:srgbClr val="1F2933"/>
                          </a:solidFill>
                          <a:latin typeface="Malgun Gothic" pitchFamily="34" charset="0"/>
                          <a:ea typeface="Malgun Gothic" pitchFamily="34" charset="-122"/>
                          <a:cs typeface="Malgun Gothic" pitchFamily="34" charset="-120"/>
                        </a:rPr>
                        <a:t>(0, 1, 1)</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0.1 × 0.8 × 0.8</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0.064</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300" dirty="0">
                          <a:solidFill>
                            <a:srgbClr val="1F2933"/>
                          </a:solidFill>
                          <a:latin typeface="Malgun Gothic" pitchFamily="34" charset="0"/>
                          <a:ea typeface="Malgun Gothic" pitchFamily="34" charset="-122"/>
                          <a:cs typeface="Malgun Gothic" pitchFamily="34" charset="-120"/>
                        </a:rPr>
                        <a:t>위반: 새 아니고 낢</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CE6DC"/>
                    </a:solidFill>
                  </a:tcPr>
                </a:tc>
              </a:tr>
            </a:tbl>
          </a:graphicData>
        </a:graphic>
      </p:graphicFrame>
      <p:sp>
        <p:nvSpPr>
          <p:cNvPr id="6" name="card"/>
          <p:cNvSpPr/>
          <p:nvPr/>
        </p:nvSpPr>
        <p:spPr>
          <a:xfrm>
            <a:off x="7863840" y="2514600"/>
            <a:ext cx="3776472" cy="3429000"/>
          </a:xfrm>
          <a:prstGeom prst="roundRect">
            <a:avLst>
              <a:gd name="adj" fmla="val 3200"/>
            </a:avLst>
          </a:prstGeom>
          <a:solidFill>
            <a:srgbClr val="FDEEE6"/>
          </a:solidFill>
          <a:ln w="12700">
            <a:solidFill>
              <a:srgbClr val="FDEEE6"/>
            </a:solidFill>
            <a:prstDash val="solid"/>
          </a:ln>
        </p:spPr>
      </p:sp>
      <p:sp>
        <p:nvSpPr>
          <p:cNvPr id="7" name="tag"/>
          <p:cNvSpPr/>
          <p:nvPr/>
        </p:nvSpPr>
        <p:spPr>
          <a:xfrm>
            <a:off x="8092440" y="2743200"/>
            <a:ext cx="384048" cy="384048"/>
          </a:xfrm>
          <a:prstGeom prst="ellipse">
            <a:avLst/>
          </a:prstGeom>
          <a:solidFill>
            <a:srgbClr val="EB6834"/>
          </a:solidFill>
          <a:ln w="12700">
            <a:solidFill>
              <a:srgbClr val="EB6834"/>
            </a:solidFill>
            <a:prstDash val="solid"/>
          </a:ln>
        </p:spPr>
      </p:sp>
      <p:sp>
        <p:nvSpPr>
          <p:cNvPr id="8" name="Text 4"/>
          <p:cNvSpPr txBox="1"/>
          <p:nvPr/>
        </p:nvSpPr>
        <p:spPr>
          <a:xfrm>
            <a:off x="8092440" y="2743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S</a:t>
            </a:r>
            <a:endParaRPr lang="en-US" sz="1300" dirty="0"/>
          </a:p>
        </p:txBody>
      </p:sp>
      <p:sp>
        <p:nvSpPr>
          <p:cNvPr id="9" name="Text 5"/>
          <p:cNvSpPr txBox="1"/>
          <p:nvPr/>
        </p:nvSpPr>
        <p:spPr>
          <a:xfrm>
            <a:off x="8595360" y="2715768"/>
            <a:ext cx="2862072" cy="438912"/>
          </a:xfrm>
          <a:prstGeom prst="rect">
            <a:avLst/>
          </a:prstGeom>
          <a:noFill/>
          <a:ln/>
        </p:spPr>
        <p:txBody>
          <a:bodyPr wrap="square" lIns="0" tIns="0" rIns="0" bIns="0" rtlCol="0" anchor="ctr"/>
          <a:lstStyle/>
          <a:p>
            <a:pPr indent="0" marL="0">
              <a:buNone/>
            </a:pPr>
            <a:r>
              <a:rPr lang="en-US" sz="1800" b="1" dirty="0">
                <a:solidFill>
                  <a:srgbClr val="1F2933"/>
                </a:solidFill>
              </a:rPr>
              <a:t>결과</a:t>
            </a:r>
            <a:endParaRPr lang="en-US" sz="1800" dirty="0"/>
          </a:p>
        </p:txBody>
      </p:sp>
      <p:sp>
        <p:nvSpPr>
          <p:cNvPr id="10" name="Text 6"/>
          <p:cNvSpPr txBox="1"/>
          <p:nvPr/>
        </p:nvSpPr>
        <p:spPr>
          <a:xfrm>
            <a:off x="8092440" y="3246120"/>
            <a:ext cx="3319272" cy="25603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Pr(α) = 0.344</a:t>
            </a:r>
            <a:endParaRPr lang="en-US" sz="1500" dirty="0"/>
          </a:p>
          <a:p>
            <a:pPr marL="228600" indent="-228600">
              <a:spcAft>
                <a:spcPts val="800"/>
              </a:spcAft>
              <a:buSzPct val="100000"/>
              <a:buChar char="•"/>
            </a:pPr>
            <a:r>
              <a:rPr lang="en-US" sz="1500" dirty="0">
                <a:solidFill>
                  <a:srgbClr val="1F2933"/>
                </a:solidFill>
              </a:rPr>
              <a:t>Lˢ = −log 0.344 ≈ 1.07</a:t>
            </a:r>
            <a:endParaRPr lang="en-US" sz="1500" dirty="0"/>
          </a:p>
          <a:p>
            <a:pPr marL="228600" indent="-228600">
              <a:spcAft>
                <a:spcPts val="800"/>
              </a:spcAft>
              <a:buSzPct val="100000"/>
              <a:buChar char="•"/>
            </a:pPr>
            <a:r>
              <a:rPr lang="en-US" sz="1500" dirty="0">
                <a:solidFill>
                  <a:srgbClr val="1F2933"/>
                </a:solidFill>
              </a:rPr>
              <a:t>위반 0.656 중 0.576이 (1,1,1)에 집중: 펭귄인데 난다</a:t>
            </a:r>
            <a:endParaRPr lang="en-US" sz="1500" dirty="0"/>
          </a:p>
          <a:p>
            <a:pPr marL="228600" indent="-228600">
              <a:spcAft>
                <a:spcPts val="800"/>
              </a:spcAft>
              <a:buSzPct val="100000"/>
              <a:buChar char="•"/>
            </a:pPr>
            <a:r>
              <a:rPr lang="en-US" sz="1500" dirty="0">
                <a:solidFill>
                  <a:srgbClr val="1F2933"/>
                </a:solidFill>
              </a:rPr>
              <a:t>인수분해: Pr(α) = (1−p_P) + p_P·p_B·(1−p_F)</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모든 세계를 더하지 않아도 되는 이유: 세 가지 원리</a:t>
            </a:r>
            <a:endParaRPr lang="en-US" sz="3000" dirty="0"/>
          </a:p>
        </p:txBody>
      </p:sp>
      <p:pic>
        <p:nvPicPr>
          <p:cNvPr id="3" name="equation" descr="\Pr(\alpha) = \underbrace{(1 - p_P)}_{P=0} \cdot \underbrace{1}_{(2)} \quad + \quad \underbrace{p_P}_{P=1} \cdot \underbrace{p_B \,(1 - p_F)}_{(3)} \quad = \quad 0.2 + 0.144 = 0.344">    </p:cNvPr>
          <p:cNvPicPr>
            <a:picLocks noChangeAspect="1"/>
          </p:cNvPicPr>
          <p:nvPr/>
        </p:nvPicPr>
        <p:blipFill>
          <a:blip r:embed="rId1"/>
          <a:stretch>
            <a:fillRect/>
          </a:stretch>
        </p:blipFill>
        <p:spPr>
          <a:xfrm>
            <a:off x="1578161" y="1325880"/>
            <a:ext cx="9035374" cy="724791"/>
          </a:xfrm>
          <a:prstGeom prst="rect">
            <a:avLst/>
          </a:prstGeom>
        </p:spPr>
      </p:pic>
      <p:sp>
        <p:nvSpPr>
          <p:cNvPr id="4" name="card"/>
          <p:cNvSpPr/>
          <p:nvPr/>
        </p:nvSpPr>
        <p:spPr>
          <a:xfrm>
            <a:off x="548640" y="2697480"/>
            <a:ext cx="3520440" cy="2148840"/>
          </a:xfrm>
          <a:prstGeom prst="roundRect">
            <a:avLst>
              <a:gd name="adj" fmla="val 5106"/>
            </a:avLst>
          </a:prstGeom>
          <a:solidFill>
            <a:srgbClr val="F1F4F8"/>
          </a:solidFill>
          <a:ln w="12700">
            <a:solidFill>
              <a:srgbClr val="F1F4F8"/>
            </a:solidFill>
            <a:prstDash val="solid"/>
          </a:ln>
        </p:spPr>
      </p:sp>
      <p:sp>
        <p:nvSpPr>
          <p:cNvPr id="5" name="tag"/>
          <p:cNvSpPr/>
          <p:nvPr/>
        </p:nvSpPr>
        <p:spPr>
          <a:xfrm>
            <a:off x="777240" y="2926080"/>
            <a:ext cx="384048" cy="384048"/>
          </a:xfrm>
          <a:prstGeom prst="ellipse">
            <a:avLst/>
          </a:prstGeom>
          <a:solidFill>
            <a:srgbClr val="4A3AA7"/>
          </a:solidFill>
          <a:ln w="12700">
            <a:solidFill>
              <a:srgbClr val="4A3AA7"/>
            </a:solidFill>
            <a:prstDash val="solid"/>
          </a:ln>
        </p:spPr>
      </p:sp>
      <p:sp>
        <p:nvSpPr>
          <p:cNvPr id="6" name="Text 3"/>
          <p:cNvSpPr txBox="1"/>
          <p:nvPr/>
        </p:nvSpPr>
        <p:spPr>
          <a:xfrm>
            <a:off x="777240" y="2926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4"/>
          <p:cNvSpPr txBox="1"/>
          <p:nvPr/>
        </p:nvSpPr>
        <p:spPr>
          <a:xfrm>
            <a:off x="1280160" y="2898648"/>
            <a:ext cx="2606040" cy="438912"/>
          </a:xfrm>
          <a:prstGeom prst="rect">
            <a:avLst/>
          </a:prstGeom>
          <a:noFill/>
          <a:ln/>
        </p:spPr>
        <p:txBody>
          <a:bodyPr wrap="square" lIns="0" tIns="0" rIns="0" bIns="0" rtlCol="0" anchor="ctr"/>
          <a:lstStyle/>
          <a:p>
            <a:pPr indent="0" marL="0">
              <a:buNone/>
            </a:pPr>
            <a:r>
              <a:rPr lang="en-US" sz="1800" b="1" dirty="0">
                <a:solidFill>
                  <a:srgbClr val="1F2933"/>
                </a:solidFill>
              </a:rPr>
              <a:t>경우 나누기 (섀넌 분해)</a:t>
            </a:r>
            <a:endParaRPr lang="en-US" sz="1800" dirty="0"/>
          </a:p>
        </p:txBody>
      </p:sp>
      <p:sp>
        <p:nvSpPr>
          <p:cNvPr id="8" name="Text 5"/>
          <p:cNvSpPr txBox="1"/>
          <p:nvPr/>
        </p:nvSpPr>
        <p:spPr>
          <a:xfrm>
            <a:off x="777240" y="3429000"/>
            <a:ext cx="3063240" cy="128016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P=0과 P=1은 겹치지 않는다 → 각 경우의 확률을 더한다</a:t>
            </a:r>
            <a:endParaRPr lang="en-US" sz="1400" dirty="0"/>
          </a:p>
        </p:txBody>
      </p:sp>
      <p:sp>
        <p:nvSpPr>
          <p:cNvPr id="9" name="card"/>
          <p:cNvSpPr/>
          <p:nvPr/>
        </p:nvSpPr>
        <p:spPr>
          <a:xfrm>
            <a:off x="4297680" y="2697480"/>
            <a:ext cx="3520440" cy="2148840"/>
          </a:xfrm>
          <a:prstGeom prst="roundRect">
            <a:avLst>
              <a:gd name="adj" fmla="val 5106"/>
            </a:avLst>
          </a:prstGeom>
          <a:solidFill>
            <a:srgbClr val="F1F4F8"/>
          </a:solidFill>
          <a:ln w="12700">
            <a:solidFill>
              <a:srgbClr val="F1F4F8"/>
            </a:solidFill>
            <a:prstDash val="solid"/>
          </a:ln>
        </p:spPr>
      </p:sp>
      <p:sp>
        <p:nvSpPr>
          <p:cNvPr id="10" name="tag"/>
          <p:cNvSpPr/>
          <p:nvPr/>
        </p:nvSpPr>
        <p:spPr>
          <a:xfrm>
            <a:off x="4526280" y="2926080"/>
            <a:ext cx="384048" cy="384048"/>
          </a:xfrm>
          <a:prstGeom prst="ellipse">
            <a:avLst/>
          </a:prstGeom>
          <a:solidFill>
            <a:srgbClr val="2A78D6"/>
          </a:solidFill>
          <a:ln w="12700">
            <a:solidFill>
              <a:srgbClr val="2A78D6"/>
            </a:solidFill>
            <a:prstDash val="solid"/>
          </a:ln>
        </p:spPr>
      </p:sp>
      <p:sp>
        <p:nvSpPr>
          <p:cNvPr id="11" name="Text 8"/>
          <p:cNvSpPr txBox="1"/>
          <p:nvPr/>
        </p:nvSpPr>
        <p:spPr>
          <a:xfrm>
            <a:off x="4526280" y="2926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9"/>
          <p:cNvSpPr txBox="1"/>
          <p:nvPr/>
        </p:nvSpPr>
        <p:spPr>
          <a:xfrm>
            <a:off x="5029200" y="2898648"/>
            <a:ext cx="2606040" cy="438912"/>
          </a:xfrm>
          <a:prstGeom prst="rect">
            <a:avLst/>
          </a:prstGeom>
          <a:noFill/>
          <a:ln/>
        </p:spPr>
        <p:txBody>
          <a:bodyPr wrap="square" lIns="0" tIns="0" rIns="0" bIns="0" rtlCol="0" anchor="ctr"/>
          <a:lstStyle/>
          <a:p>
            <a:pPr indent="0" marL="0">
              <a:buNone/>
            </a:pPr>
            <a:r>
              <a:rPr lang="en-US" sz="1800" b="1" dirty="0">
                <a:solidFill>
                  <a:srgbClr val="1F2933"/>
                </a:solidFill>
              </a:rPr>
              <a:t>자유 변수는 사라진다</a:t>
            </a:r>
            <a:endParaRPr lang="en-US" sz="1800" dirty="0"/>
          </a:p>
        </p:txBody>
      </p:sp>
      <p:sp>
        <p:nvSpPr>
          <p:cNvPr id="13" name="Text 10"/>
          <p:cNvSpPr txBox="1"/>
          <p:nvPr/>
        </p:nvSpPr>
        <p:spPr>
          <a:xfrm>
            <a:off x="4526280" y="3429000"/>
            <a:ext cx="3063240" cy="128016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P=0이면 규칙이 자동으로 참 → B, F는 아무 값이나 → 합이 1</a:t>
            </a:r>
            <a:endParaRPr lang="en-US" sz="1400" dirty="0"/>
          </a:p>
        </p:txBody>
      </p:sp>
      <p:sp>
        <p:nvSpPr>
          <p:cNvPr id="14" name="card"/>
          <p:cNvSpPr/>
          <p:nvPr/>
        </p:nvSpPr>
        <p:spPr>
          <a:xfrm>
            <a:off x="8046720" y="2697480"/>
            <a:ext cx="3520440" cy="2148840"/>
          </a:xfrm>
          <a:prstGeom prst="roundRect">
            <a:avLst>
              <a:gd name="adj" fmla="val 5106"/>
            </a:avLst>
          </a:prstGeom>
          <a:solidFill>
            <a:srgbClr val="F1F4F8"/>
          </a:solidFill>
          <a:ln w="12700">
            <a:solidFill>
              <a:srgbClr val="F1F4F8"/>
            </a:solidFill>
            <a:prstDash val="solid"/>
          </a:ln>
        </p:spPr>
      </p:sp>
      <p:sp>
        <p:nvSpPr>
          <p:cNvPr id="15" name="tag"/>
          <p:cNvSpPr/>
          <p:nvPr/>
        </p:nvSpPr>
        <p:spPr>
          <a:xfrm>
            <a:off x="8275320" y="2926080"/>
            <a:ext cx="384048" cy="384048"/>
          </a:xfrm>
          <a:prstGeom prst="ellipse">
            <a:avLst/>
          </a:prstGeom>
          <a:solidFill>
            <a:srgbClr val="EB6834"/>
          </a:solidFill>
          <a:ln w="12700">
            <a:solidFill>
              <a:srgbClr val="EB6834"/>
            </a:solidFill>
            <a:prstDash val="solid"/>
          </a:ln>
        </p:spPr>
      </p:sp>
      <p:sp>
        <p:nvSpPr>
          <p:cNvPr id="16" name="Text 13"/>
          <p:cNvSpPr txBox="1"/>
          <p:nvPr/>
        </p:nvSpPr>
        <p:spPr>
          <a:xfrm>
            <a:off x="8275320" y="2926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4"/>
          <p:cNvSpPr txBox="1"/>
          <p:nvPr/>
        </p:nvSpPr>
        <p:spPr>
          <a:xfrm>
            <a:off x="8778240" y="2898648"/>
            <a:ext cx="2606040" cy="438912"/>
          </a:xfrm>
          <a:prstGeom prst="rect">
            <a:avLst/>
          </a:prstGeom>
          <a:noFill/>
          <a:ln/>
        </p:spPr>
        <p:txBody>
          <a:bodyPr wrap="square" lIns="0" tIns="0" rIns="0" bIns="0" rtlCol="0" anchor="ctr"/>
          <a:lstStyle/>
          <a:p>
            <a:pPr indent="0" marL="0">
              <a:buNone/>
            </a:pPr>
            <a:r>
              <a:rPr lang="en-US" sz="1800" b="1" dirty="0">
                <a:solidFill>
                  <a:srgbClr val="1F2933"/>
                </a:solidFill>
              </a:rPr>
              <a:t>독립이면 곱한다</a:t>
            </a:r>
            <a:endParaRPr lang="en-US" sz="1800" dirty="0"/>
          </a:p>
        </p:txBody>
      </p:sp>
      <p:sp>
        <p:nvSpPr>
          <p:cNvPr id="18" name="Text 15"/>
          <p:cNvSpPr txBox="1"/>
          <p:nvPr/>
        </p:nvSpPr>
        <p:spPr>
          <a:xfrm>
            <a:off x="8275320" y="3429000"/>
            <a:ext cx="3063240" cy="128016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P=1이면 B ∧ ¬F만 남음 → Pr(B)·Pr(¬F) = p_B(1−p_F)</a:t>
            </a:r>
            <a:endParaRPr lang="en-US" sz="1400" dirty="0"/>
          </a:p>
        </p:txBody>
      </p:sp>
      <p:sp>
        <p:nvSpPr>
          <p:cNvPr id="19" name="Text 16"/>
          <p:cNvSpPr txBox="1"/>
          <p:nvPr/>
        </p:nvSpPr>
        <p:spPr>
          <a:xfrm>
            <a:off x="548640" y="5074920"/>
            <a:ext cx="11094415" cy="822960"/>
          </a:xfrm>
          <a:prstGeom prst="rect">
            <a:avLst/>
          </a:prstGeom>
          <a:noFill/>
          <a:ln/>
        </p:spPr>
        <p:txBody>
          <a:bodyPr wrap="square" lIns="0" tIns="0" rIns="0" bIns="0" rtlCol="0" anchor="t"/>
          <a:lstStyle/>
          <a:p>
            <a:pPr indent="0" marL="0">
              <a:spcAft>
                <a:spcPts val="600"/>
              </a:spcAft>
              <a:buNone/>
            </a:pPr>
            <a:r>
              <a:rPr lang="en-US" sz="1500" b="1" dirty="0">
                <a:solidFill>
                  <a:srgbClr val="52606D"/>
                </a:solidFill>
              </a:rPr>
              <a:t>같은 원리로: </a:t>
            </a:r>
            <a:pPr indent="0" marL="0">
              <a:spcAft>
                <a:spcPts val="600"/>
              </a:spcAft>
              <a:buNone/>
            </a:pPr>
            <a:r>
              <a:rPr lang="en-US" sz="1500" dirty="0">
                <a:solidFill>
                  <a:srgbClr val="52606D"/>
                </a:solidFill>
              </a:rPr>
              <a:t>exactly-one은 "어느 변수가 참인가"로 n가지 경우(원리 1) × 독립 곱(원리 3), 계층 제약은 "어느 세부 클래스가 참인가"로 100가지 경우 → 닫힌 형태. 지식 컴파일(SDD)은 이 원리를 회로로 자동화한 것.</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기울기는 깨진 규칙을 골라 교정한다</a:t>
            </a:r>
            <a:endParaRPr lang="en-US" sz="3000" dirty="0"/>
          </a:p>
        </p:txBody>
      </p:sp>
      <p:pic>
        <p:nvPicPr>
          <p:cNvPr id="3" name="equation" descr="\Pr(\alpha) = (1 - p_P) + p_P\, p_B\, (1 - p_F)">    </p:cNvPr>
          <p:cNvPicPr>
            <a:picLocks noChangeAspect="1"/>
          </p:cNvPicPr>
          <p:nvPr/>
        </p:nvPicPr>
        <p:blipFill>
          <a:blip r:embed="rId1"/>
          <a:stretch>
            <a:fillRect/>
          </a:stretch>
        </p:blipFill>
        <p:spPr>
          <a:xfrm>
            <a:off x="548640" y="1325880"/>
            <a:ext cx="4527589" cy="304740"/>
          </a:xfrm>
          <a:prstGeom prst="rect">
            <a:avLst/>
          </a:prstGeom>
        </p:spPr>
      </p:pic>
      <p:sp>
        <p:nvSpPr>
          <p:cNvPr id="4" name="card"/>
          <p:cNvSpPr/>
          <p:nvPr/>
        </p:nvSpPr>
        <p:spPr>
          <a:xfrm>
            <a:off x="548640" y="2194560"/>
            <a:ext cx="3566160" cy="1920240"/>
          </a:xfrm>
          <a:prstGeom prst="roundRect">
            <a:avLst>
              <a:gd name="adj" fmla="val 5714"/>
            </a:avLst>
          </a:prstGeom>
          <a:solidFill>
            <a:srgbClr val="E6F0FB"/>
          </a:solidFill>
          <a:ln w="12700">
            <a:solidFill>
              <a:srgbClr val="E6F0FB"/>
            </a:solidFill>
            <a:prstDash val="solid"/>
          </a:ln>
        </p:spPr>
      </p:sp>
      <p:pic>
        <p:nvPicPr>
          <p:cNvPr id="5" name="equation" descr="\frac{\partial \Pr}{\partial p_B} = p_P(1-p_F) = +0.16">    </p:cNvPr>
          <p:cNvPicPr>
            <a:picLocks noChangeAspect="1"/>
          </p:cNvPicPr>
          <p:nvPr/>
        </p:nvPicPr>
        <p:blipFill>
          <a:blip r:embed="rId2"/>
          <a:stretch>
            <a:fillRect/>
          </a:stretch>
        </p:blipFill>
        <p:spPr>
          <a:xfrm>
            <a:off x="777240" y="2377440"/>
            <a:ext cx="2634380" cy="490308"/>
          </a:xfrm>
          <a:prstGeom prst="rect">
            <a:avLst/>
          </a:prstGeom>
        </p:spPr>
      </p:pic>
      <p:sp>
        <p:nvSpPr>
          <p:cNvPr id="6" name="Text 2"/>
          <p:cNvSpPr txBox="1"/>
          <p:nvPr/>
        </p:nvSpPr>
        <p:spPr>
          <a:xfrm>
            <a:off x="777240" y="3429000"/>
            <a:ext cx="3108960" cy="457200"/>
          </a:xfrm>
          <a:prstGeom prst="rect">
            <a:avLst/>
          </a:prstGeom>
          <a:noFill/>
          <a:ln/>
        </p:spPr>
        <p:txBody>
          <a:bodyPr wrap="square" lIns="0" tIns="0" rIns="0" bIns="0" rtlCol="0" anchor="ctr"/>
          <a:lstStyle/>
          <a:p>
            <a:pPr indent="0" marL="0">
              <a:buNone/>
            </a:pPr>
            <a:r>
              <a:rPr lang="en-US" sz="1800" b="1" dirty="0">
                <a:solidFill>
                  <a:srgbClr val="2A78D6"/>
                </a:solidFill>
              </a:rPr>
              <a:t>p_B 약하게 ↑</a:t>
            </a:r>
            <a:endParaRPr lang="en-US" sz="1800" dirty="0"/>
          </a:p>
        </p:txBody>
      </p:sp>
      <p:sp>
        <p:nvSpPr>
          <p:cNvPr id="7" name="card"/>
          <p:cNvSpPr/>
          <p:nvPr/>
        </p:nvSpPr>
        <p:spPr>
          <a:xfrm>
            <a:off x="4297680" y="2194560"/>
            <a:ext cx="3566160" cy="1920240"/>
          </a:xfrm>
          <a:prstGeom prst="roundRect">
            <a:avLst>
              <a:gd name="adj" fmla="val 5714"/>
            </a:avLst>
          </a:prstGeom>
          <a:solidFill>
            <a:srgbClr val="FDEEE6"/>
          </a:solidFill>
          <a:ln w="12700">
            <a:solidFill>
              <a:srgbClr val="FDEEE6"/>
            </a:solidFill>
            <a:prstDash val="solid"/>
          </a:ln>
        </p:spPr>
      </p:sp>
      <p:pic>
        <p:nvPicPr>
          <p:cNvPr id="8" name="equation" descr="\frac{\partial \Pr}{\partial p_F} = -p_P\, p_B = -0.72">    </p:cNvPr>
          <p:cNvPicPr>
            <a:picLocks noChangeAspect="1"/>
          </p:cNvPicPr>
          <p:nvPr/>
        </p:nvPicPr>
        <p:blipFill>
          <a:blip r:embed="rId3"/>
          <a:stretch>
            <a:fillRect/>
          </a:stretch>
        </p:blipFill>
        <p:spPr>
          <a:xfrm>
            <a:off x="4526280" y="2377440"/>
            <a:ext cx="2300096" cy="490308"/>
          </a:xfrm>
          <a:prstGeom prst="rect">
            <a:avLst/>
          </a:prstGeom>
        </p:spPr>
      </p:pic>
      <p:sp>
        <p:nvSpPr>
          <p:cNvPr id="9" name="Text 4"/>
          <p:cNvSpPr txBox="1"/>
          <p:nvPr/>
        </p:nvSpPr>
        <p:spPr>
          <a:xfrm>
            <a:off x="4526280" y="3429000"/>
            <a:ext cx="3108960" cy="457200"/>
          </a:xfrm>
          <a:prstGeom prst="rect">
            <a:avLst/>
          </a:prstGeom>
          <a:noFill/>
          <a:ln/>
        </p:spPr>
        <p:txBody>
          <a:bodyPr wrap="square" lIns="0" tIns="0" rIns="0" bIns="0" rtlCol="0" anchor="ctr"/>
          <a:lstStyle/>
          <a:p>
            <a:pPr indent="0" marL="0">
              <a:buNone/>
            </a:pPr>
            <a:r>
              <a:rPr lang="en-US" sz="1800" b="1" dirty="0">
                <a:solidFill>
                  <a:srgbClr val="EB6834"/>
                </a:solidFill>
              </a:rPr>
              <a:t>p_F 크게 ↓</a:t>
            </a:r>
            <a:endParaRPr lang="en-US" sz="1800" dirty="0"/>
          </a:p>
        </p:txBody>
      </p:sp>
      <p:sp>
        <p:nvSpPr>
          <p:cNvPr id="10" name="card"/>
          <p:cNvSpPr/>
          <p:nvPr/>
        </p:nvSpPr>
        <p:spPr>
          <a:xfrm>
            <a:off x="8046720" y="2194560"/>
            <a:ext cx="3566160" cy="1920240"/>
          </a:xfrm>
          <a:prstGeom prst="roundRect">
            <a:avLst>
              <a:gd name="adj" fmla="val 5714"/>
            </a:avLst>
          </a:prstGeom>
          <a:solidFill>
            <a:srgbClr val="FDEEE6"/>
          </a:solidFill>
          <a:ln w="12700">
            <a:solidFill>
              <a:srgbClr val="FDEEE6"/>
            </a:solidFill>
            <a:prstDash val="solid"/>
          </a:ln>
        </p:spPr>
      </p:sp>
      <p:pic>
        <p:nvPicPr>
          <p:cNvPr id="11" name="equation" descr="\frac{\partial \Pr}{\partial p_P} = -1 + p_B(1-p_F) = -0.82">    </p:cNvPr>
          <p:cNvPicPr>
            <a:picLocks noChangeAspect="1"/>
          </p:cNvPicPr>
          <p:nvPr/>
        </p:nvPicPr>
        <p:blipFill>
          <a:blip r:embed="rId4"/>
          <a:stretch>
            <a:fillRect/>
          </a:stretch>
        </p:blipFill>
        <p:spPr>
          <a:xfrm>
            <a:off x="8275320" y="2377440"/>
            <a:ext cx="3108960" cy="480041"/>
          </a:xfrm>
          <a:prstGeom prst="rect">
            <a:avLst/>
          </a:prstGeom>
        </p:spPr>
      </p:pic>
      <p:sp>
        <p:nvSpPr>
          <p:cNvPr id="12" name="Text 6"/>
          <p:cNvSpPr txBox="1"/>
          <p:nvPr/>
        </p:nvSpPr>
        <p:spPr>
          <a:xfrm>
            <a:off x="8275320" y="3429000"/>
            <a:ext cx="3108960" cy="457200"/>
          </a:xfrm>
          <a:prstGeom prst="rect">
            <a:avLst/>
          </a:prstGeom>
          <a:noFill/>
          <a:ln/>
        </p:spPr>
        <p:txBody>
          <a:bodyPr wrap="square" lIns="0" tIns="0" rIns="0" bIns="0" rtlCol="0" anchor="ctr"/>
          <a:lstStyle/>
          <a:p>
            <a:pPr indent="0" marL="0">
              <a:buNone/>
            </a:pPr>
            <a:r>
              <a:rPr lang="en-US" sz="1800" b="1" dirty="0">
                <a:solidFill>
                  <a:srgbClr val="EB6834"/>
                </a:solidFill>
              </a:rPr>
              <a:t>p_P 크게 ↓</a:t>
            </a:r>
            <a:endParaRPr lang="en-US" sz="1800" dirty="0"/>
          </a:p>
        </p:txBody>
      </p:sp>
      <p:sp>
        <p:nvSpPr>
          <p:cNvPr id="13" name="Text 7"/>
          <p:cNvSpPr txBox="1"/>
          <p:nvPr/>
        </p:nvSpPr>
        <p:spPr>
          <a:xfrm>
            <a:off x="548640" y="4389120"/>
            <a:ext cx="11094415" cy="173736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∂Pr/∂p_F = −p_P·p_B : "펭귄이고 새라고 믿을수록 난다는 믿음을 강하게 내려라" — 전건 긍정(modus ponens)의 미분 가능한 형태</a:t>
            </a:r>
            <a:endParaRPr lang="en-US" sz="1500" dirty="0"/>
          </a:p>
          <a:p>
            <a:pPr marL="228600" indent="-228600">
              <a:spcAft>
                <a:spcPts val="800"/>
              </a:spcAft>
              <a:buSzPct val="100000"/>
              <a:buChar char="•"/>
            </a:pPr>
            <a:r>
              <a:rPr lang="en-US" sz="1500" dirty="0">
                <a:solidFill>
                  <a:srgbClr val="1F2933"/>
                </a:solidFill>
              </a:rPr>
              <a:t>이미 거의 만족된 P → B (p_B = 0.9)는 기울기가 작고, 실제로 깨진 P → ¬F 쪽에 기울기가 집중된다</a:t>
            </a:r>
            <a:endParaRPr lang="en-US" sz="1500" dirty="0"/>
          </a:p>
          <a:p>
            <a:pPr lvl="1" marL="457200" indent="-228600">
              <a:spcAft>
                <a:spcPts val="800"/>
              </a:spcAft>
              <a:buSzPct val="100000"/>
              <a:buChar char="•"/>
            </a:pPr>
            <a:r>
              <a:rPr lang="en-US" sz="1400" dirty="0">
                <a:solidFill>
                  <a:srgbClr val="52606D"/>
                </a:solidFill>
              </a:rPr>
              <a:t>손실 기준으로는 ∂L/∂p = −(∂Pr/∂p)/Pr = (−0.47, +2.09, +2.38): 크기는 1/Pr ≈ 2.9배, 경사하강 방향은 동일</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의미 손실만으로 경사하강하면: 두 갈래 해소</a:t>
            </a:r>
            <a:endParaRPr lang="en-US" sz="3000" dirty="0"/>
          </a:p>
        </p:txBody>
      </p:sp>
      <p:graphicFrame>
        <p:nvGraphicFramePr>
          <p:cNvPr id="3" name="Chart 0" descr=""/>
          <p:cNvGraphicFramePr/>
          <p:nvPr/>
        </p:nvGraphicFramePr>
        <p:xfrm>
          <a:off x="548640" y="1325880"/>
          <a:ext cx="6949440" cy="4617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863840" y="1325880"/>
            <a:ext cx="3776472" cy="4617720"/>
          </a:xfrm>
          <a:prstGeom prst="roundRect">
            <a:avLst>
              <a:gd name="adj" fmla="val 2906"/>
            </a:avLst>
          </a:prstGeom>
          <a:solidFill>
            <a:srgbClr val="FDEEE6"/>
          </a:solidFill>
          <a:ln w="12700">
            <a:solidFill>
              <a:srgbClr val="FDEEE6"/>
            </a:solidFill>
            <a:prstDash val="solid"/>
          </a:ln>
        </p:spPr>
      </p:sp>
      <p:sp>
        <p:nvSpPr>
          <p:cNvPr id="5" name="tag"/>
          <p:cNvSpPr/>
          <p:nvPr/>
        </p:nvSpPr>
        <p:spPr>
          <a:xfrm>
            <a:off x="8092440" y="1554480"/>
            <a:ext cx="384048" cy="384048"/>
          </a:xfrm>
          <a:prstGeom prst="ellipse">
            <a:avLst/>
          </a:prstGeom>
          <a:solidFill>
            <a:srgbClr val="EB6834"/>
          </a:solidFill>
          <a:ln w="12700">
            <a:solidFill>
              <a:srgbClr val="EB6834"/>
            </a:solidFill>
            <a:prstDash val="solid"/>
          </a:ln>
        </p:spPr>
      </p:sp>
      <p:sp>
        <p:nvSpPr>
          <p:cNvPr id="6" name="Text 3"/>
          <p:cNvSpPr txBox="1"/>
          <p:nvPr/>
        </p:nvSpPr>
        <p:spPr>
          <a:xfrm>
            <a:off x="8092440"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S</a:t>
            </a:r>
            <a:endParaRPr lang="en-US" sz="1300" dirty="0"/>
          </a:p>
        </p:txBody>
      </p:sp>
      <p:sp>
        <p:nvSpPr>
          <p:cNvPr id="7" name="Text 4"/>
          <p:cNvSpPr txBox="1"/>
          <p:nvPr/>
        </p:nvSpPr>
        <p:spPr>
          <a:xfrm>
            <a:off x="8595360" y="1527048"/>
            <a:ext cx="2862072" cy="438912"/>
          </a:xfrm>
          <a:prstGeom prst="rect">
            <a:avLst/>
          </a:prstGeom>
          <a:noFill/>
          <a:ln/>
        </p:spPr>
        <p:txBody>
          <a:bodyPr wrap="square" lIns="0" tIns="0" rIns="0" bIns="0" rtlCol="0" anchor="ctr"/>
          <a:lstStyle/>
          <a:p>
            <a:pPr indent="0" marL="0">
              <a:buNone/>
            </a:pPr>
            <a:r>
              <a:rPr lang="en-US" sz="1800" b="1" dirty="0">
                <a:solidFill>
                  <a:srgbClr val="1F2933"/>
                </a:solidFill>
              </a:rPr>
              <a:t>관찰</a:t>
            </a:r>
            <a:endParaRPr lang="en-US" sz="1800" dirty="0"/>
          </a:p>
        </p:txBody>
      </p:sp>
      <p:sp>
        <p:nvSpPr>
          <p:cNvPr id="8" name="Text 5"/>
          <p:cNvSpPr txBox="1"/>
          <p:nvPr/>
        </p:nvSpPr>
        <p:spPr>
          <a:xfrm>
            <a:off x="8092440" y="2057400"/>
            <a:ext cx="3319272" cy="374904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Lˢ : 1.07 → 0.09 (30 스텝)</a:t>
            </a:r>
            <a:endParaRPr lang="en-US" sz="1500" dirty="0"/>
          </a:p>
          <a:p>
            <a:pPr marL="228600" indent="-228600">
              <a:spcAft>
                <a:spcPts val="800"/>
              </a:spcAft>
              <a:buSzPct val="100000"/>
              <a:buChar char="•"/>
            </a:pPr>
            <a:r>
              <a:rPr lang="en-US" sz="1500" dirty="0">
                <a:solidFill>
                  <a:srgbClr val="1F2933"/>
                </a:solidFill>
              </a:rPr>
              <a:t>p_F : 0.80 → 0.34</a:t>
            </a:r>
            <a:endParaRPr lang="en-US" sz="1500" dirty="0"/>
          </a:p>
          <a:p>
            <a:pPr marL="228600" indent="-228600">
              <a:spcAft>
                <a:spcPts val="800"/>
              </a:spcAft>
              <a:buSzPct val="100000"/>
              <a:buChar char="•"/>
            </a:pPr>
            <a:r>
              <a:rPr lang="en-US" sz="1500" dirty="0">
                <a:solidFill>
                  <a:srgbClr val="1F2933"/>
                </a:solidFill>
              </a:rPr>
              <a:t>p_P : 0.80 → 0.21</a:t>
            </a:r>
            <a:endParaRPr lang="en-US" sz="1500" dirty="0"/>
          </a:p>
          <a:p>
            <a:pPr marL="228600" indent="-228600">
              <a:spcAft>
                <a:spcPts val="800"/>
              </a:spcAft>
              <a:buSzPct val="100000"/>
              <a:buChar char="•"/>
            </a:pPr>
            <a:r>
              <a:rPr lang="en-US" sz="1500" dirty="0">
                <a:solidFill>
                  <a:srgbClr val="1F2933"/>
                </a:solidFill>
              </a:rPr>
              <a:t>p_B : 0.90 → 0.93</a:t>
            </a:r>
            <a:endParaRPr lang="en-US" sz="1500" dirty="0"/>
          </a:p>
          <a:p>
            <a:pPr marL="228600" indent="-228600">
              <a:spcAft>
                <a:spcPts val="800"/>
              </a:spcAft>
              <a:buSzPct val="100000"/>
              <a:buChar char="•"/>
            </a:pPr>
            <a:r>
              <a:rPr lang="en-US" sz="1500" dirty="0">
                <a:solidFill>
                  <a:srgbClr val="1F2933"/>
                </a:solidFill>
              </a:rPr>
              <a:t>모순 해소의 방향은 데이터(CE)와의 균형이 결정</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교차 엔트로피와 의미 손실의 역할 분담</a:t>
            </a:r>
            <a:endParaRPr lang="en-US" sz="3000" dirty="0"/>
          </a:p>
        </p:txBody>
      </p:sp>
      <p:pic>
        <p:nvPicPr>
          <p:cNvPr id="3" name="equation" descr="\mathcal{L} \;=\; \underbrace{\mathcal{L}_{\mathrm{CE}}(\mathbf{z}, y)}_{\text{labeled only}} \;+\; \lambda \cdot \underbrace{L^{s}(\alpha, \sigma(\mathbf{z}))}_{\text{every example}}">    </p:cNvPr>
          <p:cNvPicPr>
            <a:picLocks noChangeAspect="1"/>
          </p:cNvPicPr>
          <p:nvPr/>
        </p:nvPicPr>
        <p:blipFill>
          <a:blip r:embed="rId1"/>
          <a:stretch>
            <a:fillRect/>
          </a:stretch>
        </p:blipFill>
        <p:spPr>
          <a:xfrm>
            <a:off x="3522968" y="1371600"/>
            <a:ext cx="5145759" cy="896842"/>
          </a:xfrm>
          <a:prstGeom prst="rect">
            <a:avLst/>
          </a:prstGeom>
        </p:spPr>
      </p:pic>
      <p:sp>
        <p:nvSpPr>
          <p:cNvPr id="4" name="card"/>
          <p:cNvSpPr/>
          <p:nvPr/>
        </p:nvSpPr>
        <p:spPr>
          <a:xfrm>
            <a:off x="548640" y="3063240"/>
            <a:ext cx="3520440" cy="2194560"/>
          </a:xfrm>
          <a:prstGeom prst="roundRect">
            <a:avLst>
              <a:gd name="adj" fmla="val 5000"/>
            </a:avLst>
          </a:prstGeom>
          <a:solidFill>
            <a:srgbClr val="E6F0FB"/>
          </a:solidFill>
          <a:ln w="12700">
            <a:solidFill>
              <a:srgbClr val="E6F0FB"/>
            </a:solidFill>
            <a:prstDash val="solid"/>
          </a:ln>
        </p:spPr>
      </p:sp>
      <p:sp>
        <p:nvSpPr>
          <p:cNvPr id="5" name="tag"/>
          <p:cNvSpPr/>
          <p:nvPr/>
        </p:nvSpPr>
        <p:spPr>
          <a:xfrm>
            <a:off x="777240" y="3291840"/>
            <a:ext cx="384048" cy="384048"/>
          </a:xfrm>
          <a:prstGeom prst="ellipse">
            <a:avLst/>
          </a:prstGeom>
          <a:solidFill>
            <a:srgbClr val="2A78D6"/>
          </a:solidFill>
          <a:ln w="12700">
            <a:solidFill>
              <a:srgbClr val="2A78D6"/>
            </a:solidFill>
            <a:prstDash val="solid"/>
          </a:ln>
        </p:spPr>
      </p:sp>
      <p:sp>
        <p:nvSpPr>
          <p:cNvPr id="6" name="Text 3"/>
          <p:cNvSpPr txBox="1"/>
          <p:nvPr/>
        </p:nvSpPr>
        <p:spPr>
          <a:xfrm>
            <a:off x="777240" y="3291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N</a:t>
            </a:r>
            <a:endParaRPr lang="en-US" sz="1300" dirty="0"/>
          </a:p>
        </p:txBody>
      </p:sp>
      <p:sp>
        <p:nvSpPr>
          <p:cNvPr id="7" name="Text 4"/>
          <p:cNvSpPr txBox="1"/>
          <p:nvPr/>
        </p:nvSpPr>
        <p:spPr>
          <a:xfrm>
            <a:off x="1280160" y="3264408"/>
            <a:ext cx="2606040" cy="438912"/>
          </a:xfrm>
          <a:prstGeom prst="rect">
            <a:avLst/>
          </a:prstGeom>
          <a:noFill/>
          <a:ln/>
        </p:spPr>
        <p:txBody>
          <a:bodyPr wrap="square" lIns="0" tIns="0" rIns="0" bIns="0" rtlCol="0" anchor="ctr"/>
          <a:lstStyle/>
          <a:p>
            <a:pPr indent="0" marL="0">
              <a:buNone/>
            </a:pPr>
            <a:r>
              <a:rPr lang="en-US" sz="1800" b="1" dirty="0">
                <a:solidFill>
                  <a:srgbClr val="1F2933"/>
                </a:solidFill>
              </a:rPr>
              <a:t>CE: 무엇이 정답인가</a:t>
            </a:r>
            <a:endParaRPr lang="en-US" sz="1800" dirty="0"/>
          </a:p>
        </p:txBody>
      </p:sp>
      <p:sp>
        <p:nvSpPr>
          <p:cNvPr id="8" name="Text 5"/>
          <p:cNvSpPr txBox="1"/>
          <p:nvPr/>
        </p:nvSpPr>
        <p:spPr>
          <a:xfrm>
            <a:off x="777240" y="3794760"/>
            <a:ext cx="3063240" cy="13258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라벨 있는 데이터에만</a:t>
            </a:r>
            <a:endParaRPr lang="en-US" sz="1500" dirty="0"/>
          </a:p>
          <a:p>
            <a:pPr marL="228600" indent="-228600">
              <a:spcAft>
                <a:spcPts val="800"/>
              </a:spcAft>
              <a:buSzPct val="100000"/>
              <a:buChar char="•"/>
            </a:pPr>
            <a:r>
              <a:rPr lang="en-US" sz="1500" dirty="0">
                <a:solidFill>
                  <a:srgbClr val="1F2933"/>
                </a:solidFill>
              </a:rPr>
              <a:t>정답 방향을 지시</a:t>
            </a:r>
            <a:endParaRPr lang="en-US" sz="1500" dirty="0"/>
          </a:p>
        </p:txBody>
      </p:sp>
      <p:sp>
        <p:nvSpPr>
          <p:cNvPr id="9" name="card"/>
          <p:cNvSpPr/>
          <p:nvPr/>
        </p:nvSpPr>
        <p:spPr>
          <a:xfrm>
            <a:off x="4297680" y="3063240"/>
            <a:ext cx="3520440" cy="2194560"/>
          </a:xfrm>
          <a:prstGeom prst="roundRect">
            <a:avLst>
              <a:gd name="adj" fmla="val 5000"/>
            </a:avLst>
          </a:prstGeom>
          <a:solidFill>
            <a:srgbClr val="FDEEE6"/>
          </a:solidFill>
          <a:ln w="12700">
            <a:solidFill>
              <a:srgbClr val="FDEEE6"/>
            </a:solidFill>
            <a:prstDash val="solid"/>
          </a:ln>
        </p:spPr>
      </p:sp>
      <p:sp>
        <p:nvSpPr>
          <p:cNvPr id="10" name="tag"/>
          <p:cNvSpPr/>
          <p:nvPr/>
        </p:nvSpPr>
        <p:spPr>
          <a:xfrm>
            <a:off x="4526280" y="3291840"/>
            <a:ext cx="384048" cy="384048"/>
          </a:xfrm>
          <a:prstGeom prst="ellipse">
            <a:avLst/>
          </a:prstGeom>
          <a:solidFill>
            <a:srgbClr val="EB6834"/>
          </a:solidFill>
          <a:ln w="12700">
            <a:solidFill>
              <a:srgbClr val="EB6834"/>
            </a:solidFill>
            <a:prstDash val="solid"/>
          </a:ln>
        </p:spPr>
      </p:sp>
      <p:sp>
        <p:nvSpPr>
          <p:cNvPr id="11" name="Text 8"/>
          <p:cNvSpPr txBox="1"/>
          <p:nvPr/>
        </p:nvSpPr>
        <p:spPr>
          <a:xfrm>
            <a:off x="4526280" y="3291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S</a:t>
            </a:r>
            <a:endParaRPr lang="en-US" sz="1300" dirty="0"/>
          </a:p>
        </p:txBody>
      </p:sp>
      <p:sp>
        <p:nvSpPr>
          <p:cNvPr id="12" name="Text 9"/>
          <p:cNvSpPr txBox="1"/>
          <p:nvPr/>
        </p:nvSpPr>
        <p:spPr>
          <a:xfrm>
            <a:off x="5029200" y="3264408"/>
            <a:ext cx="2606040" cy="438912"/>
          </a:xfrm>
          <a:prstGeom prst="rect">
            <a:avLst/>
          </a:prstGeom>
          <a:noFill/>
          <a:ln/>
        </p:spPr>
        <p:txBody>
          <a:bodyPr wrap="square" lIns="0" tIns="0" rIns="0" bIns="0" rtlCol="0" anchor="ctr"/>
          <a:lstStyle/>
          <a:p>
            <a:pPr indent="0" marL="0">
              <a:buNone/>
            </a:pPr>
            <a:r>
              <a:rPr lang="en-US" sz="1800" b="1" dirty="0">
                <a:solidFill>
                  <a:srgbClr val="1F2933"/>
                </a:solidFill>
              </a:rPr>
              <a:t>Lˢ: 무엇이 가능한가</a:t>
            </a:r>
            <a:endParaRPr lang="en-US" sz="1800" dirty="0"/>
          </a:p>
        </p:txBody>
      </p:sp>
      <p:sp>
        <p:nvSpPr>
          <p:cNvPr id="13" name="Text 10"/>
          <p:cNvSpPr txBox="1"/>
          <p:nvPr/>
        </p:nvSpPr>
        <p:spPr>
          <a:xfrm>
            <a:off x="4526280" y="3794760"/>
            <a:ext cx="3063240" cy="13258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모든 데이터에</a:t>
            </a:r>
            <a:endParaRPr lang="en-US" sz="1500" dirty="0"/>
          </a:p>
          <a:p>
            <a:pPr marL="228600" indent="-228600">
              <a:spcAft>
                <a:spcPts val="800"/>
              </a:spcAft>
              <a:buSzPct val="100000"/>
              <a:buChar char="•"/>
            </a:pPr>
            <a:r>
              <a:rPr lang="en-US" sz="1500" dirty="0">
                <a:solidFill>
                  <a:srgbClr val="1F2933"/>
                </a:solidFill>
              </a:rPr>
              <a:t>정답을 모른 채 정합성만 강제</a:t>
            </a:r>
            <a:endParaRPr lang="en-US" sz="1500" dirty="0"/>
          </a:p>
        </p:txBody>
      </p:sp>
      <p:sp>
        <p:nvSpPr>
          <p:cNvPr id="14" name="card"/>
          <p:cNvSpPr/>
          <p:nvPr/>
        </p:nvSpPr>
        <p:spPr>
          <a:xfrm>
            <a:off x="8046720" y="3063240"/>
            <a:ext cx="3593592" cy="2194560"/>
          </a:xfrm>
          <a:prstGeom prst="roundRect">
            <a:avLst>
              <a:gd name="adj" fmla="val 5000"/>
            </a:avLst>
          </a:prstGeom>
          <a:solidFill>
            <a:srgbClr val="F1F4F8"/>
          </a:solidFill>
          <a:ln w="12700">
            <a:solidFill>
              <a:srgbClr val="F1F4F8"/>
            </a:solidFill>
            <a:prstDash val="solid"/>
          </a:ln>
        </p:spPr>
      </p:sp>
      <p:sp>
        <p:nvSpPr>
          <p:cNvPr id="15" name="tag"/>
          <p:cNvSpPr/>
          <p:nvPr/>
        </p:nvSpPr>
        <p:spPr>
          <a:xfrm>
            <a:off x="8275320" y="3291840"/>
            <a:ext cx="384048" cy="384048"/>
          </a:xfrm>
          <a:prstGeom prst="ellipse">
            <a:avLst/>
          </a:prstGeom>
          <a:solidFill>
            <a:srgbClr val="4A3AA7"/>
          </a:solidFill>
          <a:ln w="12700">
            <a:solidFill>
              <a:srgbClr val="4A3AA7"/>
            </a:solidFill>
            <a:prstDash val="solid"/>
          </a:ln>
        </p:spPr>
      </p:sp>
      <p:sp>
        <p:nvSpPr>
          <p:cNvPr id="16" name="Text 13"/>
          <p:cNvSpPr txBox="1"/>
          <p:nvPr/>
        </p:nvSpPr>
        <p:spPr>
          <a:xfrm>
            <a:off x="8275320" y="32918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λ</a:t>
            </a:r>
            <a:endParaRPr lang="en-US" sz="1300" dirty="0"/>
          </a:p>
        </p:txBody>
      </p:sp>
      <p:sp>
        <p:nvSpPr>
          <p:cNvPr id="17" name="Text 14"/>
          <p:cNvSpPr txBox="1"/>
          <p:nvPr/>
        </p:nvSpPr>
        <p:spPr>
          <a:xfrm>
            <a:off x="8778240" y="3264408"/>
            <a:ext cx="2679192" cy="438912"/>
          </a:xfrm>
          <a:prstGeom prst="rect">
            <a:avLst/>
          </a:prstGeom>
          <a:noFill/>
          <a:ln/>
        </p:spPr>
        <p:txBody>
          <a:bodyPr wrap="square" lIns="0" tIns="0" rIns="0" bIns="0" rtlCol="0" anchor="ctr"/>
          <a:lstStyle/>
          <a:p>
            <a:pPr indent="0" marL="0">
              <a:buNone/>
            </a:pPr>
            <a:r>
              <a:rPr lang="en-US" sz="1800" b="1" dirty="0">
                <a:solidFill>
                  <a:srgbClr val="1F2933"/>
                </a:solidFill>
              </a:rPr>
              <a:t>λ: 균형</a:t>
            </a:r>
            <a:endParaRPr lang="en-US" sz="1800" dirty="0"/>
          </a:p>
        </p:txBody>
      </p:sp>
      <p:sp>
        <p:nvSpPr>
          <p:cNvPr id="18" name="Text 15"/>
          <p:cNvSpPr txBox="1"/>
          <p:nvPr/>
        </p:nvSpPr>
        <p:spPr>
          <a:xfrm>
            <a:off x="8275320" y="3794760"/>
            <a:ext cx="3136392" cy="132588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너무 작으면 효과 없음</a:t>
            </a:r>
            <a:endParaRPr lang="en-US" sz="1500" dirty="0"/>
          </a:p>
          <a:p>
            <a:pPr marL="228600" indent="-228600">
              <a:spcAft>
                <a:spcPts val="800"/>
              </a:spcAft>
              <a:buSzPct val="100000"/>
              <a:buChar char="•"/>
            </a:pPr>
            <a:r>
              <a:rPr lang="en-US" sz="1500" dirty="0">
                <a:solidFill>
                  <a:srgbClr val="1F2933"/>
                </a:solidFill>
              </a:rPr>
              <a:t>너무 크면 "아무 원-핫이나 확신"하는 쪽으로 붕괴 (실험에서 확인)</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계산 복잡도: 언제 쉽고 언제 어려운가</a:t>
            </a:r>
            <a:endParaRPr lang="en-US" sz="3000" dirty="0"/>
          </a:p>
        </p:txBody>
      </p:sp>
      <p:sp>
        <p:nvSpPr>
          <p:cNvPr id="3" name="card"/>
          <p:cNvSpPr/>
          <p:nvPr/>
        </p:nvSpPr>
        <p:spPr>
          <a:xfrm>
            <a:off x="548640" y="1417320"/>
            <a:ext cx="3520440" cy="2514600"/>
          </a:xfrm>
          <a:prstGeom prst="roundRect">
            <a:avLst>
              <a:gd name="adj" fmla="val 4364"/>
            </a:avLst>
          </a:prstGeom>
          <a:solidFill>
            <a:srgbClr val="F1F4F8"/>
          </a:solidFill>
          <a:ln w="12700">
            <a:solidFill>
              <a:srgbClr val="F1F4F8"/>
            </a:solidFill>
            <a:prstDash val="solid"/>
          </a:ln>
        </p:spPr>
      </p:sp>
      <p:sp>
        <p:nvSpPr>
          <p:cNvPr id="4" name="tag"/>
          <p:cNvSpPr/>
          <p:nvPr/>
        </p:nvSpPr>
        <p:spPr>
          <a:xfrm>
            <a:off x="777240" y="1645920"/>
            <a:ext cx="384048" cy="384048"/>
          </a:xfrm>
          <a:prstGeom prst="ellipse">
            <a:avLst/>
          </a:prstGeom>
          <a:solidFill>
            <a:srgbClr val="52606D"/>
          </a:solidFill>
          <a:ln w="12700">
            <a:solidFill>
              <a:srgbClr val="52606D"/>
            </a:solidFill>
            <a:prstDash val="solid"/>
          </a:ln>
        </p:spPr>
      </p:sp>
      <p:sp>
        <p:nvSpPr>
          <p:cNvPr id="5" name="Text 3"/>
          <p:cNvSpPr txBox="1"/>
          <p:nvPr/>
        </p:nvSpPr>
        <p:spPr>
          <a:xfrm>
            <a:off x="77724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280160" y="1618488"/>
            <a:ext cx="2606040" cy="438912"/>
          </a:xfrm>
          <a:prstGeom prst="rect">
            <a:avLst/>
          </a:prstGeom>
          <a:noFill/>
          <a:ln/>
        </p:spPr>
        <p:txBody>
          <a:bodyPr wrap="square" lIns="0" tIns="0" rIns="0" bIns="0" rtlCol="0" anchor="ctr"/>
          <a:lstStyle/>
          <a:p>
            <a:pPr indent="0" marL="0">
              <a:buNone/>
            </a:pPr>
            <a:r>
              <a:rPr lang="en-US" sz="1800" b="1" dirty="0">
                <a:solidFill>
                  <a:srgbClr val="1F2933"/>
                </a:solidFill>
              </a:rPr>
              <a:t>전수 나열</a:t>
            </a:r>
            <a:endParaRPr lang="en-US" sz="1800" dirty="0"/>
          </a:p>
        </p:txBody>
      </p:sp>
      <p:sp>
        <p:nvSpPr>
          <p:cNvPr id="7" name="Text 5"/>
          <p:cNvSpPr txBox="1"/>
          <p:nvPr/>
        </p:nvSpPr>
        <p:spPr>
          <a:xfrm>
            <a:off x="777240" y="2148840"/>
            <a:ext cx="3063240" cy="16459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2ⁿ개 세계를 모두 검사</a:t>
            </a:r>
            <a:endParaRPr lang="en-US" sz="1500" dirty="0"/>
          </a:p>
          <a:p>
            <a:pPr marL="228600" indent="-228600">
              <a:spcAft>
                <a:spcPts val="800"/>
              </a:spcAft>
              <a:buSzPct val="100000"/>
              <a:buChar char="•"/>
            </a:pPr>
            <a:r>
              <a:rPr lang="en-US" sz="1500" dirty="0">
                <a:solidFill>
                  <a:srgbClr val="1F2933"/>
                </a:solidFill>
              </a:rPr>
              <a:t>n ≤ 20 정도까지 (테스트용 기준 구현)</a:t>
            </a:r>
            <a:endParaRPr lang="en-US" sz="1500" dirty="0"/>
          </a:p>
        </p:txBody>
      </p:sp>
      <p:sp>
        <p:nvSpPr>
          <p:cNvPr id="8" name="card"/>
          <p:cNvSpPr/>
          <p:nvPr/>
        </p:nvSpPr>
        <p:spPr>
          <a:xfrm>
            <a:off x="4297680" y="1417320"/>
            <a:ext cx="3520440" cy="2514600"/>
          </a:xfrm>
          <a:prstGeom prst="roundRect">
            <a:avLst>
              <a:gd name="adj" fmla="val 4364"/>
            </a:avLst>
          </a:prstGeom>
          <a:solidFill>
            <a:srgbClr val="F1F4F8"/>
          </a:solidFill>
          <a:ln w="12700">
            <a:solidFill>
              <a:srgbClr val="F1F4F8"/>
            </a:solidFill>
            <a:prstDash val="solid"/>
          </a:ln>
        </p:spPr>
      </p:sp>
      <p:sp>
        <p:nvSpPr>
          <p:cNvPr id="9" name="tag"/>
          <p:cNvSpPr/>
          <p:nvPr/>
        </p:nvSpPr>
        <p:spPr>
          <a:xfrm>
            <a:off x="4526280" y="1645920"/>
            <a:ext cx="384048" cy="384048"/>
          </a:xfrm>
          <a:prstGeom prst="ellipse">
            <a:avLst/>
          </a:prstGeom>
          <a:solidFill>
            <a:srgbClr val="4A3AA7"/>
          </a:solidFill>
          <a:ln w="12700">
            <a:solidFill>
              <a:srgbClr val="4A3AA7"/>
            </a:solidFill>
            <a:prstDash val="solid"/>
          </a:ln>
        </p:spPr>
      </p:sp>
      <p:sp>
        <p:nvSpPr>
          <p:cNvPr id="10" name="Text 8"/>
          <p:cNvSpPr txBox="1"/>
          <p:nvPr/>
        </p:nvSpPr>
        <p:spPr>
          <a:xfrm>
            <a:off x="452628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txBox="1"/>
          <p:nvPr/>
        </p:nvSpPr>
        <p:spPr>
          <a:xfrm>
            <a:off x="5029200" y="1618488"/>
            <a:ext cx="2606040" cy="438912"/>
          </a:xfrm>
          <a:prstGeom prst="rect">
            <a:avLst/>
          </a:prstGeom>
          <a:noFill/>
          <a:ln/>
        </p:spPr>
        <p:txBody>
          <a:bodyPr wrap="square" lIns="0" tIns="0" rIns="0" bIns="0" rtlCol="0" anchor="ctr"/>
          <a:lstStyle/>
          <a:p>
            <a:pPr indent="0" marL="0">
              <a:buNone/>
            </a:pPr>
            <a:r>
              <a:rPr lang="en-US" sz="1800" b="1" dirty="0">
                <a:solidFill>
                  <a:srgbClr val="1F2933"/>
                </a:solidFill>
              </a:rPr>
              <a:t>지식 컴파일</a:t>
            </a:r>
            <a:endParaRPr lang="en-US" sz="1800" dirty="0"/>
          </a:p>
        </p:txBody>
      </p:sp>
      <p:sp>
        <p:nvSpPr>
          <p:cNvPr id="12" name="Text 10"/>
          <p:cNvSpPr txBox="1"/>
          <p:nvPr/>
        </p:nvSpPr>
        <p:spPr>
          <a:xfrm>
            <a:off x="4526280" y="2148840"/>
            <a:ext cx="3063240" cy="16459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α를 SDD / d-DNNF 회로로 한 번 컴파일</a:t>
            </a:r>
            <a:endParaRPr lang="en-US" sz="1500" dirty="0"/>
          </a:p>
          <a:p>
            <a:pPr marL="228600" indent="-228600">
              <a:spcAft>
                <a:spcPts val="800"/>
              </a:spcAft>
              <a:buSzPct val="100000"/>
              <a:buChar char="•"/>
            </a:pPr>
            <a:r>
              <a:rPr lang="en-US" sz="1500" dirty="0">
                <a:solidFill>
                  <a:srgbClr val="1F2933"/>
                </a:solidFill>
              </a:rPr>
              <a:t>회로 크기에 선형 — 원 논문의 일반 해법</a:t>
            </a:r>
            <a:endParaRPr lang="en-US" sz="1500" dirty="0"/>
          </a:p>
        </p:txBody>
      </p:sp>
      <p:sp>
        <p:nvSpPr>
          <p:cNvPr id="13" name="card"/>
          <p:cNvSpPr/>
          <p:nvPr/>
        </p:nvSpPr>
        <p:spPr>
          <a:xfrm>
            <a:off x="8046720" y="1417320"/>
            <a:ext cx="3520440" cy="2514600"/>
          </a:xfrm>
          <a:prstGeom prst="roundRect">
            <a:avLst>
              <a:gd name="adj" fmla="val 4364"/>
            </a:avLst>
          </a:prstGeom>
          <a:solidFill>
            <a:srgbClr val="FDEEE6"/>
          </a:solidFill>
          <a:ln w="12700">
            <a:solidFill>
              <a:srgbClr val="FDEEE6"/>
            </a:solidFill>
            <a:prstDash val="solid"/>
          </a:ln>
        </p:spPr>
      </p:sp>
      <p:sp>
        <p:nvSpPr>
          <p:cNvPr id="14" name="tag"/>
          <p:cNvSpPr/>
          <p:nvPr/>
        </p:nvSpPr>
        <p:spPr>
          <a:xfrm>
            <a:off x="8275320" y="1645920"/>
            <a:ext cx="384048" cy="384048"/>
          </a:xfrm>
          <a:prstGeom prst="ellipse">
            <a:avLst/>
          </a:prstGeom>
          <a:solidFill>
            <a:srgbClr val="EB6834"/>
          </a:solidFill>
          <a:ln w="12700">
            <a:solidFill>
              <a:srgbClr val="EB6834"/>
            </a:solidFill>
            <a:prstDash val="solid"/>
          </a:ln>
        </p:spPr>
      </p:sp>
      <p:sp>
        <p:nvSpPr>
          <p:cNvPr id="15" name="Text 13"/>
          <p:cNvSpPr txBox="1"/>
          <p:nvPr/>
        </p:nvSpPr>
        <p:spPr>
          <a:xfrm>
            <a:off x="827532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4"/>
          <p:cNvSpPr txBox="1"/>
          <p:nvPr/>
        </p:nvSpPr>
        <p:spPr>
          <a:xfrm>
            <a:off x="8778240" y="1618488"/>
            <a:ext cx="2606040" cy="438912"/>
          </a:xfrm>
          <a:prstGeom prst="rect">
            <a:avLst/>
          </a:prstGeom>
          <a:noFill/>
          <a:ln/>
        </p:spPr>
        <p:txBody>
          <a:bodyPr wrap="square" lIns="0" tIns="0" rIns="0" bIns="0" rtlCol="0" anchor="ctr"/>
          <a:lstStyle/>
          <a:p>
            <a:pPr indent="0" marL="0">
              <a:buNone/>
            </a:pPr>
            <a:r>
              <a:rPr lang="en-US" sz="1800" b="1" dirty="0">
                <a:solidFill>
                  <a:srgbClr val="1F2933"/>
                </a:solidFill>
              </a:rPr>
              <a:t>닫힌 형태</a:t>
            </a:r>
            <a:endParaRPr lang="en-US" sz="1800" dirty="0"/>
          </a:p>
        </p:txBody>
      </p:sp>
      <p:sp>
        <p:nvSpPr>
          <p:cNvPr id="17" name="Text 15"/>
          <p:cNvSpPr txBox="1"/>
          <p:nvPr/>
        </p:nvSpPr>
        <p:spPr>
          <a:xfrm>
            <a:off x="8275320" y="2148840"/>
            <a:ext cx="3063240" cy="16459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제약의 구조를 이용해 직접 유도</a:t>
            </a:r>
            <a:endParaRPr lang="en-US" sz="1500" dirty="0"/>
          </a:p>
          <a:p>
            <a:pPr marL="228600" indent="-228600">
              <a:spcAft>
                <a:spcPts val="800"/>
              </a:spcAft>
              <a:buSzPct val="100000"/>
              <a:buChar char="•"/>
            </a:pPr>
            <a:r>
              <a:rPr lang="en-US" sz="1500" dirty="0">
                <a:solidFill>
                  <a:srgbClr val="1F2933"/>
                </a:solidFill>
              </a:rPr>
              <a:t>exactly-one, 계층 제약: O(n) — 이번 실험</a:t>
            </a:r>
            <a:endParaRPr lang="en-US" sz="1500" dirty="0"/>
          </a:p>
        </p:txBody>
      </p:sp>
      <p:sp>
        <p:nvSpPr>
          <p:cNvPr id="18" name="Text 16"/>
          <p:cNvSpPr txBox="1"/>
          <p:nvPr/>
        </p:nvSpPr>
        <p:spPr>
          <a:xfrm>
            <a:off x="548640" y="4343400"/>
            <a:ext cx="11094415" cy="1097280"/>
          </a:xfrm>
          <a:prstGeom prst="rect">
            <a:avLst/>
          </a:prstGeom>
          <a:noFill/>
          <a:ln/>
        </p:spPr>
        <p:txBody>
          <a:bodyPr wrap="square" lIns="0" tIns="0" rIns="0" bIns="0" rtlCol="0" anchor="t"/>
          <a:lstStyle/>
          <a:p>
            <a:pPr indent="0" marL="0">
              <a:spcAft>
                <a:spcPts val="600"/>
              </a:spcAft>
              <a:buNone/>
            </a:pPr>
            <a:r>
              <a:rPr lang="en-US" sz="1700" b="1" dirty="0">
                <a:solidFill>
                  <a:srgbClr val="1F2933"/>
                </a:solidFill>
              </a:rPr>
              <a:t>일반 CNF의 가중 모델 카운팅(WMC)은 #P-hard</a:t>
            </a:r>
            <a:endParaRPr lang="en-US" sz="1700" dirty="0"/>
          </a:p>
          <a:p>
            <a:pPr indent="0" marL="0">
              <a:spcAft>
                <a:spcPts val="600"/>
              </a:spcAft>
              <a:buNone/>
            </a:pPr>
            <a:r>
              <a:rPr lang="en-US" sz="1700" dirty="0">
                <a:solidFill>
                  <a:srgbClr val="52606D"/>
                </a:solidFill>
              </a:rPr>
              <a:t>→ 실제 적용에서는 "제약을 효율적으로 계산 가능한 형태로 바꾸는 것"이 핵심 엔지니어링 과제</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ection-number"/>
          <p:cNvSpPr txBox="1"/>
          <p:nvPr/>
        </p:nvSpPr>
        <p:spPr>
          <a:xfrm>
            <a:off x="548640" y="1737360"/>
            <a:ext cx="4572000" cy="822960"/>
          </a:xfrm>
          <a:prstGeom prst="rect">
            <a:avLst/>
          </a:prstGeom>
          <a:noFill/>
          <a:ln/>
        </p:spPr>
        <p:txBody>
          <a:bodyPr wrap="square" lIns="0" tIns="0" rIns="0" bIns="0" rtlCol="0" anchor="ctr"/>
          <a:lstStyle/>
          <a:p>
            <a:pPr indent="0" marL="0">
              <a:buNone/>
            </a:pPr>
            <a:r>
              <a:rPr lang="en-US" sz="5400" b="1" dirty="0">
                <a:solidFill>
                  <a:srgbClr val="EB6834"/>
                </a:solidFill>
              </a:rPr>
              <a:t>04</a:t>
            </a:r>
            <a:endParaRPr lang="en-US" sz="5400" dirty="0"/>
          </a:p>
        </p:txBody>
      </p:sp>
      <p:sp>
        <p:nvSpPr>
          <p:cNvPr id="3" name="Text 0"/>
          <p:cNvSpPr/>
          <p:nvPr>
            <p:ph idx="100" type="title" hasCustomPrompt="1"/>
          </p:nvPr>
        </p:nvSpPr>
        <p:spPr>
          <a:xfrm>
            <a:off x="548640" y="2651760"/>
            <a:ext cx="10607040" cy="1005840"/>
          </a:xfrm>
          <a:prstGeom prst="rect">
            <a:avLst/>
          </a:prstGeom>
          <a:noFill/>
          <a:ln/>
        </p:spPr>
        <p:txBody>
          <a:bodyPr wrap="square" lIns="0" tIns="0" rIns="0" bIns="0" rtlCol="0" anchor="t"/>
          <a:lstStyle/>
          <a:p>
            <a:pPr algn="l" indent="0" marL="0">
              <a:buNone/>
            </a:pPr>
            <a:r>
              <a:rPr lang="en-US" sz="4000" b="1" dirty="0">
                <a:solidFill>
                  <a:schemeClr val="bg1"/>
                </a:solidFill>
              </a:rPr>
              <a:t>실험 목적과 데이터</a:t>
            </a:r>
            <a:endParaRPr lang="en-US" sz="4000" dirty="0"/>
          </a:p>
        </p:txBody>
      </p:sp>
      <p:sp>
        <p:nvSpPr>
          <p:cNvPr id="4" name="Text 0"/>
          <p:cNvSpPr/>
          <p:nvPr>
            <p:ph idx="101" type="body" hasCustomPrompt="1"/>
          </p:nvPr>
        </p:nvSpPr>
        <p:spPr>
          <a:xfrm>
            <a:off x="548640" y="3749040"/>
            <a:ext cx="10607040" cy="1280160"/>
          </a:xfrm>
          <a:prstGeom prst="rect">
            <a:avLst/>
          </a:prstGeom>
          <a:noFill/>
          <a:ln/>
        </p:spPr>
        <p:txBody>
          <a:bodyPr wrap="square" lIns="0" tIns="0" rIns="0" bIns="0" rtlCol="0" anchor="t"/>
          <a:lstStyle/>
          <a:p>
            <a:pPr algn="l" indent="0" marL="0">
              <a:buNone/>
            </a:pPr>
            <a:r>
              <a:rPr lang="en-US" sz="1800" dirty="0">
                <a:solidFill>
                  <a:srgbClr val="BCCCDC"/>
                </a:solidFill>
              </a:rPr>
              <a:t>규칙은 언제, 얼마나, 왜 도움이 되는가</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실험 목적: 네 가지 연구 질문</a:t>
            </a:r>
            <a:endParaRPr lang="en-US" sz="3000" dirty="0"/>
          </a:p>
        </p:txBody>
      </p:sp>
      <p:sp>
        <p:nvSpPr>
          <p:cNvPr id="3" name="pill"/>
          <p:cNvSpPr/>
          <p:nvPr/>
        </p:nvSpPr>
        <p:spPr>
          <a:xfrm>
            <a:off x="548640" y="1645920"/>
            <a:ext cx="914400" cy="365760"/>
          </a:xfrm>
          <a:prstGeom prst="roundRect">
            <a:avLst>
              <a:gd name="adj" fmla="val 50000"/>
            </a:avLst>
          </a:prstGeom>
          <a:solidFill>
            <a:srgbClr val="EB6834"/>
          </a:solidFill>
          <a:ln w="12700">
            <a:solidFill>
              <a:srgbClr val="EB6834"/>
            </a:solidFill>
            <a:prstDash val="solid"/>
          </a:ln>
        </p:spPr>
      </p:sp>
      <p:sp>
        <p:nvSpPr>
          <p:cNvPr id="4" name="Text 2"/>
          <p:cNvSpPr txBox="1"/>
          <p:nvPr/>
        </p:nvSpPr>
        <p:spPr>
          <a:xfrm>
            <a:off x="548640" y="164592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rPr>
              <a:t>RQ1</a:t>
            </a:r>
            <a:endParaRPr lang="en-US" sz="1300" dirty="0"/>
          </a:p>
        </p:txBody>
      </p:sp>
      <p:sp>
        <p:nvSpPr>
          <p:cNvPr id="5" name="Text 3"/>
          <p:cNvSpPr txBox="1"/>
          <p:nvPr/>
        </p:nvSpPr>
        <p:spPr>
          <a:xfrm>
            <a:off x="1737360" y="1554480"/>
            <a:ext cx="7680960" cy="822960"/>
          </a:xfrm>
          <a:prstGeom prst="rect">
            <a:avLst/>
          </a:prstGeom>
          <a:noFill/>
          <a:ln/>
        </p:spPr>
        <p:txBody>
          <a:bodyPr wrap="square" lIns="0" tIns="0" rIns="0" bIns="0" rtlCol="0" anchor="ctr"/>
          <a:lstStyle/>
          <a:p>
            <a:pPr indent="0" marL="0">
              <a:spcAft>
                <a:spcPts val="600"/>
              </a:spcAft>
              <a:buNone/>
            </a:pPr>
            <a:r>
              <a:rPr lang="en-US" sz="1700" dirty="0">
                <a:solidFill>
                  <a:srgbClr val="1F2933"/>
                </a:solidFill>
              </a:rPr>
              <a:t>라벨이 충분할 때도 규칙이 도움이 되는가?</a:t>
            </a:r>
            <a:endParaRPr lang="en-US" sz="1700" dirty="0"/>
          </a:p>
        </p:txBody>
      </p:sp>
      <p:sp>
        <p:nvSpPr>
          <p:cNvPr id="6" name="Text 4"/>
          <p:cNvSpPr txBox="1"/>
          <p:nvPr/>
        </p:nvSpPr>
        <p:spPr>
          <a:xfrm>
            <a:off x="9326880" y="1645920"/>
            <a:ext cx="2313432" cy="365760"/>
          </a:xfrm>
          <a:prstGeom prst="rect">
            <a:avLst/>
          </a:prstGeom>
          <a:noFill/>
          <a:ln/>
        </p:spPr>
        <p:txBody>
          <a:bodyPr wrap="square" lIns="0" tIns="0" rIns="0" bIns="0" rtlCol="0" anchor="ctr"/>
          <a:lstStyle/>
          <a:p>
            <a:pPr algn="r" indent="0" marL="0">
              <a:buNone/>
            </a:pPr>
            <a:r>
              <a:rPr lang="en-US" sz="1300" dirty="0">
                <a:solidFill>
                  <a:srgbClr val="52606D"/>
                </a:solidFill>
              </a:rPr>
              <a:t>full 설정</a:t>
            </a:r>
            <a:endParaRPr lang="en-US" sz="1300" dirty="0"/>
          </a:p>
        </p:txBody>
      </p:sp>
      <p:sp>
        <p:nvSpPr>
          <p:cNvPr id="7" name="pill"/>
          <p:cNvSpPr/>
          <p:nvPr/>
        </p:nvSpPr>
        <p:spPr>
          <a:xfrm>
            <a:off x="548640" y="2788920"/>
            <a:ext cx="914400" cy="365760"/>
          </a:xfrm>
          <a:prstGeom prst="roundRect">
            <a:avLst>
              <a:gd name="adj" fmla="val 50000"/>
            </a:avLst>
          </a:prstGeom>
          <a:solidFill>
            <a:srgbClr val="EB6834"/>
          </a:solidFill>
          <a:ln w="12700">
            <a:solidFill>
              <a:srgbClr val="EB6834"/>
            </a:solidFill>
            <a:prstDash val="solid"/>
          </a:ln>
        </p:spPr>
      </p:sp>
      <p:sp>
        <p:nvSpPr>
          <p:cNvPr id="8" name="Text 6"/>
          <p:cNvSpPr txBox="1"/>
          <p:nvPr/>
        </p:nvSpPr>
        <p:spPr>
          <a:xfrm>
            <a:off x="548640" y="278892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rPr>
              <a:t>RQ2</a:t>
            </a:r>
            <a:endParaRPr lang="en-US" sz="1300" dirty="0"/>
          </a:p>
        </p:txBody>
      </p:sp>
      <p:sp>
        <p:nvSpPr>
          <p:cNvPr id="9" name="Text 7"/>
          <p:cNvSpPr txBox="1"/>
          <p:nvPr/>
        </p:nvSpPr>
        <p:spPr>
          <a:xfrm>
            <a:off x="1737360" y="2697480"/>
            <a:ext cx="7680960" cy="822960"/>
          </a:xfrm>
          <a:prstGeom prst="rect">
            <a:avLst/>
          </a:prstGeom>
          <a:noFill/>
          <a:ln/>
        </p:spPr>
        <p:txBody>
          <a:bodyPr wrap="square" lIns="0" tIns="0" rIns="0" bIns="0" rtlCol="0" anchor="ctr"/>
          <a:lstStyle/>
          <a:p>
            <a:pPr indent="0" marL="0">
              <a:spcAft>
                <a:spcPts val="600"/>
              </a:spcAft>
              <a:buNone/>
            </a:pPr>
            <a:r>
              <a:rPr lang="en-US" sz="1700" dirty="0">
                <a:solidFill>
                  <a:srgbClr val="1F2933"/>
                </a:solidFill>
              </a:rPr>
              <a:t>라벨이 부족할 때, 라벨 없는 데이터에 규칙만으로 학습 신호를 줄 수 있는가?</a:t>
            </a:r>
            <a:endParaRPr lang="en-US" sz="1700" dirty="0"/>
          </a:p>
        </p:txBody>
      </p:sp>
      <p:sp>
        <p:nvSpPr>
          <p:cNvPr id="10" name="Text 8"/>
          <p:cNvSpPr txBox="1"/>
          <p:nvPr/>
        </p:nvSpPr>
        <p:spPr>
          <a:xfrm>
            <a:off x="9326880" y="2788920"/>
            <a:ext cx="2313432" cy="365760"/>
          </a:xfrm>
          <a:prstGeom prst="rect">
            <a:avLst/>
          </a:prstGeom>
          <a:noFill/>
          <a:ln/>
        </p:spPr>
        <p:txBody>
          <a:bodyPr wrap="square" lIns="0" tIns="0" rIns="0" bIns="0" rtlCol="0" anchor="ctr"/>
          <a:lstStyle/>
          <a:p>
            <a:pPr algn="r" indent="0" marL="0">
              <a:buNone/>
            </a:pPr>
            <a:r>
              <a:rPr lang="en-US" sz="1300" dirty="0">
                <a:solidFill>
                  <a:srgbClr val="52606D"/>
                </a:solidFill>
              </a:rPr>
              <a:t>semi 설정</a:t>
            </a:r>
            <a:endParaRPr lang="en-US" sz="1300" dirty="0"/>
          </a:p>
        </p:txBody>
      </p:sp>
      <p:sp>
        <p:nvSpPr>
          <p:cNvPr id="11" name="pill"/>
          <p:cNvSpPr/>
          <p:nvPr/>
        </p:nvSpPr>
        <p:spPr>
          <a:xfrm>
            <a:off x="548640" y="3931920"/>
            <a:ext cx="914400" cy="365760"/>
          </a:xfrm>
          <a:prstGeom prst="roundRect">
            <a:avLst>
              <a:gd name="adj" fmla="val 50000"/>
            </a:avLst>
          </a:prstGeom>
          <a:solidFill>
            <a:srgbClr val="EB6834"/>
          </a:solidFill>
          <a:ln w="12700">
            <a:solidFill>
              <a:srgbClr val="EB6834"/>
            </a:solidFill>
            <a:prstDash val="solid"/>
          </a:ln>
        </p:spPr>
      </p:sp>
      <p:sp>
        <p:nvSpPr>
          <p:cNvPr id="12" name="Text 10"/>
          <p:cNvSpPr txBox="1"/>
          <p:nvPr/>
        </p:nvSpPr>
        <p:spPr>
          <a:xfrm>
            <a:off x="548640" y="393192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rPr>
              <a:t>RQ3</a:t>
            </a:r>
            <a:endParaRPr lang="en-US" sz="1300" dirty="0"/>
          </a:p>
        </p:txBody>
      </p:sp>
      <p:sp>
        <p:nvSpPr>
          <p:cNvPr id="13" name="Text 11"/>
          <p:cNvSpPr txBox="1"/>
          <p:nvPr/>
        </p:nvSpPr>
        <p:spPr>
          <a:xfrm>
            <a:off x="1737360" y="3840480"/>
            <a:ext cx="7680960" cy="822960"/>
          </a:xfrm>
          <a:prstGeom prst="rect">
            <a:avLst/>
          </a:prstGeom>
          <a:noFill/>
          <a:ln/>
        </p:spPr>
        <p:txBody>
          <a:bodyPr wrap="square" lIns="0" tIns="0" rIns="0" bIns="0" rtlCol="0" anchor="ctr"/>
          <a:lstStyle/>
          <a:p>
            <a:pPr indent="0" marL="0">
              <a:spcAft>
                <a:spcPts val="600"/>
              </a:spcAft>
              <a:buNone/>
            </a:pPr>
            <a:r>
              <a:rPr lang="en-US" sz="1700" dirty="0">
                <a:solidFill>
                  <a:srgbClr val="1F2933"/>
                </a:solidFill>
              </a:rPr>
              <a:t>상위 클래스 라벨만 있을 때, 함의 규칙이 그 정보를 하위 클래스 예측으로 전파하는가?</a:t>
            </a:r>
            <a:endParaRPr lang="en-US" sz="1700" dirty="0"/>
          </a:p>
        </p:txBody>
      </p:sp>
      <p:sp>
        <p:nvSpPr>
          <p:cNvPr id="14" name="Text 12"/>
          <p:cNvSpPr txBox="1"/>
          <p:nvPr/>
        </p:nvSpPr>
        <p:spPr>
          <a:xfrm>
            <a:off x="9326880" y="3931920"/>
            <a:ext cx="2313432" cy="365760"/>
          </a:xfrm>
          <a:prstGeom prst="rect">
            <a:avLst/>
          </a:prstGeom>
          <a:noFill/>
          <a:ln/>
        </p:spPr>
        <p:txBody>
          <a:bodyPr wrap="square" lIns="0" tIns="0" rIns="0" bIns="0" rtlCol="0" anchor="ctr"/>
          <a:lstStyle/>
          <a:p>
            <a:pPr algn="r" indent="0" marL="0">
              <a:buNone/>
            </a:pPr>
            <a:r>
              <a:rPr lang="en-US" sz="1300" dirty="0">
                <a:solidFill>
                  <a:srgbClr val="52606D"/>
                </a:solidFill>
              </a:rPr>
              <a:t>weak 설정</a:t>
            </a:r>
            <a:endParaRPr lang="en-US" sz="1300" dirty="0"/>
          </a:p>
        </p:txBody>
      </p:sp>
      <p:sp>
        <p:nvSpPr>
          <p:cNvPr id="15" name="pill"/>
          <p:cNvSpPr/>
          <p:nvPr/>
        </p:nvSpPr>
        <p:spPr>
          <a:xfrm>
            <a:off x="548640" y="5074920"/>
            <a:ext cx="914400" cy="365760"/>
          </a:xfrm>
          <a:prstGeom prst="roundRect">
            <a:avLst>
              <a:gd name="adj" fmla="val 50000"/>
            </a:avLst>
          </a:prstGeom>
          <a:solidFill>
            <a:srgbClr val="4A3AA7"/>
          </a:solidFill>
          <a:ln w="12700">
            <a:solidFill>
              <a:srgbClr val="4A3AA7"/>
            </a:solidFill>
            <a:prstDash val="solid"/>
          </a:ln>
        </p:spPr>
      </p:sp>
      <p:sp>
        <p:nvSpPr>
          <p:cNvPr id="16" name="Text 14"/>
          <p:cNvSpPr txBox="1"/>
          <p:nvPr/>
        </p:nvSpPr>
        <p:spPr>
          <a:xfrm>
            <a:off x="548640" y="5074920"/>
            <a:ext cx="914400" cy="365760"/>
          </a:xfrm>
          <a:prstGeom prst="rect">
            <a:avLst/>
          </a:prstGeom>
          <a:noFill/>
          <a:ln/>
        </p:spPr>
        <p:txBody>
          <a:bodyPr wrap="square" lIns="0" tIns="0" rIns="0" bIns="0" rtlCol="0" anchor="ctr"/>
          <a:lstStyle/>
          <a:p>
            <a:pPr algn="ctr" indent="0" marL="0">
              <a:buNone/>
            </a:pPr>
            <a:r>
              <a:rPr lang="en-US" sz="1300" b="1" dirty="0">
                <a:solidFill>
                  <a:srgbClr val="FFFFFF"/>
                </a:solidFill>
              </a:rPr>
              <a:t>RQ4</a:t>
            </a:r>
            <a:endParaRPr lang="en-US" sz="1300" dirty="0"/>
          </a:p>
        </p:txBody>
      </p:sp>
      <p:sp>
        <p:nvSpPr>
          <p:cNvPr id="17" name="Text 15"/>
          <p:cNvSpPr txBox="1"/>
          <p:nvPr/>
        </p:nvSpPr>
        <p:spPr>
          <a:xfrm>
            <a:off x="1737360" y="4983480"/>
            <a:ext cx="7680960" cy="822960"/>
          </a:xfrm>
          <a:prstGeom prst="rect">
            <a:avLst/>
          </a:prstGeom>
          <a:noFill/>
          <a:ln/>
        </p:spPr>
        <p:txBody>
          <a:bodyPr wrap="square" lIns="0" tIns="0" rIns="0" bIns="0" rtlCol="0" anchor="ctr"/>
          <a:lstStyle/>
          <a:p>
            <a:pPr indent="0" marL="0">
              <a:spcAft>
                <a:spcPts val="600"/>
              </a:spcAft>
              <a:buNone/>
            </a:pPr>
            <a:r>
              <a:rPr lang="en-US" sz="1700" dirty="0">
                <a:solidFill>
                  <a:srgbClr val="1F2933"/>
                </a:solidFill>
              </a:rPr>
              <a:t>효과는 함의 규칙 때문인가, 아니면 단순히 출력을 확신하게 만드는 효과 때문인가?</a:t>
            </a:r>
            <a:endParaRPr lang="en-US" sz="1700" dirty="0"/>
          </a:p>
        </p:txBody>
      </p:sp>
      <p:sp>
        <p:nvSpPr>
          <p:cNvPr id="18" name="Text 16"/>
          <p:cNvSpPr txBox="1"/>
          <p:nvPr/>
        </p:nvSpPr>
        <p:spPr>
          <a:xfrm>
            <a:off x="9326880" y="5074920"/>
            <a:ext cx="2313432" cy="365760"/>
          </a:xfrm>
          <a:prstGeom prst="rect">
            <a:avLst/>
          </a:prstGeom>
          <a:noFill/>
          <a:ln/>
        </p:spPr>
        <p:txBody>
          <a:bodyPr wrap="square" lIns="0" tIns="0" rIns="0" bIns="0" rtlCol="0" anchor="ctr"/>
          <a:lstStyle/>
          <a:p>
            <a:pPr algn="r" indent="0" marL="0">
              <a:buNone/>
            </a:pPr>
            <a:r>
              <a:rPr lang="en-US" sz="1300" dirty="0">
                <a:solidFill>
                  <a:srgbClr val="52606D"/>
                </a:solidFill>
              </a:rPr>
              <a:t>exactly-one 대조 실험</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데이터셋: CIFAR-100</a:t>
            </a:r>
            <a:endParaRPr lang="en-US" sz="3000" dirty="0"/>
          </a:p>
        </p:txBody>
      </p:sp>
      <p:pic>
        <p:nvPicPr>
          <p:cNvPr id="3" name="mosaic" descr="mosaic.png">    </p:cNvPr>
          <p:cNvPicPr>
            <a:picLocks noChangeAspect="1"/>
          </p:cNvPicPr>
          <p:nvPr/>
        </p:nvPicPr>
        <p:blipFill>
          <a:blip r:embed="rId1"/>
          <a:stretch>
            <a:fillRect/>
          </a:stretch>
        </p:blipFill>
        <p:spPr>
          <a:xfrm>
            <a:off x="548640" y="1371600"/>
            <a:ext cx="6766560" cy="2258568"/>
          </a:xfrm>
          <a:prstGeom prst="rect">
            <a:avLst/>
          </a:prstGeom>
        </p:spPr>
      </p:pic>
      <p:sp>
        <p:nvSpPr>
          <p:cNvPr id="4" name="Text 1"/>
          <p:cNvSpPr txBox="1"/>
          <p:nvPr/>
        </p:nvSpPr>
        <p:spPr>
          <a:xfrm>
            <a:off x="548640" y="3703320"/>
            <a:ext cx="6766560" cy="274320"/>
          </a:xfrm>
          <a:prstGeom prst="rect">
            <a:avLst/>
          </a:prstGeom>
          <a:noFill/>
          <a:ln/>
        </p:spPr>
        <p:txBody>
          <a:bodyPr wrap="square" lIns="0" tIns="0" rIns="0" bIns="0" rtlCol="0" anchor="t"/>
          <a:lstStyle/>
          <a:p>
            <a:pPr indent="0" marL="0">
              <a:spcAft>
                <a:spcPts val="600"/>
              </a:spcAft>
              <a:buNone/>
            </a:pPr>
            <a:r>
              <a:rPr lang="en-US" sz="1100" dirty="0">
                <a:solidFill>
                  <a:srgbClr val="7B8794"/>
                </a:solidFill>
              </a:rPr>
              <a:t>학습 이미지 무작위 48장 (32×32를 확대)</a:t>
            </a:r>
            <a:endParaRPr lang="en-US" sz="1100" dirty="0"/>
          </a:p>
        </p:txBody>
      </p:sp>
      <p:sp>
        <p:nvSpPr>
          <p:cNvPr id="5" name="Text 2"/>
          <p:cNvSpPr txBox="1"/>
          <p:nvPr/>
        </p:nvSpPr>
        <p:spPr>
          <a:xfrm>
            <a:off x="7680960" y="1371600"/>
            <a:ext cx="3931920" cy="594360"/>
          </a:xfrm>
          <a:prstGeom prst="rect">
            <a:avLst/>
          </a:prstGeom>
          <a:noFill/>
          <a:ln/>
        </p:spPr>
        <p:txBody>
          <a:bodyPr wrap="square" lIns="0" tIns="0" rIns="0" bIns="0" rtlCol="0" anchor="ctr"/>
          <a:lstStyle/>
          <a:p>
            <a:pPr indent="0" marL="0">
              <a:buNone/>
            </a:pPr>
            <a:r>
              <a:rPr lang="en-US" sz="3200" b="1" dirty="0">
                <a:solidFill>
                  <a:srgbClr val="2A78D6"/>
                </a:solidFill>
              </a:rPr>
              <a:t>60,000</a:t>
            </a:r>
            <a:endParaRPr lang="en-US" sz="3200" dirty="0"/>
          </a:p>
        </p:txBody>
      </p:sp>
      <p:sp>
        <p:nvSpPr>
          <p:cNvPr id="6" name="Text 3"/>
          <p:cNvSpPr txBox="1"/>
          <p:nvPr/>
        </p:nvSpPr>
        <p:spPr>
          <a:xfrm>
            <a:off x="7680960" y="1938528"/>
            <a:ext cx="3931920" cy="365760"/>
          </a:xfrm>
          <a:prstGeom prst="rect">
            <a:avLst/>
          </a:prstGeom>
          <a:noFill/>
          <a:ln/>
        </p:spPr>
        <p:txBody>
          <a:bodyPr wrap="square" lIns="0" tIns="0" rIns="0" bIns="0" rtlCol="0" anchor="ctr"/>
          <a:lstStyle/>
          <a:p>
            <a:pPr indent="0" marL="0">
              <a:buNone/>
            </a:pPr>
            <a:r>
              <a:rPr lang="en-US" sz="1400" dirty="0">
                <a:solidFill>
                  <a:srgbClr val="52606D"/>
                </a:solidFill>
              </a:rPr>
              <a:t>이미지 (학습 50k / 테스트 10k)</a:t>
            </a:r>
            <a:endParaRPr lang="en-US" sz="1400" dirty="0"/>
          </a:p>
        </p:txBody>
      </p:sp>
      <p:sp>
        <p:nvSpPr>
          <p:cNvPr id="7" name="Text 4"/>
          <p:cNvSpPr txBox="1"/>
          <p:nvPr/>
        </p:nvSpPr>
        <p:spPr>
          <a:xfrm>
            <a:off x="7680960" y="2514600"/>
            <a:ext cx="3931920" cy="594360"/>
          </a:xfrm>
          <a:prstGeom prst="rect">
            <a:avLst/>
          </a:prstGeom>
          <a:noFill/>
          <a:ln/>
        </p:spPr>
        <p:txBody>
          <a:bodyPr wrap="square" lIns="0" tIns="0" rIns="0" bIns="0" rtlCol="0" anchor="ctr"/>
          <a:lstStyle/>
          <a:p>
            <a:pPr indent="0" marL="0">
              <a:buNone/>
            </a:pPr>
            <a:r>
              <a:rPr lang="en-US" sz="3200" b="1" dirty="0">
                <a:solidFill>
                  <a:srgbClr val="2A78D6"/>
                </a:solidFill>
              </a:rPr>
              <a:t>100</a:t>
            </a:r>
            <a:endParaRPr lang="en-US" sz="3200" dirty="0"/>
          </a:p>
        </p:txBody>
      </p:sp>
      <p:sp>
        <p:nvSpPr>
          <p:cNvPr id="8" name="Text 5"/>
          <p:cNvSpPr txBox="1"/>
          <p:nvPr/>
        </p:nvSpPr>
        <p:spPr>
          <a:xfrm>
            <a:off x="7680960" y="3081528"/>
            <a:ext cx="3931920" cy="365760"/>
          </a:xfrm>
          <a:prstGeom prst="rect">
            <a:avLst/>
          </a:prstGeom>
          <a:noFill/>
          <a:ln/>
        </p:spPr>
        <p:txBody>
          <a:bodyPr wrap="square" lIns="0" tIns="0" rIns="0" bIns="0" rtlCol="0" anchor="ctr"/>
          <a:lstStyle/>
          <a:p>
            <a:pPr indent="0" marL="0">
              <a:buNone/>
            </a:pPr>
            <a:r>
              <a:rPr lang="en-US" sz="1400" dirty="0">
                <a:solidFill>
                  <a:srgbClr val="52606D"/>
                </a:solidFill>
              </a:rPr>
              <a:t>세부 클래스 (fine), 클래스당 600장</a:t>
            </a:r>
            <a:endParaRPr lang="en-US" sz="1400" dirty="0"/>
          </a:p>
        </p:txBody>
      </p:sp>
      <p:sp>
        <p:nvSpPr>
          <p:cNvPr id="9" name="Text 6"/>
          <p:cNvSpPr txBox="1"/>
          <p:nvPr/>
        </p:nvSpPr>
        <p:spPr>
          <a:xfrm>
            <a:off x="7680960" y="3657600"/>
            <a:ext cx="3931920" cy="594360"/>
          </a:xfrm>
          <a:prstGeom prst="rect">
            <a:avLst/>
          </a:prstGeom>
          <a:noFill/>
          <a:ln/>
        </p:spPr>
        <p:txBody>
          <a:bodyPr wrap="square" lIns="0" tIns="0" rIns="0" bIns="0" rtlCol="0" anchor="ctr"/>
          <a:lstStyle/>
          <a:p>
            <a:pPr indent="0" marL="0">
              <a:buNone/>
            </a:pPr>
            <a:r>
              <a:rPr lang="en-US" sz="3200" b="1" dirty="0">
                <a:solidFill>
                  <a:srgbClr val="EB6834"/>
                </a:solidFill>
              </a:rPr>
              <a:t>20</a:t>
            </a:r>
            <a:endParaRPr lang="en-US" sz="3200" dirty="0"/>
          </a:p>
        </p:txBody>
      </p:sp>
      <p:sp>
        <p:nvSpPr>
          <p:cNvPr id="10" name="Text 7"/>
          <p:cNvSpPr txBox="1"/>
          <p:nvPr/>
        </p:nvSpPr>
        <p:spPr>
          <a:xfrm>
            <a:off x="7680960" y="4224528"/>
            <a:ext cx="3931920" cy="365760"/>
          </a:xfrm>
          <a:prstGeom prst="rect">
            <a:avLst/>
          </a:prstGeom>
          <a:noFill/>
          <a:ln/>
        </p:spPr>
        <p:txBody>
          <a:bodyPr wrap="square" lIns="0" tIns="0" rIns="0" bIns="0" rtlCol="0" anchor="ctr"/>
          <a:lstStyle/>
          <a:p>
            <a:pPr indent="0" marL="0">
              <a:buNone/>
            </a:pPr>
            <a:r>
              <a:rPr lang="en-US" sz="1400" dirty="0">
                <a:solidFill>
                  <a:srgbClr val="52606D"/>
                </a:solidFill>
              </a:rPr>
              <a:t>상위 클래스 (coarse), 각 5개 fine</a:t>
            </a:r>
            <a:endParaRPr lang="en-US" sz="1400" dirty="0"/>
          </a:p>
        </p:txBody>
      </p:sp>
      <p:sp>
        <p:nvSpPr>
          <p:cNvPr id="11" name="Text 8"/>
          <p:cNvSpPr txBox="1"/>
          <p:nvPr/>
        </p:nvSpPr>
        <p:spPr>
          <a:xfrm>
            <a:off x="7680960" y="4800600"/>
            <a:ext cx="3931920" cy="594360"/>
          </a:xfrm>
          <a:prstGeom prst="rect">
            <a:avLst/>
          </a:prstGeom>
          <a:noFill/>
          <a:ln/>
        </p:spPr>
        <p:txBody>
          <a:bodyPr wrap="square" lIns="0" tIns="0" rIns="0" bIns="0" rtlCol="0" anchor="ctr"/>
          <a:lstStyle/>
          <a:p>
            <a:pPr indent="0" marL="0">
              <a:buNone/>
            </a:pPr>
            <a:r>
              <a:rPr lang="en-US" sz="3200" b="1" dirty="0">
                <a:solidFill>
                  <a:srgbClr val="2A78D6"/>
                </a:solidFill>
              </a:rPr>
              <a:t>32×32</a:t>
            </a:r>
            <a:endParaRPr lang="en-US" sz="3200" dirty="0"/>
          </a:p>
        </p:txBody>
      </p:sp>
      <p:sp>
        <p:nvSpPr>
          <p:cNvPr id="12" name="Text 9"/>
          <p:cNvSpPr txBox="1"/>
          <p:nvPr/>
        </p:nvSpPr>
        <p:spPr>
          <a:xfrm>
            <a:off x="7680960" y="5367528"/>
            <a:ext cx="3931920" cy="365760"/>
          </a:xfrm>
          <a:prstGeom prst="rect">
            <a:avLst/>
          </a:prstGeom>
          <a:noFill/>
          <a:ln/>
        </p:spPr>
        <p:txBody>
          <a:bodyPr wrap="square" lIns="0" tIns="0" rIns="0" bIns="0" rtlCol="0" anchor="ctr"/>
          <a:lstStyle/>
          <a:p>
            <a:pPr indent="0" marL="0">
              <a:buNone/>
            </a:pPr>
            <a:r>
              <a:rPr lang="en-US" sz="1400" dirty="0">
                <a:solidFill>
                  <a:srgbClr val="52606D"/>
                </a:solidFill>
              </a:rPr>
              <a:t>RGB 해상도</a:t>
            </a:r>
            <a:endParaRPr lang="en-US" sz="1400" dirty="0"/>
          </a:p>
        </p:txBody>
      </p:sp>
      <p:sp>
        <p:nvSpPr>
          <p:cNvPr id="13" name="Text 10"/>
          <p:cNvSpPr txBox="1"/>
          <p:nvPr/>
        </p:nvSpPr>
        <p:spPr>
          <a:xfrm>
            <a:off x="548640" y="4206240"/>
            <a:ext cx="6766560" cy="822960"/>
          </a:xfrm>
          <a:prstGeom prst="rect">
            <a:avLst/>
          </a:prstGeom>
          <a:noFill/>
          <a:ln/>
        </p:spPr>
        <p:txBody>
          <a:bodyPr wrap="square" lIns="0" tIns="0" rIns="0" bIns="0" rtlCol="0" anchor="t"/>
          <a:lstStyle/>
          <a:p>
            <a:pPr indent="0" marL="0">
              <a:spcAft>
                <a:spcPts val="600"/>
              </a:spcAft>
              <a:buNone/>
            </a:pPr>
            <a:r>
              <a:rPr lang="en-US" sz="1300" dirty="0">
                <a:solidFill>
                  <a:srgbClr val="52606D"/>
                </a:solidFill>
              </a:rPr>
              <a:t>출처: Krizhevsky (2009), Learning Multiple Layers of Features from Tiny Images. 공식 배포본(python pickle)을 MD5 검증 후 사용.</a:t>
            </a:r>
            <a:endParaRPr lang="en-US" sz="1300" dirty="0"/>
          </a:p>
        </p:txBody>
      </p:sp>
      <p:sp>
        <p:nvSpPr>
          <p:cNvPr id="14" name="Text 11"/>
          <p:cNvSpPr txBox="1"/>
          <p:nvPr/>
        </p:nvSpPr>
        <p:spPr>
          <a:xfrm>
            <a:off x="548640" y="5074920"/>
            <a:ext cx="6766560" cy="822960"/>
          </a:xfrm>
          <a:prstGeom prst="rect">
            <a:avLst/>
          </a:prstGeom>
          <a:noFill/>
          <a:ln/>
        </p:spPr>
        <p:txBody>
          <a:bodyPr wrap="square" lIns="0" tIns="0" rIns="0" bIns="0" rtlCol="0" anchor="t"/>
          <a:lstStyle/>
          <a:p>
            <a:pPr indent="0" marL="0">
              <a:spcAft>
                <a:spcPts val="600"/>
              </a:spcAft>
              <a:buNone/>
            </a:pPr>
            <a:r>
              <a:rPr lang="en-US" sz="1400" b="1" dirty="0">
                <a:solidFill>
                  <a:srgbClr val="1F2933"/>
                </a:solidFill>
              </a:rPr>
              <a:t>학습 50k 중 5,000장(클래스당 50장)은 λ 선택용 검증셋으로 분리 → 학습 45,000장</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계층 구조: 상위 클래스 → 세부 클래스</a:t>
            </a:r>
            <a:endParaRPr lang="en-US" sz="3000" dirty="0"/>
          </a:p>
        </p:txBody>
      </p:sp>
      <p:sp>
        <p:nvSpPr>
          <p:cNvPr id="3" name="Text 1"/>
          <p:cNvSpPr txBox="1"/>
          <p:nvPr/>
        </p:nvSpPr>
        <p:spPr>
          <a:xfrm>
            <a:off x="548640" y="1325880"/>
            <a:ext cx="1325880" cy="1005840"/>
          </a:xfrm>
          <a:prstGeom prst="rect">
            <a:avLst/>
          </a:prstGeom>
          <a:noFill/>
          <a:ln/>
        </p:spPr>
        <p:txBody>
          <a:bodyPr wrap="square" lIns="0" tIns="0" rIns="0" bIns="0" rtlCol="0" anchor="ctr"/>
          <a:lstStyle/>
          <a:p>
            <a:pPr indent="0" marL="0">
              <a:buNone/>
            </a:pPr>
            <a:r>
              <a:rPr lang="en-US" sz="1500" b="1" dirty="0">
                <a:solidFill>
                  <a:srgbClr val="EB6834"/>
                </a:solidFill>
              </a:rPr>
              <a:t>나무</a:t>
            </a:r>
            <a:endParaRPr lang="en-US" sz="1500" dirty="0"/>
          </a:p>
          <a:p>
            <a:pPr indent="0" marL="0">
              <a:buNone/>
            </a:pPr>
            <a:r>
              <a:rPr lang="en-US" sz="1100" dirty="0">
                <a:solidFill>
                  <a:srgbClr val="7B8794"/>
                </a:solidFill>
              </a:rPr>
              <a:t>trees</a:t>
            </a:r>
            <a:endParaRPr lang="en-US" sz="1500" dirty="0"/>
          </a:p>
        </p:txBody>
      </p:sp>
      <p:pic>
        <p:nvPicPr>
          <p:cNvPr id="4" name="img-maple_tree" descr="maple_tree.png">    </p:cNvPr>
          <p:cNvPicPr>
            <a:picLocks noChangeAspect="1"/>
          </p:cNvPicPr>
          <p:nvPr/>
        </p:nvPicPr>
        <p:blipFill>
          <a:blip r:embed="rId1"/>
          <a:stretch>
            <a:fillRect/>
          </a:stretch>
        </p:blipFill>
        <p:spPr>
          <a:xfrm>
            <a:off x="1920240" y="1325880"/>
            <a:ext cx="731520" cy="731520"/>
          </a:xfrm>
          <a:prstGeom prst="rect">
            <a:avLst/>
          </a:prstGeom>
        </p:spPr>
      </p:pic>
      <p:sp>
        <p:nvSpPr>
          <p:cNvPr id="5" name="Text 2"/>
          <p:cNvSpPr txBox="1"/>
          <p:nvPr/>
        </p:nvSpPr>
        <p:spPr>
          <a:xfrm>
            <a:off x="1874520" y="2093976"/>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maple</a:t>
            </a:r>
            <a:endParaRPr lang="en-US" sz="1000" dirty="0"/>
          </a:p>
        </p:txBody>
      </p:sp>
      <p:pic>
        <p:nvPicPr>
          <p:cNvPr id="6" name="img-oak_tree" descr="oak_tree.png">    </p:cNvPr>
          <p:cNvPicPr>
            <a:picLocks noChangeAspect="1"/>
          </p:cNvPicPr>
          <p:nvPr/>
        </p:nvPicPr>
        <p:blipFill>
          <a:blip r:embed="rId2"/>
          <a:stretch>
            <a:fillRect/>
          </a:stretch>
        </p:blipFill>
        <p:spPr>
          <a:xfrm>
            <a:off x="2706624" y="1325880"/>
            <a:ext cx="731520" cy="731520"/>
          </a:xfrm>
          <a:prstGeom prst="rect">
            <a:avLst/>
          </a:prstGeom>
        </p:spPr>
      </p:pic>
      <p:sp>
        <p:nvSpPr>
          <p:cNvPr id="7" name="Text 3"/>
          <p:cNvSpPr txBox="1"/>
          <p:nvPr/>
        </p:nvSpPr>
        <p:spPr>
          <a:xfrm>
            <a:off x="2660904" y="2093976"/>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oak</a:t>
            </a:r>
            <a:endParaRPr lang="en-US" sz="1000" dirty="0"/>
          </a:p>
        </p:txBody>
      </p:sp>
      <p:pic>
        <p:nvPicPr>
          <p:cNvPr id="8" name="img-palm_tree" descr="palm_tree.png">    </p:cNvPr>
          <p:cNvPicPr>
            <a:picLocks noChangeAspect="1"/>
          </p:cNvPicPr>
          <p:nvPr/>
        </p:nvPicPr>
        <p:blipFill>
          <a:blip r:embed="rId3"/>
          <a:stretch>
            <a:fillRect/>
          </a:stretch>
        </p:blipFill>
        <p:spPr>
          <a:xfrm>
            <a:off x="3493008" y="1325880"/>
            <a:ext cx="731520" cy="731520"/>
          </a:xfrm>
          <a:prstGeom prst="rect">
            <a:avLst/>
          </a:prstGeom>
        </p:spPr>
      </p:pic>
      <p:sp>
        <p:nvSpPr>
          <p:cNvPr id="9" name="Text 4"/>
          <p:cNvSpPr txBox="1"/>
          <p:nvPr/>
        </p:nvSpPr>
        <p:spPr>
          <a:xfrm>
            <a:off x="3447288" y="2093976"/>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palm</a:t>
            </a:r>
            <a:endParaRPr lang="en-US" sz="1000" dirty="0"/>
          </a:p>
        </p:txBody>
      </p:sp>
      <p:pic>
        <p:nvPicPr>
          <p:cNvPr id="10" name="img-pine_tree" descr="pine_tree.png">    </p:cNvPr>
          <p:cNvPicPr>
            <a:picLocks noChangeAspect="1"/>
          </p:cNvPicPr>
          <p:nvPr/>
        </p:nvPicPr>
        <p:blipFill>
          <a:blip r:embed="rId4"/>
          <a:stretch>
            <a:fillRect/>
          </a:stretch>
        </p:blipFill>
        <p:spPr>
          <a:xfrm>
            <a:off x="4279392" y="1325880"/>
            <a:ext cx="731520" cy="731520"/>
          </a:xfrm>
          <a:prstGeom prst="rect">
            <a:avLst/>
          </a:prstGeom>
        </p:spPr>
      </p:pic>
      <p:sp>
        <p:nvSpPr>
          <p:cNvPr id="11" name="Text 5"/>
          <p:cNvSpPr txBox="1"/>
          <p:nvPr/>
        </p:nvSpPr>
        <p:spPr>
          <a:xfrm>
            <a:off x="4233672" y="2093976"/>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pine</a:t>
            </a:r>
            <a:endParaRPr lang="en-US" sz="1000" dirty="0"/>
          </a:p>
        </p:txBody>
      </p:sp>
      <p:pic>
        <p:nvPicPr>
          <p:cNvPr id="12" name="img-willow_tree" descr="willow_tree.png">    </p:cNvPr>
          <p:cNvPicPr>
            <a:picLocks noChangeAspect="1"/>
          </p:cNvPicPr>
          <p:nvPr/>
        </p:nvPicPr>
        <p:blipFill>
          <a:blip r:embed="rId5"/>
          <a:stretch>
            <a:fillRect/>
          </a:stretch>
        </p:blipFill>
        <p:spPr>
          <a:xfrm>
            <a:off x="5065776" y="1325880"/>
            <a:ext cx="731520" cy="731520"/>
          </a:xfrm>
          <a:prstGeom prst="rect">
            <a:avLst/>
          </a:prstGeom>
        </p:spPr>
      </p:pic>
      <p:sp>
        <p:nvSpPr>
          <p:cNvPr id="13" name="Text 6"/>
          <p:cNvSpPr txBox="1"/>
          <p:nvPr/>
        </p:nvSpPr>
        <p:spPr>
          <a:xfrm>
            <a:off x="5020056" y="2093976"/>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willow</a:t>
            </a:r>
            <a:endParaRPr lang="en-US" sz="1000" dirty="0"/>
          </a:p>
        </p:txBody>
      </p:sp>
      <p:sp>
        <p:nvSpPr>
          <p:cNvPr id="14" name="Text 7"/>
          <p:cNvSpPr txBox="1"/>
          <p:nvPr/>
        </p:nvSpPr>
        <p:spPr>
          <a:xfrm>
            <a:off x="6172200" y="1325880"/>
            <a:ext cx="1325880" cy="1005840"/>
          </a:xfrm>
          <a:prstGeom prst="rect">
            <a:avLst/>
          </a:prstGeom>
          <a:noFill/>
          <a:ln/>
        </p:spPr>
        <p:txBody>
          <a:bodyPr wrap="square" lIns="0" tIns="0" rIns="0" bIns="0" rtlCol="0" anchor="ctr"/>
          <a:lstStyle/>
          <a:p>
            <a:pPr indent="0" marL="0">
              <a:buNone/>
            </a:pPr>
            <a:r>
              <a:rPr lang="en-US" sz="1500" b="1" dirty="0">
                <a:solidFill>
                  <a:srgbClr val="EB6834"/>
                </a:solidFill>
              </a:rPr>
              <a:t>대형 육식동물</a:t>
            </a:r>
            <a:endParaRPr lang="en-US" sz="1500" dirty="0"/>
          </a:p>
          <a:p>
            <a:pPr indent="0" marL="0">
              <a:buNone/>
            </a:pPr>
            <a:r>
              <a:rPr lang="en-US" sz="1100" dirty="0">
                <a:solidFill>
                  <a:srgbClr val="7B8794"/>
                </a:solidFill>
              </a:rPr>
              <a:t>large_carnivores</a:t>
            </a:r>
            <a:endParaRPr lang="en-US" sz="1500" dirty="0"/>
          </a:p>
        </p:txBody>
      </p:sp>
      <p:pic>
        <p:nvPicPr>
          <p:cNvPr id="15" name="img-bear" descr="bear.png">    </p:cNvPr>
          <p:cNvPicPr>
            <a:picLocks noChangeAspect="1"/>
          </p:cNvPicPr>
          <p:nvPr/>
        </p:nvPicPr>
        <p:blipFill>
          <a:blip r:embed="rId6"/>
          <a:stretch>
            <a:fillRect/>
          </a:stretch>
        </p:blipFill>
        <p:spPr>
          <a:xfrm>
            <a:off x="7543800" y="1325880"/>
            <a:ext cx="731520" cy="731520"/>
          </a:xfrm>
          <a:prstGeom prst="rect">
            <a:avLst/>
          </a:prstGeom>
        </p:spPr>
      </p:pic>
      <p:sp>
        <p:nvSpPr>
          <p:cNvPr id="16" name="Text 8"/>
          <p:cNvSpPr txBox="1"/>
          <p:nvPr/>
        </p:nvSpPr>
        <p:spPr>
          <a:xfrm>
            <a:off x="7498080" y="2093976"/>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bear</a:t>
            </a:r>
            <a:endParaRPr lang="en-US" sz="1000" dirty="0"/>
          </a:p>
        </p:txBody>
      </p:sp>
      <p:pic>
        <p:nvPicPr>
          <p:cNvPr id="17" name="img-leopard" descr="leopard.png">    </p:cNvPr>
          <p:cNvPicPr>
            <a:picLocks noChangeAspect="1"/>
          </p:cNvPicPr>
          <p:nvPr/>
        </p:nvPicPr>
        <p:blipFill>
          <a:blip r:embed="rId7"/>
          <a:stretch>
            <a:fillRect/>
          </a:stretch>
        </p:blipFill>
        <p:spPr>
          <a:xfrm>
            <a:off x="8330184" y="1325880"/>
            <a:ext cx="731520" cy="731520"/>
          </a:xfrm>
          <a:prstGeom prst="rect">
            <a:avLst/>
          </a:prstGeom>
        </p:spPr>
      </p:pic>
      <p:sp>
        <p:nvSpPr>
          <p:cNvPr id="18" name="Text 9"/>
          <p:cNvSpPr txBox="1"/>
          <p:nvPr/>
        </p:nvSpPr>
        <p:spPr>
          <a:xfrm>
            <a:off x="8284464" y="2093976"/>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leopard</a:t>
            </a:r>
            <a:endParaRPr lang="en-US" sz="1000" dirty="0"/>
          </a:p>
        </p:txBody>
      </p:sp>
      <p:pic>
        <p:nvPicPr>
          <p:cNvPr id="19" name="img-lion" descr="lion.png">    </p:cNvPr>
          <p:cNvPicPr>
            <a:picLocks noChangeAspect="1"/>
          </p:cNvPicPr>
          <p:nvPr/>
        </p:nvPicPr>
        <p:blipFill>
          <a:blip r:embed="rId8"/>
          <a:stretch>
            <a:fillRect/>
          </a:stretch>
        </p:blipFill>
        <p:spPr>
          <a:xfrm>
            <a:off x="9116568" y="1325880"/>
            <a:ext cx="731520" cy="731520"/>
          </a:xfrm>
          <a:prstGeom prst="rect">
            <a:avLst/>
          </a:prstGeom>
        </p:spPr>
      </p:pic>
      <p:sp>
        <p:nvSpPr>
          <p:cNvPr id="20" name="Text 10"/>
          <p:cNvSpPr txBox="1"/>
          <p:nvPr/>
        </p:nvSpPr>
        <p:spPr>
          <a:xfrm>
            <a:off x="9070848" y="2093976"/>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lion</a:t>
            </a:r>
            <a:endParaRPr lang="en-US" sz="1000" dirty="0"/>
          </a:p>
        </p:txBody>
      </p:sp>
      <p:pic>
        <p:nvPicPr>
          <p:cNvPr id="21" name="img-tiger" descr="tiger.png">    </p:cNvPr>
          <p:cNvPicPr>
            <a:picLocks noChangeAspect="1"/>
          </p:cNvPicPr>
          <p:nvPr/>
        </p:nvPicPr>
        <p:blipFill>
          <a:blip r:embed="rId9"/>
          <a:stretch>
            <a:fillRect/>
          </a:stretch>
        </p:blipFill>
        <p:spPr>
          <a:xfrm>
            <a:off x="9902952" y="1325880"/>
            <a:ext cx="731520" cy="731520"/>
          </a:xfrm>
          <a:prstGeom prst="rect">
            <a:avLst/>
          </a:prstGeom>
        </p:spPr>
      </p:pic>
      <p:sp>
        <p:nvSpPr>
          <p:cNvPr id="22" name="Text 11"/>
          <p:cNvSpPr txBox="1"/>
          <p:nvPr/>
        </p:nvSpPr>
        <p:spPr>
          <a:xfrm>
            <a:off x="9857232" y="2093976"/>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tiger</a:t>
            </a:r>
            <a:endParaRPr lang="en-US" sz="1000" dirty="0"/>
          </a:p>
        </p:txBody>
      </p:sp>
      <p:pic>
        <p:nvPicPr>
          <p:cNvPr id="23" name="img-wolf" descr="wolf.png">    </p:cNvPr>
          <p:cNvPicPr>
            <a:picLocks noChangeAspect="1"/>
          </p:cNvPicPr>
          <p:nvPr/>
        </p:nvPicPr>
        <p:blipFill>
          <a:blip r:embed="rId10"/>
          <a:stretch>
            <a:fillRect/>
          </a:stretch>
        </p:blipFill>
        <p:spPr>
          <a:xfrm>
            <a:off x="10689336" y="1325880"/>
            <a:ext cx="731520" cy="731520"/>
          </a:xfrm>
          <a:prstGeom prst="rect">
            <a:avLst/>
          </a:prstGeom>
        </p:spPr>
      </p:pic>
      <p:sp>
        <p:nvSpPr>
          <p:cNvPr id="24" name="Text 12"/>
          <p:cNvSpPr txBox="1"/>
          <p:nvPr/>
        </p:nvSpPr>
        <p:spPr>
          <a:xfrm>
            <a:off x="10643616" y="2093976"/>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wolf</a:t>
            </a:r>
            <a:endParaRPr lang="en-US" sz="1000" dirty="0"/>
          </a:p>
        </p:txBody>
      </p:sp>
      <p:sp>
        <p:nvSpPr>
          <p:cNvPr id="25" name="Text 13"/>
          <p:cNvSpPr txBox="1"/>
          <p:nvPr/>
        </p:nvSpPr>
        <p:spPr>
          <a:xfrm>
            <a:off x="548640" y="2953512"/>
            <a:ext cx="1325880" cy="1005840"/>
          </a:xfrm>
          <a:prstGeom prst="rect">
            <a:avLst/>
          </a:prstGeom>
          <a:noFill/>
          <a:ln/>
        </p:spPr>
        <p:txBody>
          <a:bodyPr wrap="square" lIns="0" tIns="0" rIns="0" bIns="0" rtlCol="0" anchor="ctr"/>
          <a:lstStyle/>
          <a:p>
            <a:pPr indent="0" marL="0">
              <a:buNone/>
            </a:pPr>
            <a:r>
              <a:rPr lang="en-US" sz="1500" b="1" dirty="0">
                <a:solidFill>
                  <a:srgbClr val="EB6834"/>
                </a:solidFill>
              </a:rPr>
              <a:t>탈것 1</a:t>
            </a:r>
            <a:endParaRPr lang="en-US" sz="1500" dirty="0"/>
          </a:p>
          <a:p>
            <a:pPr indent="0" marL="0">
              <a:buNone/>
            </a:pPr>
            <a:r>
              <a:rPr lang="en-US" sz="1100" dirty="0">
                <a:solidFill>
                  <a:srgbClr val="7B8794"/>
                </a:solidFill>
              </a:rPr>
              <a:t>vehicles_1</a:t>
            </a:r>
            <a:endParaRPr lang="en-US" sz="1500" dirty="0"/>
          </a:p>
        </p:txBody>
      </p:sp>
      <p:pic>
        <p:nvPicPr>
          <p:cNvPr id="26" name="img-bicycle" descr="bicycle.png">    </p:cNvPr>
          <p:cNvPicPr>
            <a:picLocks noChangeAspect="1"/>
          </p:cNvPicPr>
          <p:nvPr/>
        </p:nvPicPr>
        <p:blipFill>
          <a:blip r:embed="rId11"/>
          <a:stretch>
            <a:fillRect/>
          </a:stretch>
        </p:blipFill>
        <p:spPr>
          <a:xfrm>
            <a:off x="1920240" y="2953512"/>
            <a:ext cx="731520" cy="731520"/>
          </a:xfrm>
          <a:prstGeom prst="rect">
            <a:avLst/>
          </a:prstGeom>
        </p:spPr>
      </p:pic>
      <p:sp>
        <p:nvSpPr>
          <p:cNvPr id="27" name="Text 14"/>
          <p:cNvSpPr txBox="1"/>
          <p:nvPr/>
        </p:nvSpPr>
        <p:spPr>
          <a:xfrm>
            <a:off x="1874520" y="3721608"/>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bicycle</a:t>
            </a:r>
            <a:endParaRPr lang="en-US" sz="1000" dirty="0"/>
          </a:p>
        </p:txBody>
      </p:sp>
      <p:pic>
        <p:nvPicPr>
          <p:cNvPr id="28" name="img-bus" descr="bus.png">    </p:cNvPr>
          <p:cNvPicPr>
            <a:picLocks noChangeAspect="1"/>
          </p:cNvPicPr>
          <p:nvPr/>
        </p:nvPicPr>
        <p:blipFill>
          <a:blip r:embed="rId12"/>
          <a:stretch>
            <a:fillRect/>
          </a:stretch>
        </p:blipFill>
        <p:spPr>
          <a:xfrm>
            <a:off x="2706624" y="2953512"/>
            <a:ext cx="731520" cy="731520"/>
          </a:xfrm>
          <a:prstGeom prst="rect">
            <a:avLst/>
          </a:prstGeom>
        </p:spPr>
      </p:pic>
      <p:sp>
        <p:nvSpPr>
          <p:cNvPr id="29" name="Text 15"/>
          <p:cNvSpPr txBox="1"/>
          <p:nvPr/>
        </p:nvSpPr>
        <p:spPr>
          <a:xfrm>
            <a:off x="2660904" y="3721608"/>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bus</a:t>
            </a:r>
            <a:endParaRPr lang="en-US" sz="1000" dirty="0"/>
          </a:p>
        </p:txBody>
      </p:sp>
      <p:pic>
        <p:nvPicPr>
          <p:cNvPr id="30" name="img-motorcycle" descr="motorcycle.png">    </p:cNvPr>
          <p:cNvPicPr>
            <a:picLocks noChangeAspect="1"/>
          </p:cNvPicPr>
          <p:nvPr/>
        </p:nvPicPr>
        <p:blipFill>
          <a:blip r:embed="rId13"/>
          <a:stretch>
            <a:fillRect/>
          </a:stretch>
        </p:blipFill>
        <p:spPr>
          <a:xfrm>
            <a:off x="3493008" y="2953512"/>
            <a:ext cx="731520" cy="731520"/>
          </a:xfrm>
          <a:prstGeom prst="rect">
            <a:avLst/>
          </a:prstGeom>
        </p:spPr>
      </p:pic>
      <p:sp>
        <p:nvSpPr>
          <p:cNvPr id="31" name="Text 16"/>
          <p:cNvSpPr txBox="1"/>
          <p:nvPr/>
        </p:nvSpPr>
        <p:spPr>
          <a:xfrm>
            <a:off x="3447288" y="3721608"/>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motorcycle</a:t>
            </a:r>
            <a:endParaRPr lang="en-US" sz="1000" dirty="0"/>
          </a:p>
        </p:txBody>
      </p:sp>
      <p:pic>
        <p:nvPicPr>
          <p:cNvPr id="32" name="img-pickup_truck" descr="pickup_truck.png">    </p:cNvPr>
          <p:cNvPicPr>
            <a:picLocks noChangeAspect="1"/>
          </p:cNvPicPr>
          <p:nvPr/>
        </p:nvPicPr>
        <p:blipFill>
          <a:blip r:embed="rId14"/>
          <a:stretch>
            <a:fillRect/>
          </a:stretch>
        </p:blipFill>
        <p:spPr>
          <a:xfrm>
            <a:off x="4279392" y="2953512"/>
            <a:ext cx="731520" cy="731520"/>
          </a:xfrm>
          <a:prstGeom prst="rect">
            <a:avLst/>
          </a:prstGeom>
        </p:spPr>
      </p:pic>
      <p:sp>
        <p:nvSpPr>
          <p:cNvPr id="33" name="Text 17"/>
          <p:cNvSpPr txBox="1"/>
          <p:nvPr/>
        </p:nvSpPr>
        <p:spPr>
          <a:xfrm>
            <a:off x="4233672" y="3721608"/>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pickup truck</a:t>
            </a:r>
            <a:endParaRPr lang="en-US" sz="1000" dirty="0"/>
          </a:p>
        </p:txBody>
      </p:sp>
      <p:pic>
        <p:nvPicPr>
          <p:cNvPr id="34" name="img-train" descr="train.png">    </p:cNvPr>
          <p:cNvPicPr>
            <a:picLocks noChangeAspect="1"/>
          </p:cNvPicPr>
          <p:nvPr/>
        </p:nvPicPr>
        <p:blipFill>
          <a:blip r:embed="rId15"/>
          <a:stretch>
            <a:fillRect/>
          </a:stretch>
        </p:blipFill>
        <p:spPr>
          <a:xfrm>
            <a:off x="5065776" y="2953512"/>
            <a:ext cx="731520" cy="731520"/>
          </a:xfrm>
          <a:prstGeom prst="rect">
            <a:avLst/>
          </a:prstGeom>
        </p:spPr>
      </p:pic>
      <p:sp>
        <p:nvSpPr>
          <p:cNvPr id="35" name="Text 18"/>
          <p:cNvSpPr txBox="1"/>
          <p:nvPr/>
        </p:nvSpPr>
        <p:spPr>
          <a:xfrm>
            <a:off x="5020056" y="3721608"/>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train</a:t>
            </a:r>
            <a:endParaRPr lang="en-US" sz="1000" dirty="0"/>
          </a:p>
        </p:txBody>
      </p:sp>
      <p:sp>
        <p:nvSpPr>
          <p:cNvPr id="36" name="Text 19"/>
          <p:cNvSpPr txBox="1"/>
          <p:nvPr/>
        </p:nvSpPr>
        <p:spPr>
          <a:xfrm>
            <a:off x="6172200" y="2953512"/>
            <a:ext cx="1325880" cy="1005840"/>
          </a:xfrm>
          <a:prstGeom prst="rect">
            <a:avLst/>
          </a:prstGeom>
          <a:noFill/>
          <a:ln/>
        </p:spPr>
        <p:txBody>
          <a:bodyPr wrap="square" lIns="0" tIns="0" rIns="0" bIns="0" rtlCol="0" anchor="ctr"/>
          <a:lstStyle/>
          <a:p>
            <a:pPr indent="0" marL="0">
              <a:buNone/>
            </a:pPr>
            <a:r>
              <a:rPr lang="en-US" sz="1500" b="1" dirty="0">
                <a:solidFill>
                  <a:srgbClr val="EB6834"/>
                </a:solidFill>
              </a:rPr>
              <a:t>꽃</a:t>
            </a:r>
            <a:endParaRPr lang="en-US" sz="1500" dirty="0"/>
          </a:p>
          <a:p>
            <a:pPr indent="0" marL="0">
              <a:buNone/>
            </a:pPr>
            <a:r>
              <a:rPr lang="en-US" sz="1100" dirty="0">
                <a:solidFill>
                  <a:srgbClr val="7B8794"/>
                </a:solidFill>
              </a:rPr>
              <a:t>flowers</a:t>
            </a:r>
            <a:endParaRPr lang="en-US" sz="1500" dirty="0"/>
          </a:p>
        </p:txBody>
      </p:sp>
      <p:pic>
        <p:nvPicPr>
          <p:cNvPr id="37" name="img-orchid" descr="orchid.png">    </p:cNvPr>
          <p:cNvPicPr>
            <a:picLocks noChangeAspect="1"/>
          </p:cNvPicPr>
          <p:nvPr/>
        </p:nvPicPr>
        <p:blipFill>
          <a:blip r:embed="rId16"/>
          <a:stretch>
            <a:fillRect/>
          </a:stretch>
        </p:blipFill>
        <p:spPr>
          <a:xfrm>
            <a:off x="7543800" y="2953512"/>
            <a:ext cx="731520" cy="731520"/>
          </a:xfrm>
          <a:prstGeom prst="rect">
            <a:avLst/>
          </a:prstGeom>
        </p:spPr>
      </p:pic>
      <p:sp>
        <p:nvSpPr>
          <p:cNvPr id="38" name="Text 20"/>
          <p:cNvSpPr txBox="1"/>
          <p:nvPr/>
        </p:nvSpPr>
        <p:spPr>
          <a:xfrm>
            <a:off x="7498080" y="3721608"/>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orchid</a:t>
            </a:r>
            <a:endParaRPr lang="en-US" sz="1000" dirty="0"/>
          </a:p>
        </p:txBody>
      </p:sp>
      <p:pic>
        <p:nvPicPr>
          <p:cNvPr id="39" name="img-poppy" descr="poppy.png">    </p:cNvPr>
          <p:cNvPicPr>
            <a:picLocks noChangeAspect="1"/>
          </p:cNvPicPr>
          <p:nvPr/>
        </p:nvPicPr>
        <p:blipFill>
          <a:blip r:embed="rId17"/>
          <a:stretch>
            <a:fillRect/>
          </a:stretch>
        </p:blipFill>
        <p:spPr>
          <a:xfrm>
            <a:off x="8330184" y="2953512"/>
            <a:ext cx="731520" cy="731520"/>
          </a:xfrm>
          <a:prstGeom prst="rect">
            <a:avLst/>
          </a:prstGeom>
        </p:spPr>
      </p:pic>
      <p:sp>
        <p:nvSpPr>
          <p:cNvPr id="40" name="Text 21"/>
          <p:cNvSpPr txBox="1"/>
          <p:nvPr/>
        </p:nvSpPr>
        <p:spPr>
          <a:xfrm>
            <a:off x="8284464" y="3721608"/>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poppy</a:t>
            </a:r>
            <a:endParaRPr lang="en-US" sz="1000" dirty="0"/>
          </a:p>
        </p:txBody>
      </p:sp>
      <p:pic>
        <p:nvPicPr>
          <p:cNvPr id="41" name="img-rose" descr="rose.png">    </p:cNvPr>
          <p:cNvPicPr>
            <a:picLocks noChangeAspect="1"/>
          </p:cNvPicPr>
          <p:nvPr/>
        </p:nvPicPr>
        <p:blipFill>
          <a:blip r:embed="rId18"/>
          <a:stretch>
            <a:fillRect/>
          </a:stretch>
        </p:blipFill>
        <p:spPr>
          <a:xfrm>
            <a:off x="9116568" y="2953512"/>
            <a:ext cx="731520" cy="731520"/>
          </a:xfrm>
          <a:prstGeom prst="rect">
            <a:avLst/>
          </a:prstGeom>
        </p:spPr>
      </p:pic>
      <p:sp>
        <p:nvSpPr>
          <p:cNvPr id="42" name="Text 22"/>
          <p:cNvSpPr txBox="1"/>
          <p:nvPr/>
        </p:nvSpPr>
        <p:spPr>
          <a:xfrm>
            <a:off x="9070848" y="3721608"/>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rose</a:t>
            </a:r>
            <a:endParaRPr lang="en-US" sz="1000" dirty="0"/>
          </a:p>
        </p:txBody>
      </p:sp>
      <p:pic>
        <p:nvPicPr>
          <p:cNvPr id="43" name="img-sunflower" descr="sunflower.png">    </p:cNvPr>
          <p:cNvPicPr>
            <a:picLocks noChangeAspect="1"/>
          </p:cNvPicPr>
          <p:nvPr/>
        </p:nvPicPr>
        <p:blipFill>
          <a:blip r:embed="rId19"/>
          <a:stretch>
            <a:fillRect/>
          </a:stretch>
        </p:blipFill>
        <p:spPr>
          <a:xfrm>
            <a:off x="9902952" y="2953512"/>
            <a:ext cx="731520" cy="731520"/>
          </a:xfrm>
          <a:prstGeom prst="rect">
            <a:avLst/>
          </a:prstGeom>
        </p:spPr>
      </p:pic>
      <p:sp>
        <p:nvSpPr>
          <p:cNvPr id="44" name="Text 23"/>
          <p:cNvSpPr txBox="1"/>
          <p:nvPr/>
        </p:nvSpPr>
        <p:spPr>
          <a:xfrm>
            <a:off x="9857232" y="3721608"/>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sunflower</a:t>
            </a:r>
            <a:endParaRPr lang="en-US" sz="1000" dirty="0"/>
          </a:p>
        </p:txBody>
      </p:sp>
      <p:pic>
        <p:nvPicPr>
          <p:cNvPr id="45" name="img-tulip" descr="tulip.png">    </p:cNvPr>
          <p:cNvPicPr>
            <a:picLocks noChangeAspect="1"/>
          </p:cNvPicPr>
          <p:nvPr/>
        </p:nvPicPr>
        <p:blipFill>
          <a:blip r:embed="rId20"/>
          <a:stretch>
            <a:fillRect/>
          </a:stretch>
        </p:blipFill>
        <p:spPr>
          <a:xfrm>
            <a:off x="10689336" y="2953512"/>
            <a:ext cx="731520" cy="731520"/>
          </a:xfrm>
          <a:prstGeom prst="rect">
            <a:avLst/>
          </a:prstGeom>
        </p:spPr>
      </p:pic>
      <p:sp>
        <p:nvSpPr>
          <p:cNvPr id="46" name="Text 24"/>
          <p:cNvSpPr txBox="1"/>
          <p:nvPr/>
        </p:nvSpPr>
        <p:spPr>
          <a:xfrm>
            <a:off x="10643616" y="3721608"/>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tulip</a:t>
            </a:r>
            <a:endParaRPr lang="en-US" sz="1000" dirty="0"/>
          </a:p>
        </p:txBody>
      </p:sp>
      <p:sp>
        <p:nvSpPr>
          <p:cNvPr id="47" name="Text 25"/>
          <p:cNvSpPr txBox="1"/>
          <p:nvPr/>
        </p:nvSpPr>
        <p:spPr>
          <a:xfrm>
            <a:off x="548640" y="4581144"/>
            <a:ext cx="1325880" cy="1005840"/>
          </a:xfrm>
          <a:prstGeom prst="rect">
            <a:avLst/>
          </a:prstGeom>
          <a:noFill/>
          <a:ln/>
        </p:spPr>
        <p:txBody>
          <a:bodyPr wrap="square" lIns="0" tIns="0" rIns="0" bIns="0" rtlCol="0" anchor="ctr"/>
          <a:lstStyle/>
          <a:p>
            <a:pPr indent="0" marL="0">
              <a:buNone/>
            </a:pPr>
            <a:r>
              <a:rPr lang="en-US" sz="1500" b="1" dirty="0">
                <a:solidFill>
                  <a:srgbClr val="EB6834"/>
                </a:solidFill>
              </a:rPr>
              <a:t>어류</a:t>
            </a:r>
            <a:endParaRPr lang="en-US" sz="1500" dirty="0"/>
          </a:p>
          <a:p>
            <a:pPr indent="0" marL="0">
              <a:buNone/>
            </a:pPr>
            <a:r>
              <a:rPr lang="en-US" sz="1100" dirty="0">
                <a:solidFill>
                  <a:srgbClr val="7B8794"/>
                </a:solidFill>
              </a:rPr>
              <a:t>fish</a:t>
            </a:r>
            <a:endParaRPr lang="en-US" sz="1500" dirty="0"/>
          </a:p>
        </p:txBody>
      </p:sp>
      <p:pic>
        <p:nvPicPr>
          <p:cNvPr id="48" name="img-aquarium_fish" descr="aquarium_fish.png">    </p:cNvPr>
          <p:cNvPicPr>
            <a:picLocks noChangeAspect="1"/>
          </p:cNvPicPr>
          <p:nvPr/>
        </p:nvPicPr>
        <p:blipFill>
          <a:blip r:embed="rId21"/>
          <a:stretch>
            <a:fillRect/>
          </a:stretch>
        </p:blipFill>
        <p:spPr>
          <a:xfrm>
            <a:off x="1920240" y="4581144"/>
            <a:ext cx="731520" cy="731520"/>
          </a:xfrm>
          <a:prstGeom prst="rect">
            <a:avLst/>
          </a:prstGeom>
        </p:spPr>
      </p:pic>
      <p:sp>
        <p:nvSpPr>
          <p:cNvPr id="49" name="Text 26"/>
          <p:cNvSpPr txBox="1"/>
          <p:nvPr/>
        </p:nvSpPr>
        <p:spPr>
          <a:xfrm>
            <a:off x="1874520" y="5349240"/>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aquarium fish</a:t>
            </a:r>
            <a:endParaRPr lang="en-US" sz="1000" dirty="0"/>
          </a:p>
        </p:txBody>
      </p:sp>
      <p:pic>
        <p:nvPicPr>
          <p:cNvPr id="50" name="img-flatfish" descr="flatfish.png">    </p:cNvPr>
          <p:cNvPicPr>
            <a:picLocks noChangeAspect="1"/>
          </p:cNvPicPr>
          <p:nvPr/>
        </p:nvPicPr>
        <p:blipFill>
          <a:blip r:embed="rId22"/>
          <a:stretch>
            <a:fillRect/>
          </a:stretch>
        </p:blipFill>
        <p:spPr>
          <a:xfrm>
            <a:off x="2706624" y="4581144"/>
            <a:ext cx="731520" cy="731520"/>
          </a:xfrm>
          <a:prstGeom prst="rect">
            <a:avLst/>
          </a:prstGeom>
        </p:spPr>
      </p:pic>
      <p:sp>
        <p:nvSpPr>
          <p:cNvPr id="51" name="Text 27"/>
          <p:cNvSpPr txBox="1"/>
          <p:nvPr/>
        </p:nvSpPr>
        <p:spPr>
          <a:xfrm>
            <a:off x="2660904" y="5349240"/>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flatfish</a:t>
            </a:r>
            <a:endParaRPr lang="en-US" sz="1000" dirty="0"/>
          </a:p>
        </p:txBody>
      </p:sp>
      <p:pic>
        <p:nvPicPr>
          <p:cNvPr id="52" name="img-ray" descr="ray.png">    </p:cNvPr>
          <p:cNvPicPr>
            <a:picLocks noChangeAspect="1"/>
          </p:cNvPicPr>
          <p:nvPr/>
        </p:nvPicPr>
        <p:blipFill>
          <a:blip r:embed="rId23"/>
          <a:stretch>
            <a:fillRect/>
          </a:stretch>
        </p:blipFill>
        <p:spPr>
          <a:xfrm>
            <a:off x="3493008" y="4581144"/>
            <a:ext cx="731520" cy="731520"/>
          </a:xfrm>
          <a:prstGeom prst="rect">
            <a:avLst/>
          </a:prstGeom>
        </p:spPr>
      </p:pic>
      <p:sp>
        <p:nvSpPr>
          <p:cNvPr id="53" name="Text 28"/>
          <p:cNvSpPr txBox="1"/>
          <p:nvPr/>
        </p:nvSpPr>
        <p:spPr>
          <a:xfrm>
            <a:off x="3447288" y="5349240"/>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ray</a:t>
            </a:r>
            <a:endParaRPr lang="en-US" sz="1000" dirty="0"/>
          </a:p>
        </p:txBody>
      </p:sp>
      <p:pic>
        <p:nvPicPr>
          <p:cNvPr id="54" name="img-shark" descr="shark.png">    </p:cNvPr>
          <p:cNvPicPr>
            <a:picLocks noChangeAspect="1"/>
          </p:cNvPicPr>
          <p:nvPr/>
        </p:nvPicPr>
        <p:blipFill>
          <a:blip r:embed="rId24"/>
          <a:stretch>
            <a:fillRect/>
          </a:stretch>
        </p:blipFill>
        <p:spPr>
          <a:xfrm>
            <a:off x="4279392" y="4581144"/>
            <a:ext cx="731520" cy="731520"/>
          </a:xfrm>
          <a:prstGeom prst="rect">
            <a:avLst/>
          </a:prstGeom>
        </p:spPr>
      </p:pic>
      <p:sp>
        <p:nvSpPr>
          <p:cNvPr id="55" name="Text 29"/>
          <p:cNvSpPr txBox="1"/>
          <p:nvPr/>
        </p:nvSpPr>
        <p:spPr>
          <a:xfrm>
            <a:off x="4233672" y="5349240"/>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shark</a:t>
            </a:r>
            <a:endParaRPr lang="en-US" sz="1000" dirty="0"/>
          </a:p>
        </p:txBody>
      </p:sp>
      <p:pic>
        <p:nvPicPr>
          <p:cNvPr id="56" name="img-trout" descr="trout.png">    </p:cNvPr>
          <p:cNvPicPr>
            <a:picLocks noChangeAspect="1"/>
          </p:cNvPicPr>
          <p:nvPr/>
        </p:nvPicPr>
        <p:blipFill>
          <a:blip r:embed="rId25"/>
          <a:stretch>
            <a:fillRect/>
          </a:stretch>
        </p:blipFill>
        <p:spPr>
          <a:xfrm>
            <a:off x="5065776" y="4581144"/>
            <a:ext cx="731520" cy="731520"/>
          </a:xfrm>
          <a:prstGeom prst="rect">
            <a:avLst/>
          </a:prstGeom>
        </p:spPr>
      </p:pic>
      <p:sp>
        <p:nvSpPr>
          <p:cNvPr id="57" name="Text 30"/>
          <p:cNvSpPr txBox="1"/>
          <p:nvPr/>
        </p:nvSpPr>
        <p:spPr>
          <a:xfrm>
            <a:off x="5020056" y="5349240"/>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trout</a:t>
            </a:r>
            <a:endParaRPr lang="en-US" sz="1000" dirty="0"/>
          </a:p>
        </p:txBody>
      </p:sp>
      <p:sp>
        <p:nvSpPr>
          <p:cNvPr id="58" name="Text 31"/>
          <p:cNvSpPr txBox="1"/>
          <p:nvPr/>
        </p:nvSpPr>
        <p:spPr>
          <a:xfrm>
            <a:off x="6172200" y="4581144"/>
            <a:ext cx="1325880" cy="1005840"/>
          </a:xfrm>
          <a:prstGeom prst="rect">
            <a:avLst/>
          </a:prstGeom>
          <a:noFill/>
          <a:ln/>
        </p:spPr>
        <p:txBody>
          <a:bodyPr wrap="square" lIns="0" tIns="0" rIns="0" bIns="0" rtlCol="0" anchor="ctr"/>
          <a:lstStyle/>
          <a:p>
            <a:pPr indent="0" marL="0">
              <a:buNone/>
            </a:pPr>
            <a:r>
              <a:rPr lang="en-US" sz="1500" b="1" dirty="0">
                <a:solidFill>
                  <a:srgbClr val="EB6834"/>
                </a:solidFill>
              </a:rPr>
              <a:t>사람</a:t>
            </a:r>
            <a:endParaRPr lang="en-US" sz="1500" dirty="0"/>
          </a:p>
          <a:p>
            <a:pPr indent="0" marL="0">
              <a:buNone/>
            </a:pPr>
            <a:r>
              <a:rPr lang="en-US" sz="1100" dirty="0">
                <a:solidFill>
                  <a:srgbClr val="7B8794"/>
                </a:solidFill>
              </a:rPr>
              <a:t>people</a:t>
            </a:r>
            <a:endParaRPr lang="en-US" sz="1500" dirty="0"/>
          </a:p>
        </p:txBody>
      </p:sp>
      <p:pic>
        <p:nvPicPr>
          <p:cNvPr id="59" name="img-baby" descr="baby.png">    </p:cNvPr>
          <p:cNvPicPr>
            <a:picLocks noChangeAspect="1"/>
          </p:cNvPicPr>
          <p:nvPr/>
        </p:nvPicPr>
        <p:blipFill>
          <a:blip r:embed="rId26"/>
          <a:stretch>
            <a:fillRect/>
          </a:stretch>
        </p:blipFill>
        <p:spPr>
          <a:xfrm>
            <a:off x="7543800" y="4581144"/>
            <a:ext cx="731520" cy="731520"/>
          </a:xfrm>
          <a:prstGeom prst="rect">
            <a:avLst/>
          </a:prstGeom>
        </p:spPr>
      </p:pic>
      <p:sp>
        <p:nvSpPr>
          <p:cNvPr id="60" name="Text 32"/>
          <p:cNvSpPr txBox="1"/>
          <p:nvPr/>
        </p:nvSpPr>
        <p:spPr>
          <a:xfrm>
            <a:off x="7498080" y="5349240"/>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baby</a:t>
            </a:r>
            <a:endParaRPr lang="en-US" sz="1000" dirty="0"/>
          </a:p>
        </p:txBody>
      </p:sp>
      <p:pic>
        <p:nvPicPr>
          <p:cNvPr id="61" name="img-boy" descr="boy.png">    </p:cNvPr>
          <p:cNvPicPr>
            <a:picLocks noChangeAspect="1"/>
          </p:cNvPicPr>
          <p:nvPr/>
        </p:nvPicPr>
        <p:blipFill>
          <a:blip r:embed="rId27"/>
          <a:stretch>
            <a:fillRect/>
          </a:stretch>
        </p:blipFill>
        <p:spPr>
          <a:xfrm>
            <a:off x="8330184" y="4581144"/>
            <a:ext cx="731520" cy="731520"/>
          </a:xfrm>
          <a:prstGeom prst="rect">
            <a:avLst/>
          </a:prstGeom>
        </p:spPr>
      </p:pic>
      <p:sp>
        <p:nvSpPr>
          <p:cNvPr id="62" name="Text 33"/>
          <p:cNvSpPr txBox="1"/>
          <p:nvPr/>
        </p:nvSpPr>
        <p:spPr>
          <a:xfrm>
            <a:off x="8284464" y="5349240"/>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boy</a:t>
            </a:r>
            <a:endParaRPr lang="en-US" sz="1000" dirty="0"/>
          </a:p>
        </p:txBody>
      </p:sp>
      <p:pic>
        <p:nvPicPr>
          <p:cNvPr id="63" name="img-girl" descr="girl.png">    </p:cNvPr>
          <p:cNvPicPr>
            <a:picLocks noChangeAspect="1"/>
          </p:cNvPicPr>
          <p:nvPr/>
        </p:nvPicPr>
        <p:blipFill>
          <a:blip r:embed="rId28"/>
          <a:stretch>
            <a:fillRect/>
          </a:stretch>
        </p:blipFill>
        <p:spPr>
          <a:xfrm>
            <a:off x="9116568" y="4581144"/>
            <a:ext cx="731520" cy="731520"/>
          </a:xfrm>
          <a:prstGeom prst="rect">
            <a:avLst/>
          </a:prstGeom>
        </p:spPr>
      </p:pic>
      <p:sp>
        <p:nvSpPr>
          <p:cNvPr id="64" name="Text 34"/>
          <p:cNvSpPr txBox="1"/>
          <p:nvPr/>
        </p:nvSpPr>
        <p:spPr>
          <a:xfrm>
            <a:off x="9070848" y="5349240"/>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girl</a:t>
            </a:r>
            <a:endParaRPr lang="en-US" sz="1000" dirty="0"/>
          </a:p>
        </p:txBody>
      </p:sp>
      <p:pic>
        <p:nvPicPr>
          <p:cNvPr id="65" name="img-man" descr="man.png">    </p:cNvPr>
          <p:cNvPicPr>
            <a:picLocks noChangeAspect="1"/>
          </p:cNvPicPr>
          <p:nvPr/>
        </p:nvPicPr>
        <p:blipFill>
          <a:blip r:embed="rId29"/>
          <a:stretch>
            <a:fillRect/>
          </a:stretch>
        </p:blipFill>
        <p:spPr>
          <a:xfrm>
            <a:off x="9902952" y="4581144"/>
            <a:ext cx="731520" cy="731520"/>
          </a:xfrm>
          <a:prstGeom prst="rect">
            <a:avLst/>
          </a:prstGeom>
        </p:spPr>
      </p:pic>
      <p:sp>
        <p:nvSpPr>
          <p:cNvPr id="66" name="Text 35"/>
          <p:cNvSpPr txBox="1"/>
          <p:nvPr/>
        </p:nvSpPr>
        <p:spPr>
          <a:xfrm>
            <a:off x="9857232" y="5349240"/>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man</a:t>
            </a:r>
            <a:endParaRPr lang="en-US" sz="1000" dirty="0"/>
          </a:p>
        </p:txBody>
      </p:sp>
      <p:pic>
        <p:nvPicPr>
          <p:cNvPr id="67" name="img-woman" descr="woman.png">    </p:cNvPr>
          <p:cNvPicPr>
            <a:picLocks noChangeAspect="1"/>
          </p:cNvPicPr>
          <p:nvPr/>
        </p:nvPicPr>
        <p:blipFill>
          <a:blip r:embed="rId30"/>
          <a:stretch>
            <a:fillRect/>
          </a:stretch>
        </p:blipFill>
        <p:spPr>
          <a:xfrm>
            <a:off x="10689336" y="4581144"/>
            <a:ext cx="731520" cy="731520"/>
          </a:xfrm>
          <a:prstGeom prst="rect">
            <a:avLst/>
          </a:prstGeom>
        </p:spPr>
      </p:pic>
      <p:sp>
        <p:nvSpPr>
          <p:cNvPr id="68" name="Text 36"/>
          <p:cNvSpPr txBox="1"/>
          <p:nvPr/>
        </p:nvSpPr>
        <p:spPr>
          <a:xfrm>
            <a:off x="10643616" y="5349240"/>
            <a:ext cx="822960" cy="274320"/>
          </a:xfrm>
          <a:prstGeom prst="rect">
            <a:avLst/>
          </a:prstGeom>
          <a:noFill/>
          <a:ln/>
        </p:spPr>
        <p:txBody>
          <a:bodyPr wrap="square" lIns="0" tIns="0" rIns="0" bIns="0" rtlCol="0" anchor="ctr"/>
          <a:lstStyle/>
          <a:p>
            <a:pPr algn="ctr" indent="0" marL="0">
              <a:buNone/>
            </a:pPr>
            <a:r>
              <a:rPr lang="en-US" sz="1000" dirty="0">
                <a:solidFill>
                  <a:srgbClr val="52606D"/>
                </a:solidFill>
              </a:rPr>
              <a:t>woman</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20개 상위 클래스 전체</a:t>
            </a:r>
            <a:endParaRPr lang="en-US" sz="3000" dirty="0"/>
          </a:p>
        </p:txBody>
      </p:sp>
      <p:sp>
        <p:nvSpPr>
          <p:cNvPr id="3" name="chip"/>
          <p:cNvSpPr/>
          <p:nvPr/>
        </p:nvSpPr>
        <p:spPr>
          <a:xfrm>
            <a:off x="548640" y="1325880"/>
            <a:ext cx="2679192" cy="859536"/>
          </a:xfrm>
          <a:prstGeom prst="roundRect">
            <a:avLst>
              <a:gd name="adj" fmla="val 8511"/>
            </a:avLst>
          </a:prstGeom>
          <a:solidFill>
            <a:srgbClr val="F1F4F8"/>
          </a:solidFill>
          <a:ln w="12700">
            <a:solidFill>
              <a:srgbClr val="F1F4F8"/>
            </a:solidFill>
            <a:prstDash val="solid"/>
          </a:ln>
        </p:spPr>
      </p:sp>
      <p:sp>
        <p:nvSpPr>
          <p:cNvPr id="4" name="Text 2"/>
          <p:cNvSpPr txBox="1"/>
          <p:nvPr/>
        </p:nvSpPr>
        <p:spPr>
          <a:xfrm>
            <a:off x="658368" y="1380744"/>
            <a:ext cx="2468880" cy="749808"/>
          </a:xfrm>
          <a:prstGeom prst="rect">
            <a:avLst/>
          </a:prstGeom>
          <a:noFill/>
          <a:ln/>
        </p:spPr>
        <p:txBody>
          <a:bodyPr wrap="square" lIns="0" tIns="0" rIns="0" bIns="0" rtlCol="0" anchor="t"/>
          <a:lstStyle/>
          <a:p>
            <a:pPr indent="0" marL="0">
              <a:buNone/>
            </a:pPr>
            <a:r>
              <a:rPr lang="en-US" sz="1300" b="1" dirty="0">
                <a:solidFill>
                  <a:srgbClr val="1F2933"/>
                </a:solidFill>
              </a:rPr>
              <a:t>수생 포유류</a:t>
            </a:r>
            <a:endParaRPr lang="en-US" sz="1300" dirty="0"/>
          </a:p>
          <a:p>
            <a:pPr indent="0" marL="0">
              <a:buNone/>
            </a:pPr>
            <a:r>
              <a:rPr lang="en-US" sz="1000" dirty="0">
                <a:solidFill>
                  <a:srgbClr val="52606D"/>
                </a:solidFill>
              </a:rPr>
              <a:t>beaver, dolphin, otter, seal, whale</a:t>
            </a:r>
            <a:endParaRPr lang="en-US" sz="1300" dirty="0"/>
          </a:p>
        </p:txBody>
      </p:sp>
      <p:sp>
        <p:nvSpPr>
          <p:cNvPr id="5" name="chip"/>
          <p:cNvSpPr/>
          <p:nvPr/>
        </p:nvSpPr>
        <p:spPr>
          <a:xfrm>
            <a:off x="3364992" y="1325880"/>
            <a:ext cx="2679192" cy="859536"/>
          </a:xfrm>
          <a:prstGeom prst="roundRect">
            <a:avLst>
              <a:gd name="adj" fmla="val 8511"/>
            </a:avLst>
          </a:prstGeom>
          <a:solidFill>
            <a:srgbClr val="F1F4F8"/>
          </a:solidFill>
          <a:ln w="12700">
            <a:solidFill>
              <a:srgbClr val="F1F4F8"/>
            </a:solidFill>
            <a:prstDash val="solid"/>
          </a:ln>
        </p:spPr>
      </p:sp>
      <p:sp>
        <p:nvSpPr>
          <p:cNvPr id="6" name="Text 4"/>
          <p:cNvSpPr txBox="1"/>
          <p:nvPr/>
        </p:nvSpPr>
        <p:spPr>
          <a:xfrm>
            <a:off x="3474720" y="1380744"/>
            <a:ext cx="2468880" cy="749808"/>
          </a:xfrm>
          <a:prstGeom prst="rect">
            <a:avLst/>
          </a:prstGeom>
          <a:noFill/>
          <a:ln/>
        </p:spPr>
        <p:txBody>
          <a:bodyPr wrap="square" lIns="0" tIns="0" rIns="0" bIns="0" rtlCol="0" anchor="t"/>
          <a:lstStyle/>
          <a:p>
            <a:pPr indent="0" marL="0">
              <a:buNone/>
            </a:pPr>
            <a:r>
              <a:rPr lang="en-US" sz="1300" b="1" dirty="0">
                <a:solidFill>
                  <a:srgbClr val="1F2933"/>
                </a:solidFill>
              </a:rPr>
              <a:t>어류</a:t>
            </a:r>
            <a:endParaRPr lang="en-US" sz="1300" dirty="0"/>
          </a:p>
          <a:p>
            <a:pPr indent="0" marL="0">
              <a:buNone/>
            </a:pPr>
            <a:r>
              <a:rPr lang="en-US" sz="1000" dirty="0">
                <a:solidFill>
                  <a:srgbClr val="52606D"/>
                </a:solidFill>
              </a:rPr>
              <a:t>aquarium fish, flatfish, ray, shark, trout</a:t>
            </a:r>
            <a:endParaRPr lang="en-US" sz="1300" dirty="0"/>
          </a:p>
        </p:txBody>
      </p:sp>
      <p:sp>
        <p:nvSpPr>
          <p:cNvPr id="7" name="chip"/>
          <p:cNvSpPr/>
          <p:nvPr/>
        </p:nvSpPr>
        <p:spPr>
          <a:xfrm>
            <a:off x="6181344" y="1325880"/>
            <a:ext cx="2679192" cy="859536"/>
          </a:xfrm>
          <a:prstGeom prst="roundRect">
            <a:avLst>
              <a:gd name="adj" fmla="val 8511"/>
            </a:avLst>
          </a:prstGeom>
          <a:solidFill>
            <a:srgbClr val="F1F4F8"/>
          </a:solidFill>
          <a:ln w="12700">
            <a:solidFill>
              <a:srgbClr val="F1F4F8"/>
            </a:solidFill>
            <a:prstDash val="solid"/>
          </a:ln>
        </p:spPr>
      </p:sp>
      <p:sp>
        <p:nvSpPr>
          <p:cNvPr id="8" name="Text 6"/>
          <p:cNvSpPr txBox="1"/>
          <p:nvPr/>
        </p:nvSpPr>
        <p:spPr>
          <a:xfrm>
            <a:off x="6291072" y="1380744"/>
            <a:ext cx="2468880" cy="749808"/>
          </a:xfrm>
          <a:prstGeom prst="rect">
            <a:avLst/>
          </a:prstGeom>
          <a:noFill/>
          <a:ln/>
        </p:spPr>
        <p:txBody>
          <a:bodyPr wrap="square" lIns="0" tIns="0" rIns="0" bIns="0" rtlCol="0" anchor="t"/>
          <a:lstStyle/>
          <a:p>
            <a:pPr indent="0" marL="0">
              <a:buNone/>
            </a:pPr>
            <a:r>
              <a:rPr lang="en-US" sz="1300" b="1" dirty="0">
                <a:solidFill>
                  <a:srgbClr val="1F2933"/>
                </a:solidFill>
              </a:rPr>
              <a:t>꽃</a:t>
            </a:r>
            <a:endParaRPr lang="en-US" sz="1300" dirty="0"/>
          </a:p>
          <a:p>
            <a:pPr indent="0" marL="0">
              <a:buNone/>
            </a:pPr>
            <a:r>
              <a:rPr lang="en-US" sz="1000" dirty="0">
                <a:solidFill>
                  <a:srgbClr val="52606D"/>
                </a:solidFill>
              </a:rPr>
              <a:t>orchid, poppy, rose, sunflower, tulip</a:t>
            </a:r>
            <a:endParaRPr lang="en-US" sz="1300" dirty="0"/>
          </a:p>
        </p:txBody>
      </p:sp>
      <p:sp>
        <p:nvSpPr>
          <p:cNvPr id="9" name="chip"/>
          <p:cNvSpPr/>
          <p:nvPr/>
        </p:nvSpPr>
        <p:spPr>
          <a:xfrm>
            <a:off x="8997696" y="1325880"/>
            <a:ext cx="2679192" cy="859536"/>
          </a:xfrm>
          <a:prstGeom prst="roundRect">
            <a:avLst>
              <a:gd name="adj" fmla="val 8511"/>
            </a:avLst>
          </a:prstGeom>
          <a:solidFill>
            <a:srgbClr val="F1F4F8"/>
          </a:solidFill>
          <a:ln w="12700">
            <a:solidFill>
              <a:srgbClr val="F1F4F8"/>
            </a:solidFill>
            <a:prstDash val="solid"/>
          </a:ln>
        </p:spPr>
      </p:sp>
      <p:sp>
        <p:nvSpPr>
          <p:cNvPr id="10" name="Text 8"/>
          <p:cNvSpPr txBox="1"/>
          <p:nvPr/>
        </p:nvSpPr>
        <p:spPr>
          <a:xfrm>
            <a:off x="9107424" y="1380744"/>
            <a:ext cx="2468880" cy="749808"/>
          </a:xfrm>
          <a:prstGeom prst="rect">
            <a:avLst/>
          </a:prstGeom>
          <a:noFill/>
          <a:ln/>
        </p:spPr>
        <p:txBody>
          <a:bodyPr wrap="square" lIns="0" tIns="0" rIns="0" bIns="0" rtlCol="0" anchor="t"/>
          <a:lstStyle/>
          <a:p>
            <a:pPr indent="0" marL="0">
              <a:buNone/>
            </a:pPr>
            <a:r>
              <a:rPr lang="en-US" sz="1300" b="1" dirty="0">
                <a:solidFill>
                  <a:srgbClr val="1F2933"/>
                </a:solidFill>
              </a:rPr>
              <a:t>식품 용기</a:t>
            </a:r>
            <a:endParaRPr lang="en-US" sz="1300" dirty="0"/>
          </a:p>
          <a:p>
            <a:pPr indent="0" marL="0">
              <a:buNone/>
            </a:pPr>
            <a:r>
              <a:rPr lang="en-US" sz="1000" dirty="0">
                <a:solidFill>
                  <a:srgbClr val="52606D"/>
                </a:solidFill>
              </a:rPr>
              <a:t>bottle, bowl, can, cup, plate</a:t>
            </a:r>
            <a:endParaRPr lang="en-US" sz="1300" dirty="0"/>
          </a:p>
        </p:txBody>
      </p:sp>
      <p:sp>
        <p:nvSpPr>
          <p:cNvPr id="11" name="chip"/>
          <p:cNvSpPr/>
          <p:nvPr/>
        </p:nvSpPr>
        <p:spPr>
          <a:xfrm>
            <a:off x="548640" y="2295144"/>
            <a:ext cx="2679192" cy="859536"/>
          </a:xfrm>
          <a:prstGeom prst="roundRect">
            <a:avLst>
              <a:gd name="adj" fmla="val 8511"/>
            </a:avLst>
          </a:prstGeom>
          <a:solidFill>
            <a:srgbClr val="F1F4F8"/>
          </a:solidFill>
          <a:ln w="12700">
            <a:solidFill>
              <a:srgbClr val="F1F4F8"/>
            </a:solidFill>
            <a:prstDash val="solid"/>
          </a:ln>
        </p:spPr>
      </p:sp>
      <p:sp>
        <p:nvSpPr>
          <p:cNvPr id="12" name="Text 10"/>
          <p:cNvSpPr txBox="1"/>
          <p:nvPr/>
        </p:nvSpPr>
        <p:spPr>
          <a:xfrm>
            <a:off x="658368" y="2350008"/>
            <a:ext cx="2468880" cy="749808"/>
          </a:xfrm>
          <a:prstGeom prst="rect">
            <a:avLst/>
          </a:prstGeom>
          <a:noFill/>
          <a:ln/>
        </p:spPr>
        <p:txBody>
          <a:bodyPr wrap="square" lIns="0" tIns="0" rIns="0" bIns="0" rtlCol="0" anchor="t"/>
          <a:lstStyle/>
          <a:p>
            <a:pPr indent="0" marL="0">
              <a:buNone/>
            </a:pPr>
            <a:r>
              <a:rPr lang="en-US" sz="1300" b="1" dirty="0">
                <a:solidFill>
                  <a:srgbClr val="1F2933"/>
                </a:solidFill>
              </a:rPr>
              <a:t>과일·채소</a:t>
            </a:r>
            <a:endParaRPr lang="en-US" sz="1300" dirty="0"/>
          </a:p>
          <a:p>
            <a:pPr indent="0" marL="0">
              <a:buNone/>
            </a:pPr>
            <a:r>
              <a:rPr lang="en-US" sz="1000" dirty="0">
                <a:solidFill>
                  <a:srgbClr val="52606D"/>
                </a:solidFill>
              </a:rPr>
              <a:t>apple, mushroom, orange, pear, sweet pepper</a:t>
            </a:r>
            <a:endParaRPr lang="en-US" sz="1300" dirty="0"/>
          </a:p>
        </p:txBody>
      </p:sp>
      <p:sp>
        <p:nvSpPr>
          <p:cNvPr id="13" name="chip"/>
          <p:cNvSpPr/>
          <p:nvPr/>
        </p:nvSpPr>
        <p:spPr>
          <a:xfrm>
            <a:off x="3364992" y="2295144"/>
            <a:ext cx="2679192" cy="859536"/>
          </a:xfrm>
          <a:prstGeom prst="roundRect">
            <a:avLst>
              <a:gd name="adj" fmla="val 8511"/>
            </a:avLst>
          </a:prstGeom>
          <a:solidFill>
            <a:srgbClr val="F1F4F8"/>
          </a:solidFill>
          <a:ln w="12700">
            <a:solidFill>
              <a:srgbClr val="F1F4F8"/>
            </a:solidFill>
            <a:prstDash val="solid"/>
          </a:ln>
        </p:spPr>
      </p:sp>
      <p:sp>
        <p:nvSpPr>
          <p:cNvPr id="14" name="Text 12"/>
          <p:cNvSpPr txBox="1"/>
          <p:nvPr/>
        </p:nvSpPr>
        <p:spPr>
          <a:xfrm>
            <a:off x="3474720" y="2350008"/>
            <a:ext cx="2468880" cy="749808"/>
          </a:xfrm>
          <a:prstGeom prst="rect">
            <a:avLst/>
          </a:prstGeom>
          <a:noFill/>
          <a:ln/>
        </p:spPr>
        <p:txBody>
          <a:bodyPr wrap="square" lIns="0" tIns="0" rIns="0" bIns="0" rtlCol="0" anchor="t"/>
          <a:lstStyle/>
          <a:p>
            <a:pPr indent="0" marL="0">
              <a:buNone/>
            </a:pPr>
            <a:r>
              <a:rPr lang="en-US" sz="1300" b="1" dirty="0">
                <a:solidFill>
                  <a:srgbClr val="1F2933"/>
                </a:solidFill>
              </a:rPr>
              <a:t>가전제품</a:t>
            </a:r>
            <a:endParaRPr lang="en-US" sz="1300" dirty="0"/>
          </a:p>
          <a:p>
            <a:pPr indent="0" marL="0">
              <a:buNone/>
            </a:pPr>
            <a:r>
              <a:rPr lang="en-US" sz="1000" dirty="0">
                <a:solidFill>
                  <a:srgbClr val="52606D"/>
                </a:solidFill>
              </a:rPr>
              <a:t>clock, keyboard, lamp, telephone, television</a:t>
            </a:r>
            <a:endParaRPr lang="en-US" sz="1300" dirty="0"/>
          </a:p>
        </p:txBody>
      </p:sp>
      <p:sp>
        <p:nvSpPr>
          <p:cNvPr id="15" name="chip"/>
          <p:cNvSpPr/>
          <p:nvPr/>
        </p:nvSpPr>
        <p:spPr>
          <a:xfrm>
            <a:off x="6181344" y="2295144"/>
            <a:ext cx="2679192" cy="859536"/>
          </a:xfrm>
          <a:prstGeom prst="roundRect">
            <a:avLst>
              <a:gd name="adj" fmla="val 8511"/>
            </a:avLst>
          </a:prstGeom>
          <a:solidFill>
            <a:srgbClr val="F1F4F8"/>
          </a:solidFill>
          <a:ln w="12700">
            <a:solidFill>
              <a:srgbClr val="F1F4F8"/>
            </a:solidFill>
            <a:prstDash val="solid"/>
          </a:ln>
        </p:spPr>
      </p:sp>
      <p:sp>
        <p:nvSpPr>
          <p:cNvPr id="16" name="Text 14"/>
          <p:cNvSpPr txBox="1"/>
          <p:nvPr/>
        </p:nvSpPr>
        <p:spPr>
          <a:xfrm>
            <a:off x="6291072" y="2350008"/>
            <a:ext cx="2468880" cy="749808"/>
          </a:xfrm>
          <a:prstGeom prst="rect">
            <a:avLst/>
          </a:prstGeom>
          <a:noFill/>
          <a:ln/>
        </p:spPr>
        <p:txBody>
          <a:bodyPr wrap="square" lIns="0" tIns="0" rIns="0" bIns="0" rtlCol="0" anchor="t"/>
          <a:lstStyle/>
          <a:p>
            <a:pPr indent="0" marL="0">
              <a:buNone/>
            </a:pPr>
            <a:r>
              <a:rPr lang="en-US" sz="1300" b="1" dirty="0">
                <a:solidFill>
                  <a:srgbClr val="1F2933"/>
                </a:solidFill>
              </a:rPr>
              <a:t>가구</a:t>
            </a:r>
            <a:endParaRPr lang="en-US" sz="1300" dirty="0"/>
          </a:p>
          <a:p>
            <a:pPr indent="0" marL="0">
              <a:buNone/>
            </a:pPr>
            <a:r>
              <a:rPr lang="en-US" sz="1000" dirty="0">
                <a:solidFill>
                  <a:srgbClr val="52606D"/>
                </a:solidFill>
              </a:rPr>
              <a:t>bed, chair, couch, table, wardrobe</a:t>
            </a:r>
            <a:endParaRPr lang="en-US" sz="1300" dirty="0"/>
          </a:p>
        </p:txBody>
      </p:sp>
      <p:sp>
        <p:nvSpPr>
          <p:cNvPr id="17" name="chip"/>
          <p:cNvSpPr/>
          <p:nvPr/>
        </p:nvSpPr>
        <p:spPr>
          <a:xfrm>
            <a:off x="8997696" y="2295144"/>
            <a:ext cx="2679192" cy="859536"/>
          </a:xfrm>
          <a:prstGeom prst="roundRect">
            <a:avLst>
              <a:gd name="adj" fmla="val 8511"/>
            </a:avLst>
          </a:prstGeom>
          <a:solidFill>
            <a:srgbClr val="F1F4F8"/>
          </a:solidFill>
          <a:ln w="12700">
            <a:solidFill>
              <a:srgbClr val="F1F4F8"/>
            </a:solidFill>
            <a:prstDash val="solid"/>
          </a:ln>
        </p:spPr>
      </p:sp>
      <p:sp>
        <p:nvSpPr>
          <p:cNvPr id="18" name="Text 16"/>
          <p:cNvSpPr txBox="1"/>
          <p:nvPr/>
        </p:nvSpPr>
        <p:spPr>
          <a:xfrm>
            <a:off x="9107424" y="2350008"/>
            <a:ext cx="2468880" cy="749808"/>
          </a:xfrm>
          <a:prstGeom prst="rect">
            <a:avLst/>
          </a:prstGeom>
          <a:noFill/>
          <a:ln/>
        </p:spPr>
        <p:txBody>
          <a:bodyPr wrap="square" lIns="0" tIns="0" rIns="0" bIns="0" rtlCol="0" anchor="t"/>
          <a:lstStyle/>
          <a:p>
            <a:pPr indent="0" marL="0">
              <a:buNone/>
            </a:pPr>
            <a:r>
              <a:rPr lang="en-US" sz="1300" b="1" dirty="0">
                <a:solidFill>
                  <a:srgbClr val="1F2933"/>
                </a:solidFill>
              </a:rPr>
              <a:t>곤충</a:t>
            </a:r>
            <a:endParaRPr lang="en-US" sz="1300" dirty="0"/>
          </a:p>
          <a:p>
            <a:pPr indent="0" marL="0">
              <a:buNone/>
            </a:pPr>
            <a:r>
              <a:rPr lang="en-US" sz="1000" dirty="0">
                <a:solidFill>
                  <a:srgbClr val="52606D"/>
                </a:solidFill>
              </a:rPr>
              <a:t>bee, beetle, butterfly, caterpillar, cockroach</a:t>
            </a:r>
            <a:endParaRPr lang="en-US" sz="1300" dirty="0"/>
          </a:p>
        </p:txBody>
      </p:sp>
      <p:sp>
        <p:nvSpPr>
          <p:cNvPr id="19" name="chip"/>
          <p:cNvSpPr/>
          <p:nvPr/>
        </p:nvSpPr>
        <p:spPr>
          <a:xfrm>
            <a:off x="548640" y="3264408"/>
            <a:ext cx="2679192" cy="859536"/>
          </a:xfrm>
          <a:prstGeom prst="roundRect">
            <a:avLst>
              <a:gd name="adj" fmla="val 8511"/>
            </a:avLst>
          </a:prstGeom>
          <a:solidFill>
            <a:srgbClr val="F1F4F8"/>
          </a:solidFill>
          <a:ln w="12700">
            <a:solidFill>
              <a:srgbClr val="F1F4F8"/>
            </a:solidFill>
            <a:prstDash val="solid"/>
          </a:ln>
        </p:spPr>
      </p:sp>
      <p:sp>
        <p:nvSpPr>
          <p:cNvPr id="20" name="Text 18"/>
          <p:cNvSpPr txBox="1"/>
          <p:nvPr/>
        </p:nvSpPr>
        <p:spPr>
          <a:xfrm>
            <a:off x="658368" y="3319272"/>
            <a:ext cx="2468880" cy="749808"/>
          </a:xfrm>
          <a:prstGeom prst="rect">
            <a:avLst/>
          </a:prstGeom>
          <a:noFill/>
          <a:ln/>
        </p:spPr>
        <p:txBody>
          <a:bodyPr wrap="square" lIns="0" tIns="0" rIns="0" bIns="0" rtlCol="0" anchor="t"/>
          <a:lstStyle/>
          <a:p>
            <a:pPr indent="0" marL="0">
              <a:buNone/>
            </a:pPr>
            <a:r>
              <a:rPr lang="en-US" sz="1300" b="1" dirty="0">
                <a:solidFill>
                  <a:srgbClr val="1F2933"/>
                </a:solidFill>
              </a:rPr>
              <a:t>대형 육식동물</a:t>
            </a:r>
            <a:endParaRPr lang="en-US" sz="1300" dirty="0"/>
          </a:p>
          <a:p>
            <a:pPr indent="0" marL="0">
              <a:buNone/>
            </a:pPr>
            <a:r>
              <a:rPr lang="en-US" sz="1000" dirty="0">
                <a:solidFill>
                  <a:srgbClr val="52606D"/>
                </a:solidFill>
              </a:rPr>
              <a:t>bear, leopard, lion, tiger, wolf</a:t>
            </a:r>
            <a:endParaRPr lang="en-US" sz="1300" dirty="0"/>
          </a:p>
        </p:txBody>
      </p:sp>
      <p:sp>
        <p:nvSpPr>
          <p:cNvPr id="21" name="chip"/>
          <p:cNvSpPr/>
          <p:nvPr/>
        </p:nvSpPr>
        <p:spPr>
          <a:xfrm>
            <a:off x="3364992" y="3264408"/>
            <a:ext cx="2679192" cy="859536"/>
          </a:xfrm>
          <a:prstGeom prst="roundRect">
            <a:avLst>
              <a:gd name="adj" fmla="val 8511"/>
            </a:avLst>
          </a:prstGeom>
          <a:solidFill>
            <a:srgbClr val="F1F4F8"/>
          </a:solidFill>
          <a:ln w="12700">
            <a:solidFill>
              <a:srgbClr val="F1F4F8"/>
            </a:solidFill>
            <a:prstDash val="solid"/>
          </a:ln>
        </p:spPr>
      </p:sp>
      <p:sp>
        <p:nvSpPr>
          <p:cNvPr id="22" name="Text 20"/>
          <p:cNvSpPr txBox="1"/>
          <p:nvPr/>
        </p:nvSpPr>
        <p:spPr>
          <a:xfrm>
            <a:off x="3474720" y="3319272"/>
            <a:ext cx="2468880" cy="749808"/>
          </a:xfrm>
          <a:prstGeom prst="rect">
            <a:avLst/>
          </a:prstGeom>
          <a:noFill/>
          <a:ln/>
        </p:spPr>
        <p:txBody>
          <a:bodyPr wrap="square" lIns="0" tIns="0" rIns="0" bIns="0" rtlCol="0" anchor="t"/>
          <a:lstStyle/>
          <a:p>
            <a:pPr indent="0" marL="0">
              <a:buNone/>
            </a:pPr>
            <a:r>
              <a:rPr lang="en-US" sz="1300" b="1" dirty="0">
                <a:solidFill>
                  <a:srgbClr val="1F2933"/>
                </a:solidFill>
              </a:rPr>
              <a:t>대형 인공 구조물</a:t>
            </a:r>
            <a:endParaRPr lang="en-US" sz="1300" dirty="0"/>
          </a:p>
          <a:p>
            <a:pPr indent="0" marL="0">
              <a:buNone/>
            </a:pPr>
            <a:r>
              <a:rPr lang="en-US" sz="1000" dirty="0">
                <a:solidFill>
                  <a:srgbClr val="52606D"/>
                </a:solidFill>
              </a:rPr>
              <a:t>bridge, castle, house, road, skyscraper</a:t>
            </a:r>
            <a:endParaRPr lang="en-US" sz="1300" dirty="0"/>
          </a:p>
        </p:txBody>
      </p:sp>
      <p:sp>
        <p:nvSpPr>
          <p:cNvPr id="23" name="chip"/>
          <p:cNvSpPr/>
          <p:nvPr/>
        </p:nvSpPr>
        <p:spPr>
          <a:xfrm>
            <a:off x="6181344" y="3264408"/>
            <a:ext cx="2679192" cy="859536"/>
          </a:xfrm>
          <a:prstGeom prst="roundRect">
            <a:avLst>
              <a:gd name="adj" fmla="val 8511"/>
            </a:avLst>
          </a:prstGeom>
          <a:solidFill>
            <a:srgbClr val="F1F4F8"/>
          </a:solidFill>
          <a:ln w="12700">
            <a:solidFill>
              <a:srgbClr val="F1F4F8"/>
            </a:solidFill>
            <a:prstDash val="solid"/>
          </a:ln>
        </p:spPr>
      </p:sp>
      <p:sp>
        <p:nvSpPr>
          <p:cNvPr id="24" name="Text 22"/>
          <p:cNvSpPr txBox="1"/>
          <p:nvPr/>
        </p:nvSpPr>
        <p:spPr>
          <a:xfrm>
            <a:off x="6291072" y="3319272"/>
            <a:ext cx="2468880" cy="749808"/>
          </a:xfrm>
          <a:prstGeom prst="rect">
            <a:avLst/>
          </a:prstGeom>
          <a:noFill/>
          <a:ln/>
        </p:spPr>
        <p:txBody>
          <a:bodyPr wrap="square" lIns="0" tIns="0" rIns="0" bIns="0" rtlCol="0" anchor="t"/>
          <a:lstStyle/>
          <a:p>
            <a:pPr indent="0" marL="0">
              <a:buNone/>
            </a:pPr>
            <a:r>
              <a:rPr lang="en-US" sz="1300" b="1" dirty="0">
                <a:solidFill>
                  <a:srgbClr val="1F2933"/>
                </a:solidFill>
              </a:rPr>
              <a:t>대형 자연 경관</a:t>
            </a:r>
            <a:endParaRPr lang="en-US" sz="1300" dirty="0"/>
          </a:p>
          <a:p>
            <a:pPr indent="0" marL="0">
              <a:buNone/>
            </a:pPr>
            <a:r>
              <a:rPr lang="en-US" sz="1000" dirty="0">
                <a:solidFill>
                  <a:srgbClr val="52606D"/>
                </a:solidFill>
              </a:rPr>
              <a:t>cloud, forest, mountain, plain, sea</a:t>
            </a:r>
            <a:endParaRPr lang="en-US" sz="1300" dirty="0"/>
          </a:p>
        </p:txBody>
      </p:sp>
      <p:sp>
        <p:nvSpPr>
          <p:cNvPr id="25" name="chip"/>
          <p:cNvSpPr/>
          <p:nvPr/>
        </p:nvSpPr>
        <p:spPr>
          <a:xfrm>
            <a:off x="8997696" y="3264408"/>
            <a:ext cx="2679192" cy="859536"/>
          </a:xfrm>
          <a:prstGeom prst="roundRect">
            <a:avLst>
              <a:gd name="adj" fmla="val 8511"/>
            </a:avLst>
          </a:prstGeom>
          <a:solidFill>
            <a:srgbClr val="F1F4F8"/>
          </a:solidFill>
          <a:ln w="12700">
            <a:solidFill>
              <a:srgbClr val="F1F4F8"/>
            </a:solidFill>
            <a:prstDash val="solid"/>
          </a:ln>
        </p:spPr>
      </p:sp>
      <p:sp>
        <p:nvSpPr>
          <p:cNvPr id="26" name="Text 24"/>
          <p:cNvSpPr txBox="1"/>
          <p:nvPr/>
        </p:nvSpPr>
        <p:spPr>
          <a:xfrm>
            <a:off x="9107424" y="3319272"/>
            <a:ext cx="2468880" cy="749808"/>
          </a:xfrm>
          <a:prstGeom prst="rect">
            <a:avLst/>
          </a:prstGeom>
          <a:noFill/>
          <a:ln/>
        </p:spPr>
        <p:txBody>
          <a:bodyPr wrap="square" lIns="0" tIns="0" rIns="0" bIns="0" rtlCol="0" anchor="t"/>
          <a:lstStyle/>
          <a:p>
            <a:pPr indent="0" marL="0">
              <a:buNone/>
            </a:pPr>
            <a:r>
              <a:rPr lang="en-US" sz="1300" b="1" dirty="0">
                <a:solidFill>
                  <a:srgbClr val="1F2933"/>
                </a:solidFill>
              </a:rPr>
              <a:t>대형 잡식·초식동물</a:t>
            </a:r>
            <a:endParaRPr lang="en-US" sz="1300" dirty="0"/>
          </a:p>
          <a:p>
            <a:pPr indent="0" marL="0">
              <a:buNone/>
            </a:pPr>
            <a:r>
              <a:rPr lang="en-US" sz="1000" dirty="0">
                <a:solidFill>
                  <a:srgbClr val="52606D"/>
                </a:solidFill>
              </a:rPr>
              <a:t>camel, cattle, chimpanzee, elephant, kangaroo</a:t>
            </a:r>
            <a:endParaRPr lang="en-US" sz="1300" dirty="0"/>
          </a:p>
        </p:txBody>
      </p:sp>
      <p:sp>
        <p:nvSpPr>
          <p:cNvPr id="27" name="chip"/>
          <p:cNvSpPr/>
          <p:nvPr/>
        </p:nvSpPr>
        <p:spPr>
          <a:xfrm>
            <a:off x="548640" y="4233672"/>
            <a:ext cx="2679192" cy="859536"/>
          </a:xfrm>
          <a:prstGeom prst="roundRect">
            <a:avLst>
              <a:gd name="adj" fmla="val 8511"/>
            </a:avLst>
          </a:prstGeom>
          <a:solidFill>
            <a:srgbClr val="F1F4F8"/>
          </a:solidFill>
          <a:ln w="12700">
            <a:solidFill>
              <a:srgbClr val="F1F4F8"/>
            </a:solidFill>
            <a:prstDash val="solid"/>
          </a:ln>
        </p:spPr>
      </p:sp>
      <p:sp>
        <p:nvSpPr>
          <p:cNvPr id="28" name="Text 26"/>
          <p:cNvSpPr txBox="1"/>
          <p:nvPr/>
        </p:nvSpPr>
        <p:spPr>
          <a:xfrm>
            <a:off x="658368" y="4288536"/>
            <a:ext cx="2468880" cy="749808"/>
          </a:xfrm>
          <a:prstGeom prst="rect">
            <a:avLst/>
          </a:prstGeom>
          <a:noFill/>
          <a:ln/>
        </p:spPr>
        <p:txBody>
          <a:bodyPr wrap="square" lIns="0" tIns="0" rIns="0" bIns="0" rtlCol="0" anchor="t"/>
          <a:lstStyle/>
          <a:p>
            <a:pPr indent="0" marL="0">
              <a:buNone/>
            </a:pPr>
            <a:r>
              <a:rPr lang="en-US" sz="1300" b="1" dirty="0">
                <a:solidFill>
                  <a:srgbClr val="1F2933"/>
                </a:solidFill>
              </a:rPr>
              <a:t>중형 포유류</a:t>
            </a:r>
            <a:endParaRPr lang="en-US" sz="1300" dirty="0"/>
          </a:p>
          <a:p>
            <a:pPr indent="0" marL="0">
              <a:buNone/>
            </a:pPr>
            <a:r>
              <a:rPr lang="en-US" sz="1000" dirty="0">
                <a:solidFill>
                  <a:srgbClr val="52606D"/>
                </a:solidFill>
              </a:rPr>
              <a:t>fox, porcupine, possum, raccoon, skunk</a:t>
            </a:r>
            <a:endParaRPr lang="en-US" sz="1300" dirty="0"/>
          </a:p>
        </p:txBody>
      </p:sp>
      <p:sp>
        <p:nvSpPr>
          <p:cNvPr id="29" name="chip"/>
          <p:cNvSpPr/>
          <p:nvPr/>
        </p:nvSpPr>
        <p:spPr>
          <a:xfrm>
            <a:off x="3364992" y="4233672"/>
            <a:ext cx="2679192" cy="859536"/>
          </a:xfrm>
          <a:prstGeom prst="roundRect">
            <a:avLst>
              <a:gd name="adj" fmla="val 8511"/>
            </a:avLst>
          </a:prstGeom>
          <a:solidFill>
            <a:srgbClr val="F1F4F8"/>
          </a:solidFill>
          <a:ln w="12700">
            <a:solidFill>
              <a:srgbClr val="F1F4F8"/>
            </a:solidFill>
            <a:prstDash val="solid"/>
          </a:ln>
        </p:spPr>
      </p:sp>
      <p:sp>
        <p:nvSpPr>
          <p:cNvPr id="30" name="Text 28"/>
          <p:cNvSpPr txBox="1"/>
          <p:nvPr/>
        </p:nvSpPr>
        <p:spPr>
          <a:xfrm>
            <a:off x="3474720" y="4288536"/>
            <a:ext cx="2468880" cy="749808"/>
          </a:xfrm>
          <a:prstGeom prst="rect">
            <a:avLst/>
          </a:prstGeom>
          <a:noFill/>
          <a:ln/>
        </p:spPr>
        <p:txBody>
          <a:bodyPr wrap="square" lIns="0" tIns="0" rIns="0" bIns="0" rtlCol="0" anchor="t"/>
          <a:lstStyle/>
          <a:p>
            <a:pPr indent="0" marL="0">
              <a:buNone/>
            </a:pPr>
            <a:r>
              <a:rPr lang="en-US" sz="1300" b="1" dirty="0">
                <a:solidFill>
                  <a:srgbClr val="1F2933"/>
                </a:solidFill>
              </a:rPr>
              <a:t>곤충 외 무척추동물</a:t>
            </a:r>
            <a:endParaRPr lang="en-US" sz="1300" dirty="0"/>
          </a:p>
          <a:p>
            <a:pPr indent="0" marL="0">
              <a:buNone/>
            </a:pPr>
            <a:r>
              <a:rPr lang="en-US" sz="1000" dirty="0">
                <a:solidFill>
                  <a:srgbClr val="52606D"/>
                </a:solidFill>
              </a:rPr>
              <a:t>crab, lobster, snail, spider, worm</a:t>
            </a:r>
            <a:endParaRPr lang="en-US" sz="1300" dirty="0"/>
          </a:p>
        </p:txBody>
      </p:sp>
      <p:sp>
        <p:nvSpPr>
          <p:cNvPr id="31" name="chip"/>
          <p:cNvSpPr/>
          <p:nvPr/>
        </p:nvSpPr>
        <p:spPr>
          <a:xfrm>
            <a:off x="6181344" y="4233672"/>
            <a:ext cx="2679192" cy="859536"/>
          </a:xfrm>
          <a:prstGeom prst="roundRect">
            <a:avLst>
              <a:gd name="adj" fmla="val 8511"/>
            </a:avLst>
          </a:prstGeom>
          <a:solidFill>
            <a:srgbClr val="F1F4F8"/>
          </a:solidFill>
          <a:ln w="12700">
            <a:solidFill>
              <a:srgbClr val="F1F4F8"/>
            </a:solidFill>
            <a:prstDash val="solid"/>
          </a:ln>
        </p:spPr>
      </p:sp>
      <p:sp>
        <p:nvSpPr>
          <p:cNvPr id="32" name="Text 30"/>
          <p:cNvSpPr txBox="1"/>
          <p:nvPr/>
        </p:nvSpPr>
        <p:spPr>
          <a:xfrm>
            <a:off x="6291072" y="4288536"/>
            <a:ext cx="2468880" cy="749808"/>
          </a:xfrm>
          <a:prstGeom prst="rect">
            <a:avLst/>
          </a:prstGeom>
          <a:noFill/>
          <a:ln/>
        </p:spPr>
        <p:txBody>
          <a:bodyPr wrap="square" lIns="0" tIns="0" rIns="0" bIns="0" rtlCol="0" anchor="t"/>
          <a:lstStyle/>
          <a:p>
            <a:pPr indent="0" marL="0">
              <a:buNone/>
            </a:pPr>
            <a:r>
              <a:rPr lang="en-US" sz="1300" b="1" dirty="0">
                <a:solidFill>
                  <a:srgbClr val="1F2933"/>
                </a:solidFill>
              </a:rPr>
              <a:t>사람</a:t>
            </a:r>
            <a:endParaRPr lang="en-US" sz="1300" dirty="0"/>
          </a:p>
          <a:p>
            <a:pPr indent="0" marL="0">
              <a:buNone/>
            </a:pPr>
            <a:r>
              <a:rPr lang="en-US" sz="1000" dirty="0">
                <a:solidFill>
                  <a:srgbClr val="52606D"/>
                </a:solidFill>
              </a:rPr>
              <a:t>baby, boy, girl, man, woman</a:t>
            </a:r>
            <a:endParaRPr lang="en-US" sz="1300" dirty="0"/>
          </a:p>
        </p:txBody>
      </p:sp>
      <p:sp>
        <p:nvSpPr>
          <p:cNvPr id="33" name="chip"/>
          <p:cNvSpPr/>
          <p:nvPr/>
        </p:nvSpPr>
        <p:spPr>
          <a:xfrm>
            <a:off x="8997696" y="4233672"/>
            <a:ext cx="2679192" cy="859536"/>
          </a:xfrm>
          <a:prstGeom prst="roundRect">
            <a:avLst>
              <a:gd name="adj" fmla="val 8511"/>
            </a:avLst>
          </a:prstGeom>
          <a:solidFill>
            <a:srgbClr val="F1F4F8"/>
          </a:solidFill>
          <a:ln w="12700">
            <a:solidFill>
              <a:srgbClr val="F1F4F8"/>
            </a:solidFill>
            <a:prstDash val="solid"/>
          </a:ln>
        </p:spPr>
      </p:sp>
      <p:sp>
        <p:nvSpPr>
          <p:cNvPr id="34" name="Text 32"/>
          <p:cNvSpPr txBox="1"/>
          <p:nvPr/>
        </p:nvSpPr>
        <p:spPr>
          <a:xfrm>
            <a:off x="9107424" y="4288536"/>
            <a:ext cx="2468880" cy="749808"/>
          </a:xfrm>
          <a:prstGeom prst="rect">
            <a:avLst/>
          </a:prstGeom>
          <a:noFill/>
          <a:ln/>
        </p:spPr>
        <p:txBody>
          <a:bodyPr wrap="square" lIns="0" tIns="0" rIns="0" bIns="0" rtlCol="0" anchor="t"/>
          <a:lstStyle/>
          <a:p>
            <a:pPr indent="0" marL="0">
              <a:buNone/>
            </a:pPr>
            <a:r>
              <a:rPr lang="en-US" sz="1300" b="1" dirty="0">
                <a:solidFill>
                  <a:srgbClr val="1F2933"/>
                </a:solidFill>
              </a:rPr>
              <a:t>파충류</a:t>
            </a:r>
            <a:endParaRPr lang="en-US" sz="1300" dirty="0"/>
          </a:p>
          <a:p>
            <a:pPr indent="0" marL="0">
              <a:buNone/>
            </a:pPr>
            <a:r>
              <a:rPr lang="en-US" sz="1000" dirty="0">
                <a:solidFill>
                  <a:srgbClr val="52606D"/>
                </a:solidFill>
              </a:rPr>
              <a:t>crocodile, dinosaur, lizard, snake, turtle</a:t>
            </a:r>
            <a:endParaRPr lang="en-US" sz="1300" dirty="0"/>
          </a:p>
        </p:txBody>
      </p:sp>
      <p:sp>
        <p:nvSpPr>
          <p:cNvPr id="35" name="chip"/>
          <p:cNvSpPr/>
          <p:nvPr/>
        </p:nvSpPr>
        <p:spPr>
          <a:xfrm>
            <a:off x="548640" y="5202936"/>
            <a:ext cx="2679192" cy="859536"/>
          </a:xfrm>
          <a:prstGeom prst="roundRect">
            <a:avLst>
              <a:gd name="adj" fmla="val 8511"/>
            </a:avLst>
          </a:prstGeom>
          <a:solidFill>
            <a:srgbClr val="F1F4F8"/>
          </a:solidFill>
          <a:ln w="12700">
            <a:solidFill>
              <a:srgbClr val="F1F4F8"/>
            </a:solidFill>
            <a:prstDash val="solid"/>
          </a:ln>
        </p:spPr>
      </p:sp>
      <p:sp>
        <p:nvSpPr>
          <p:cNvPr id="36" name="Text 34"/>
          <p:cNvSpPr txBox="1"/>
          <p:nvPr/>
        </p:nvSpPr>
        <p:spPr>
          <a:xfrm>
            <a:off x="658368" y="5257800"/>
            <a:ext cx="2468880" cy="749808"/>
          </a:xfrm>
          <a:prstGeom prst="rect">
            <a:avLst/>
          </a:prstGeom>
          <a:noFill/>
          <a:ln/>
        </p:spPr>
        <p:txBody>
          <a:bodyPr wrap="square" lIns="0" tIns="0" rIns="0" bIns="0" rtlCol="0" anchor="t"/>
          <a:lstStyle/>
          <a:p>
            <a:pPr indent="0" marL="0">
              <a:buNone/>
            </a:pPr>
            <a:r>
              <a:rPr lang="en-US" sz="1300" b="1" dirty="0">
                <a:solidFill>
                  <a:srgbClr val="1F2933"/>
                </a:solidFill>
              </a:rPr>
              <a:t>소형 포유류</a:t>
            </a:r>
            <a:endParaRPr lang="en-US" sz="1300" dirty="0"/>
          </a:p>
          <a:p>
            <a:pPr indent="0" marL="0">
              <a:buNone/>
            </a:pPr>
            <a:r>
              <a:rPr lang="en-US" sz="1000" dirty="0">
                <a:solidFill>
                  <a:srgbClr val="52606D"/>
                </a:solidFill>
              </a:rPr>
              <a:t>hamster, mouse, rabbit, shrew, squirrel</a:t>
            </a:r>
            <a:endParaRPr lang="en-US" sz="1300" dirty="0"/>
          </a:p>
        </p:txBody>
      </p:sp>
      <p:sp>
        <p:nvSpPr>
          <p:cNvPr id="37" name="chip"/>
          <p:cNvSpPr/>
          <p:nvPr/>
        </p:nvSpPr>
        <p:spPr>
          <a:xfrm>
            <a:off x="3364992" y="5202936"/>
            <a:ext cx="2679192" cy="859536"/>
          </a:xfrm>
          <a:prstGeom prst="roundRect">
            <a:avLst>
              <a:gd name="adj" fmla="val 8511"/>
            </a:avLst>
          </a:prstGeom>
          <a:solidFill>
            <a:srgbClr val="F1F4F8"/>
          </a:solidFill>
          <a:ln w="12700">
            <a:solidFill>
              <a:srgbClr val="F1F4F8"/>
            </a:solidFill>
            <a:prstDash val="solid"/>
          </a:ln>
        </p:spPr>
      </p:sp>
      <p:sp>
        <p:nvSpPr>
          <p:cNvPr id="38" name="Text 36"/>
          <p:cNvSpPr txBox="1"/>
          <p:nvPr/>
        </p:nvSpPr>
        <p:spPr>
          <a:xfrm>
            <a:off x="3474720" y="5257800"/>
            <a:ext cx="2468880" cy="749808"/>
          </a:xfrm>
          <a:prstGeom prst="rect">
            <a:avLst/>
          </a:prstGeom>
          <a:noFill/>
          <a:ln/>
        </p:spPr>
        <p:txBody>
          <a:bodyPr wrap="square" lIns="0" tIns="0" rIns="0" bIns="0" rtlCol="0" anchor="t"/>
          <a:lstStyle/>
          <a:p>
            <a:pPr indent="0" marL="0">
              <a:buNone/>
            </a:pPr>
            <a:r>
              <a:rPr lang="en-US" sz="1300" b="1" dirty="0">
                <a:solidFill>
                  <a:srgbClr val="1F2933"/>
                </a:solidFill>
              </a:rPr>
              <a:t>나무</a:t>
            </a:r>
            <a:endParaRPr lang="en-US" sz="1300" dirty="0"/>
          </a:p>
          <a:p>
            <a:pPr indent="0" marL="0">
              <a:buNone/>
            </a:pPr>
            <a:r>
              <a:rPr lang="en-US" sz="1000" dirty="0">
                <a:solidFill>
                  <a:srgbClr val="52606D"/>
                </a:solidFill>
              </a:rPr>
              <a:t>maple tree, oak tree, palm tree, pine tree, willow tree</a:t>
            </a:r>
            <a:endParaRPr lang="en-US" sz="1300" dirty="0"/>
          </a:p>
        </p:txBody>
      </p:sp>
      <p:sp>
        <p:nvSpPr>
          <p:cNvPr id="39" name="chip"/>
          <p:cNvSpPr/>
          <p:nvPr/>
        </p:nvSpPr>
        <p:spPr>
          <a:xfrm>
            <a:off x="6181344" y="5202936"/>
            <a:ext cx="2679192" cy="859536"/>
          </a:xfrm>
          <a:prstGeom prst="roundRect">
            <a:avLst>
              <a:gd name="adj" fmla="val 8511"/>
            </a:avLst>
          </a:prstGeom>
          <a:solidFill>
            <a:srgbClr val="F1F4F8"/>
          </a:solidFill>
          <a:ln w="12700">
            <a:solidFill>
              <a:srgbClr val="F1F4F8"/>
            </a:solidFill>
            <a:prstDash val="solid"/>
          </a:ln>
        </p:spPr>
      </p:sp>
      <p:sp>
        <p:nvSpPr>
          <p:cNvPr id="40" name="Text 38"/>
          <p:cNvSpPr txBox="1"/>
          <p:nvPr/>
        </p:nvSpPr>
        <p:spPr>
          <a:xfrm>
            <a:off x="6291072" y="5257800"/>
            <a:ext cx="2468880" cy="749808"/>
          </a:xfrm>
          <a:prstGeom prst="rect">
            <a:avLst/>
          </a:prstGeom>
          <a:noFill/>
          <a:ln/>
        </p:spPr>
        <p:txBody>
          <a:bodyPr wrap="square" lIns="0" tIns="0" rIns="0" bIns="0" rtlCol="0" anchor="t"/>
          <a:lstStyle/>
          <a:p>
            <a:pPr indent="0" marL="0">
              <a:buNone/>
            </a:pPr>
            <a:r>
              <a:rPr lang="en-US" sz="1300" b="1" dirty="0">
                <a:solidFill>
                  <a:srgbClr val="1F2933"/>
                </a:solidFill>
              </a:rPr>
              <a:t>탈것 1</a:t>
            </a:r>
            <a:endParaRPr lang="en-US" sz="1300" dirty="0"/>
          </a:p>
          <a:p>
            <a:pPr indent="0" marL="0">
              <a:buNone/>
            </a:pPr>
            <a:r>
              <a:rPr lang="en-US" sz="1000" dirty="0">
                <a:solidFill>
                  <a:srgbClr val="52606D"/>
                </a:solidFill>
              </a:rPr>
              <a:t>bicycle, bus, motorcycle, pickup truck, train</a:t>
            </a:r>
            <a:endParaRPr lang="en-US" sz="1300" dirty="0"/>
          </a:p>
        </p:txBody>
      </p:sp>
      <p:sp>
        <p:nvSpPr>
          <p:cNvPr id="41" name="chip"/>
          <p:cNvSpPr/>
          <p:nvPr/>
        </p:nvSpPr>
        <p:spPr>
          <a:xfrm>
            <a:off x="8997696" y="5202936"/>
            <a:ext cx="2679192" cy="859536"/>
          </a:xfrm>
          <a:prstGeom prst="roundRect">
            <a:avLst>
              <a:gd name="adj" fmla="val 8511"/>
            </a:avLst>
          </a:prstGeom>
          <a:solidFill>
            <a:srgbClr val="F1F4F8"/>
          </a:solidFill>
          <a:ln w="12700">
            <a:solidFill>
              <a:srgbClr val="F1F4F8"/>
            </a:solidFill>
            <a:prstDash val="solid"/>
          </a:ln>
        </p:spPr>
      </p:sp>
      <p:sp>
        <p:nvSpPr>
          <p:cNvPr id="42" name="Text 40"/>
          <p:cNvSpPr txBox="1"/>
          <p:nvPr/>
        </p:nvSpPr>
        <p:spPr>
          <a:xfrm>
            <a:off x="9107424" y="5257800"/>
            <a:ext cx="2468880" cy="749808"/>
          </a:xfrm>
          <a:prstGeom prst="rect">
            <a:avLst/>
          </a:prstGeom>
          <a:noFill/>
          <a:ln/>
        </p:spPr>
        <p:txBody>
          <a:bodyPr wrap="square" lIns="0" tIns="0" rIns="0" bIns="0" rtlCol="0" anchor="t"/>
          <a:lstStyle/>
          <a:p>
            <a:pPr indent="0" marL="0">
              <a:buNone/>
            </a:pPr>
            <a:r>
              <a:rPr lang="en-US" sz="1300" b="1" dirty="0">
                <a:solidFill>
                  <a:srgbClr val="1F2933"/>
                </a:solidFill>
              </a:rPr>
              <a:t>탈것 2</a:t>
            </a:r>
            <a:endParaRPr lang="en-US" sz="1300" dirty="0"/>
          </a:p>
          <a:p>
            <a:pPr indent="0" marL="0">
              <a:buNone/>
            </a:pPr>
            <a:r>
              <a:rPr lang="en-US" sz="1000" dirty="0">
                <a:solidFill>
                  <a:srgbClr val="52606D"/>
                </a:solidFill>
              </a:rPr>
              <a:t>lawn mower, rocket, streetcar, tank, tractor</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ection-number"/>
          <p:cNvSpPr txBox="1"/>
          <p:nvPr/>
        </p:nvSpPr>
        <p:spPr>
          <a:xfrm>
            <a:off x="548640" y="1737360"/>
            <a:ext cx="4572000" cy="822960"/>
          </a:xfrm>
          <a:prstGeom prst="rect">
            <a:avLst/>
          </a:prstGeom>
          <a:noFill/>
          <a:ln/>
        </p:spPr>
        <p:txBody>
          <a:bodyPr wrap="square" lIns="0" tIns="0" rIns="0" bIns="0" rtlCol="0" anchor="ctr"/>
          <a:lstStyle/>
          <a:p>
            <a:pPr indent="0" marL="0">
              <a:buNone/>
            </a:pPr>
            <a:r>
              <a:rPr lang="en-US" sz="5400" b="1" dirty="0">
                <a:solidFill>
                  <a:srgbClr val="EB6834"/>
                </a:solidFill>
              </a:rPr>
              <a:t>05</a:t>
            </a:r>
            <a:endParaRPr lang="en-US" sz="5400" dirty="0"/>
          </a:p>
        </p:txBody>
      </p:sp>
      <p:sp>
        <p:nvSpPr>
          <p:cNvPr id="3" name="Text 0"/>
          <p:cNvSpPr/>
          <p:nvPr>
            <p:ph idx="100" type="title" hasCustomPrompt="1"/>
          </p:nvPr>
        </p:nvSpPr>
        <p:spPr>
          <a:xfrm>
            <a:off x="548640" y="2651760"/>
            <a:ext cx="10607040" cy="1005840"/>
          </a:xfrm>
          <a:prstGeom prst="rect">
            <a:avLst/>
          </a:prstGeom>
          <a:noFill/>
          <a:ln/>
        </p:spPr>
        <p:txBody>
          <a:bodyPr wrap="square" lIns="0" tIns="0" rIns="0" bIns="0" rtlCol="0" anchor="t"/>
          <a:lstStyle/>
          <a:p>
            <a:pPr algn="l" indent="0" marL="0">
              <a:buNone/>
            </a:pPr>
            <a:r>
              <a:rPr lang="en-US" sz="4000" b="1" dirty="0">
                <a:solidFill>
                  <a:schemeClr val="bg1"/>
                </a:solidFill>
              </a:rPr>
              <a:t>실험 설계와 구현</a:t>
            </a:r>
            <a:endParaRPr lang="en-US" sz="4000" dirty="0"/>
          </a:p>
        </p:txBody>
      </p:sp>
      <p:sp>
        <p:nvSpPr>
          <p:cNvPr id="4" name="Text 0"/>
          <p:cNvSpPr/>
          <p:nvPr>
            <p:ph idx="101" type="body" hasCustomPrompt="1"/>
          </p:nvPr>
        </p:nvSpPr>
        <p:spPr>
          <a:xfrm>
            <a:off x="548640" y="3749040"/>
            <a:ext cx="10607040" cy="1280160"/>
          </a:xfrm>
          <a:prstGeom prst="rect">
            <a:avLst/>
          </a:prstGeom>
          <a:noFill/>
          <a:ln/>
        </p:spPr>
        <p:txBody>
          <a:bodyPr wrap="square" lIns="0" tIns="0" rIns="0" bIns="0" rtlCol="0" anchor="t"/>
          <a:lstStyle/>
          <a:p>
            <a:pPr algn="l" indent="0" marL="0">
              <a:buNone/>
            </a:pPr>
            <a:r>
              <a:rPr lang="en-US" sz="1800" dirty="0">
                <a:solidFill>
                  <a:srgbClr val="BCCCDC"/>
                </a:solidFill>
              </a:rPr>
              <a:t>규칙 → 손실 → 모형 → 코드</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명제 규칙: 120개 변수, 5,242개 절</a:t>
            </a:r>
            <a:endParaRPr lang="en-US" sz="3000" dirty="0"/>
          </a:p>
        </p:txBody>
      </p:sp>
      <p:pic>
        <p:nvPicPr>
          <p:cNvPr id="3" name="equation" descr="\alpha \;=\; \underbrace{\mathrm{EO}(f_1,\dots,f_{100})}_{4{,}951\ \text{clauses}} \;\land\; \underbrace{\mathrm{EO}(c_1,\dots,c_{20})}_{191\ \text{clauses}} \;\land\; \underbrace{\bigwedge_{i=1}^{100} \big(f_i \rightarrow c_{\mathrm{par}(i)}\big)}_{100\ \text{implications}}">    </p:cNvPr>
          <p:cNvPicPr>
            <a:picLocks noChangeAspect="1"/>
          </p:cNvPicPr>
          <p:nvPr/>
        </p:nvPicPr>
        <p:blipFill>
          <a:blip r:embed="rId1"/>
          <a:stretch>
            <a:fillRect/>
          </a:stretch>
        </p:blipFill>
        <p:spPr>
          <a:xfrm>
            <a:off x="2074879" y="1325880"/>
            <a:ext cx="8041936" cy="1366077"/>
          </a:xfrm>
          <a:prstGeom prst="rect">
            <a:avLst/>
          </a:prstGeom>
        </p:spPr>
      </p:pic>
      <p:sp>
        <p:nvSpPr>
          <p:cNvPr id="4" name="Text 1"/>
          <p:cNvSpPr txBox="1"/>
          <p:nvPr/>
        </p:nvSpPr>
        <p:spPr>
          <a:xfrm>
            <a:off x="548640" y="3108960"/>
            <a:ext cx="3566160" cy="731520"/>
          </a:xfrm>
          <a:prstGeom prst="rect">
            <a:avLst/>
          </a:prstGeom>
          <a:noFill/>
          <a:ln/>
        </p:spPr>
        <p:txBody>
          <a:bodyPr wrap="square" lIns="0" tIns="0" rIns="0" bIns="0" rtlCol="0" anchor="ctr"/>
          <a:lstStyle/>
          <a:p>
            <a:pPr indent="0" marL="0">
              <a:buNone/>
            </a:pPr>
            <a:r>
              <a:rPr lang="en-US" sz="3000" b="1" dirty="0">
                <a:solidFill>
                  <a:srgbClr val="52606D"/>
                </a:solidFill>
              </a:rPr>
              <a:t>2¹²⁰ ≈ 1.3 × 10³⁶</a:t>
            </a:r>
            <a:endParaRPr lang="en-US" sz="3000" dirty="0"/>
          </a:p>
        </p:txBody>
      </p:sp>
      <p:sp>
        <p:nvSpPr>
          <p:cNvPr id="5" name="Text 2"/>
          <p:cNvSpPr txBox="1"/>
          <p:nvPr/>
        </p:nvSpPr>
        <p:spPr>
          <a:xfrm>
            <a:off x="548640" y="3840480"/>
            <a:ext cx="3566160" cy="365760"/>
          </a:xfrm>
          <a:prstGeom prst="rect">
            <a:avLst/>
          </a:prstGeom>
          <a:noFill/>
          <a:ln/>
        </p:spPr>
        <p:txBody>
          <a:bodyPr wrap="square" lIns="0" tIns="0" rIns="0" bIns="0" rtlCol="0" anchor="ctr"/>
          <a:lstStyle/>
          <a:p>
            <a:pPr indent="0" marL="0">
              <a:buNone/>
            </a:pPr>
            <a:r>
              <a:rPr lang="en-US" sz="1400" dirty="0">
                <a:solidFill>
                  <a:srgbClr val="52606D"/>
                </a:solidFill>
              </a:rPr>
              <a:t>가능한 세계 수</a:t>
            </a:r>
            <a:endParaRPr lang="en-US" sz="1400" dirty="0"/>
          </a:p>
        </p:txBody>
      </p:sp>
      <p:sp>
        <p:nvSpPr>
          <p:cNvPr id="6" name="Text 3"/>
          <p:cNvSpPr txBox="1"/>
          <p:nvPr/>
        </p:nvSpPr>
        <p:spPr>
          <a:xfrm>
            <a:off x="4297680" y="3108960"/>
            <a:ext cx="3566160" cy="731520"/>
          </a:xfrm>
          <a:prstGeom prst="rect">
            <a:avLst/>
          </a:prstGeom>
          <a:noFill/>
          <a:ln/>
        </p:spPr>
        <p:txBody>
          <a:bodyPr wrap="square" lIns="0" tIns="0" rIns="0" bIns="0" rtlCol="0" anchor="ctr"/>
          <a:lstStyle/>
          <a:p>
            <a:pPr indent="0" marL="0">
              <a:buNone/>
            </a:pPr>
            <a:r>
              <a:rPr lang="en-US" sz="3000" b="1" dirty="0">
                <a:solidFill>
                  <a:srgbClr val="EB6834"/>
                </a:solidFill>
              </a:rPr>
              <a:t>100</a:t>
            </a:r>
            <a:endParaRPr lang="en-US" sz="3000" dirty="0"/>
          </a:p>
        </p:txBody>
      </p:sp>
      <p:sp>
        <p:nvSpPr>
          <p:cNvPr id="7" name="Text 4"/>
          <p:cNvSpPr txBox="1"/>
          <p:nvPr/>
        </p:nvSpPr>
        <p:spPr>
          <a:xfrm>
            <a:off x="4297680" y="3840480"/>
            <a:ext cx="3566160" cy="365760"/>
          </a:xfrm>
          <a:prstGeom prst="rect">
            <a:avLst/>
          </a:prstGeom>
          <a:noFill/>
          <a:ln/>
        </p:spPr>
        <p:txBody>
          <a:bodyPr wrap="square" lIns="0" tIns="0" rIns="0" bIns="0" rtlCol="0" anchor="ctr"/>
          <a:lstStyle/>
          <a:p>
            <a:pPr indent="0" marL="0">
              <a:buNone/>
            </a:pPr>
            <a:r>
              <a:rPr lang="en-US" sz="1400" dirty="0">
                <a:solidFill>
                  <a:srgbClr val="52606D"/>
                </a:solidFill>
              </a:rPr>
              <a:t>α를 만족하는 세계 수</a:t>
            </a:r>
            <a:endParaRPr lang="en-US" sz="1400" dirty="0"/>
          </a:p>
        </p:txBody>
      </p:sp>
      <p:sp>
        <p:nvSpPr>
          <p:cNvPr id="8" name="Text 5"/>
          <p:cNvSpPr txBox="1"/>
          <p:nvPr/>
        </p:nvSpPr>
        <p:spPr>
          <a:xfrm>
            <a:off x="8046720" y="3108960"/>
            <a:ext cx="3566160" cy="731520"/>
          </a:xfrm>
          <a:prstGeom prst="rect">
            <a:avLst/>
          </a:prstGeom>
          <a:noFill/>
          <a:ln/>
        </p:spPr>
        <p:txBody>
          <a:bodyPr wrap="square" lIns="0" tIns="0" rIns="0" bIns="0" rtlCol="0" anchor="ctr"/>
          <a:lstStyle/>
          <a:p>
            <a:pPr indent="0" marL="0">
              <a:buNone/>
            </a:pPr>
            <a:r>
              <a:rPr lang="en-US" sz="3000" b="1" dirty="0">
                <a:solidFill>
                  <a:srgbClr val="4A3AA7"/>
                </a:solidFill>
              </a:rPr>
              <a:t>5,242</a:t>
            </a:r>
            <a:endParaRPr lang="en-US" sz="3000" dirty="0"/>
          </a:p>
        </p:txBody>
      </p:sp>
      <p:sp>
        <p:nvSpPr>
          <p:cNvPr id="9" name="Text 6"/>
          <p:cNvSpPr txBox="1"/>
          <p:nvPr/>
        </p:nvSpPr>
        <p:spPr>
          <a:xfrm>
            <a:off x="8046720" y="3840480"/>
            <a:ext cx="3566160" cy="365760"/>
          </a:xfrm>
          <a:prstGeom prst="rect">
            <a:avLst/>
          </a:prstGeom>
          <a:noFill/>
          <a:ln/>
        </p:spPr>
        <p:txBody>
          <a:bodyPr wrap="square" lIns="0" tIns="0" rIns="0" bIns="0" rtlCol="0" anchor="ctr"/>
          <a:lstStyle/>
          <a:p>
            <a:pPr indent="0" marL="0">
              <a:buNone/>
            </a:pPr>
            <a:r>
              <a:rPr lang="en-US" sz="1400" dirty="0">
                <a:solidFill>
                  <a:srgbClr val="52606D"/>
                </a:solidFill>
              </a:rPr>
              <a:t>CNF 절의 수</a:t>
            </a:r>
            <a:endParaRPr lang="en-US" sz="1400" dirty="0"/>
          </a:p>
        </p:txBody>
      </p:sp>
      <p:sp>
        <p:nvSpPr>
          <p:cNvPr id="10" name="card"/>
          <p:cNvSpPr/>
          <p:nvPr/>
        </p:nvSpPr>
        <p:spPr>
          <a:xfrm>
            <a:off x="548640" y="4480560"/>
            <a:ext cx="11094415" cy="1417320"/>
          </a:xfrm>
          <a:prstGeom prst="roundRect">
            <a:avLst>
              <a:gd name="adj" fmla="val 7742"/>
            </a:avLst>
          </a:prstGeom>
          <a:solidFill>
            <a:srgbClr val="FDEEE6"/>
          </a:solidFill>
          <a:ln w="12700">
            <a:solidFill>
              <a:srgbClr val="FDEEE6"/>
            </a:solidFill>
            <a:prstDash val="solid"/>
          </a:ln>
        </p:spPr>
      </p:sp>
      <p:sp>
        <p:nvSpPr>
          <p:cNvPr id="11" name="tag"/>
          <p:cNvSpPr/>
          <p:nvPr/>
        </p:nvSpPr>
        <p:spPr>
          <a:xfrm>
            <a:off x="777240" y="4709160"/>
            <a:ext cx="384048" cy="384048"/>
          </a:xfrm>
          <a:prstGeom prst="ellipse">
            <a:avLst/>
          </a:prstGeom>
          <a:solidFill>
            <a:srgbClr val="EB6834"/>
          </a:solidFill>
          <a:ln w="12700">
            <a:solidFill>
              <a:srgbClr val="EB6834"/>
            </a:solidFill>
            <a:prstDash val="solid"/>
          </a:ln>
        </p:spPr>
      </p:sp>
      <p:sp>
        <p:nvSpPr>
          <p:cNvPr id="12" name="Text 9"/>
          <p:cNvSpPr txBox="1"/>
          <p:nvPr/>
        </p:nvSpPr>
        <p:spPr>
          <a:xfrm>
            <a:off x="777240" y="4709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S</a:t>
            </a:r>
            <a:endParaRPr lang="en-US" sz="1300" dirty="0"/>
          </a:p>
        </p:txBody>
      </p:sp>
      <p:sp>
        <p:nvSpPr>
          <p:cNvPr id="13" name="Text 10"/>
          <p:cNvSpPr txBox="1"/>
          <p:nvPr/>
        </p:nvSpPr>
        <p:spPr>
          <a:xfrm>
            <a:off x="1280160" y="4681728"/>
            <a:ext cx="10180015" cy="438912"/>
          </a:xfrm>
          <a:prstGeom prst="rect">
            <a:avLst/>
          </a:prstGeom>
          <a:noFill/>
          <a:ln/>
        </p:spPr>
        <p:txBody>
          <a:bodyPr wrap="square" lIns="0" tIns="0" rIns="0" bIns="0" rtlCol="0" anchor="ctr"/>
          <a:lstStyle/>
          <a:p>
            <a:pPr indent="0" marL="0">
              <a:buNone/>
            </a:pPr>
            <a:r>
              <a:rPr lang="en-US" sz="1600" b="1" dirty="0">
                <a:solidFill>
                  <a:srgbClr val="1F2933"/>
                </a:solidFill>
              </a:rPr>
              <a:t>예: maple_tree → trees,   lion → large_carnivores,   bus → vehicles_1</a:t>
            </a:r>
            <a:endParaRPr lang="en-US" sz="1600" dirty="0"/>
          </a:p>
        </p:txBody>
      </p:sp>
      <p:sp>
        <p:nvSpPr>
          <p:cNvPr id="14" name="Text 11"/>
          <p:cNvSpPr txBox="1"/>
          <p:nvPr/>
        </p:nvSpPr>
        <p:spPr>
          <a:xfrm>
            <a:off x="777240" y="5212080"/>
            <a:ext cx="10637215" cy="54864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par(i) : 세부 클래스 i의 상위 클래스. CIFAR-100 메타데이터에서 추출하고, 학습·테스트 전체에서 함수(일대일 대응이 아닌 다대일)임을 검증</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닫힌 형태: 계층 제약의 만족 확률</a:t>
            </a:r>
            <a:endParaRPr lang="en-US" sz="3000" dirty="0"/>
          </a:p>
        </p:txBody>
      </p:sp>
      <p:sp>
        <p:nvSpPr>
          <p:cNvPr id="3" name="pill"/>
          <p:cNvSpPr/>
          <p:nvPr/>
        </p:nvSpPr>
        <p:spPr>
          <a:xfrm>
            <a:off x="548640" y="1389888"/>
            <a:ext cx="2468880" cy="365760"/>
          </a:xfrm>
          <a:prstGeom prst="roundRect">
            <a:avLst>
              <a:gd name="adj" fmla="val 50000"/>
            </a:avLst>
          </a:prstGeom>
          <a:solidFill>
            <a:srgbClr val="4A3AA7"/>
          </a:solidFill>
          <a:ln w="12700">
            <a:solidFill>
              <a:srgbClr val="4A3AA7"/>
            </a:solidFill>
            <a:prstDash val="solid"/>
          </a:ln>
        </p:spPr>
      </p:sp>
      <p:sp>
        <p:nvSpPr>
          <p:cNvPr id="4" name="Text 2"/>
          <p:cNvSpPr txBox="1"/>
          <p:nvPr/>
        </p:nvSpPr>
        <p:spPr>
          <a:xfrm>
            <a:off x="548640" y="1389888"/>
            <a:ext cx="2468880" cy="365760"/>
          </a:xfrm>
          <a:prstGeom prst="rect">
            <a:avLst/>
          </a:prstGeom>
          <a:noFill/>
          <a:ln/>
        </p:spPr>
        <p:txBody>
          <a:bodyPr wrap="square" lIns="0" tIns="0" rIns="0" bIns="0" rtlCol="0" anchor="ctr"/>
          <a:lstStyle/>
          <a:p>
            <a:pPr algn="ctr" indent="0" marL="0">
              <a:buNone/>
            </a:pPr>
            <a:r>
              <a:rPr lang="en-US" sz="1300" b="1" dirty="0">
                <a:solidFill>
                  <a:srgbClr val="FFFFFF"/>
                </a:solidFill>
              </a:rPr>
              <a:t>원리 1 + 원리 3</a:t>
            </a:r>
            <a:endParaRPr lang="en-US" sz="1300" dirty="0"/>
          </a:p>
        </p:txBody>
      </p:sp>
      <p:pic>
        <p:nvPicPr>
          <p:cNvPr id="5" name="equation" descr="\Pr(\alpha) = \sum_{i=1}^{100} p_{f_i}\, p_{c_{\mathrm{par}(i)}} \prod_{j \ne i} (1 - p_{f_j}) \prod_{k \ne \mathrm{par}(i)} (1 - p_{c_k})">    </p:cNvPr>
          <p:cNvPicPr>
            <a:picLocks noChangeAspect="1"/>
          </p:cNvPicPr>
          <p:nvPr/>
        </p:nvPicPr>
        <p:blipFill>
          <a:blip r:embed="rId1"/>
          <a:stretch>
            <a:fillRect/>
          </a:stretch>
        </p:blipFill>
        <p:spPr>
          <a:xfrm>
            <a:off x="3291840" y="1280160"/>
            <a:ext cx="5009247" cy="758847"/>
          </a:xfrm>
          <a:prstGeom prst="rect">
            <a:avLst/>
          </a:prstGeom>
        </p:spPr>
      </p:pic>
      <p:sp>
        <p:nvSpPr>
          <p:cNvPr id="6" name="pill"/>
          <p:cNvSpPr/>
          <p:nvPr/>
        </p:nvSpPr>
        <p:spPr>
          <a:xfrm>
            <a:off x="548640" y="2578608"/>
            <a:ext cx="2468880" cy="365760"/>
          </a:xfrm>
          <a:prstGeom prst="roundRect">
            <a:avLst>
              <a:gd name="adj" fmla="val 50000"/>
            </a:avLst>
          </a:prstGeom>
          <a:solidFill>
            <a:srgbClr val="52606D"/>
          </a:solidFill>
          <a:ln w="12700">
            <a:solidFill>
              <a:srgbClr val="52606D"/>
            </a:solidFill>
            <a:prstDash val="solid"/>
          </a:ln>
        </p:spPr>
      </p:sp>
      <p:sp>
        <p:nvSpPr>
          <p:cNvPr id="7" name="Text 4"/>
          <p:cNvSpPr txBox="1"/>
          <p:nvPr/>
        </p:nvSpPr>
        <p:spPr>
          <a:xfrm>
            <a:off x="548640" y="2578608"/>
            <a:ext cx="2468880" cy="365760"/>
          </a:xfrm>
          <a:prstGeom prst="rect">
            <a:avLst/>
          </a:prstGeom>
          <a:noFill/>
          <a:ln/>
        </p:spPr>
        <p:txBody>
          <a:bodyPr wrap="square" lIns="0" tIns="0" rIns="0" bIns="0" rtlCol="0" anchor="ctr"/>
          <a:lstStyle/>
          <a:p>
            <a:pPr algn="ctr" indent="0" marL="0">
              <a:buNone/>
            </a:pPr>
            <a:r>
              <a:rPr lang="en-US" sz="1300" b="1" dirty="0">
                <a:solidFill>
                  <a:srgbClr val="FFFFFF"/>
                </a:solidFill>
              </a:rPr>
              <a:t>공통 인수 + 오즈</a:t>
            </a:r>
            <a:endParaRPr lang="en-US" sz="1300" dirty="0"/>
          </a:p>
        </p:txBody>
      </p:sp>
      <p:pic>
        <p:nvPicPr>
          <p:cNvPr id="8" name="equation" descr="= \Big[\prod_j (1-p_{f_j}) \prod_k (1-p_{c_k})\Big] \sum_i e^{\,f_i + c_{\mathrm{par}(i)}}">    </p:cNvPr>
          <p:cNvPicPr>
            <a:picLocks noChangeAspect="1"/>
          </p:cNvPicPr>
          <p:nvPr/>
        </p:nvPicPr>
        <p:blipFill>
          <a:blip r:embed="rId2"/>
          <a:stretch>
            <a:fillRect/>
          </a:stretch>
        </p:blipFill>
        <p:spPr>
          <a:xfrm>
            <a:off x="3291840" y="2468880"/>
            <a:ext cx="4239627" cy="598012"/>
          </a:xfrm>
          <a:prstGeom prst="rect">
            <a:avLst/>
          </a:prstGeom>
        </p:spPr>
      </p:pic>
      <p:sp>
        <p:nvSpPr>
          <p:cNvPr id="9" name="pill"/>
          <p:cNvSpPr/>
          <p:nvPr/>
        </p:nvSpPr>
        <p:spPr>
          <a:xfrm>
            <a:off x="548640" y="3767328"/>
            <a:ext cx="2468880" cy="365760"/>
          </a:xfrm>
          <a:prstGeom prst="roundRect">
            <a:avLst>
              <a:gd name="adj" fmla="val 50000"/>
            </a:avLst>
          </a:prstGeom>
          <a:solidFill>
            <a:srgbClr val="EB6834"/>
          </a:solidFill>
          <a:ln w="12700">
            <a:solidFill>
              <a:srgbClr val="EB6834"/>
            </a:solidFill>
            <a:prstDash val="solid"/>
          </a:ln>
        </p:spPr>
      </p:sp>
      <p:sp>
        <p:nvSpPr>
          <p:cNvPr id="10" name="Text 6"/>
          <p:cNvSpPr txBox="1"/>
          <p:nvPr/>
        </p:nvSpPr>
        <p:spPr>
          <a:xfrm>
            <a:off x="548640" y="3767328"/>
            <a:ext cx="2468880" cy="365760"/>
          </a:xfrm>
          <a:prstGeom prst="rect">
            <a:avLst/>
          </a:prstGeom>
          <a:noFill/>
          <a:ln/>
        </p:spPr>
        <p:txBody>
          <a:bodyPr wrap="square" lIns="0" tIns="0" rIns="0" bIns="0" rtlCol="0" anchor="ctr"/>
          <a:lstStyle/>
          <a:p>
            <a:pPr algn="ctr" indent="0" marL="0">
              <a:buNone/>
            </a:pPr>
            <a:r>
              <a:rPr lang="en-US" sz="1300" b="1" dirty="0">
                <a:solidFill>
                  <a:srgbClr val="FFFFFF"/>
                </a:solidFill>
              </a:rPr>
              <a:t>최종 형태</a:t>
            </a:r>
            <a:endParaRPr lang="en-US" sz="1300" dirty="0"/>
          </a:p>
        </p:txBody>
      </p:sp>
      <p:pic>
        <p:nvPicPr>
          <p:cNvPr id="11" name="equation" descr="\log \Pr(\alpha) = \operatorname{logsumexp}_i\big(f_i + c_{\mathrm{par}(i)}\big) - \sum_j \mathrm{softplus}(f_j) - \sum_k \mathrm{softplus}(c_k)">    </p:cNvPr>
          <p:cNvPicPr>
            <a:picLocks noChangeAspect="1"/>
          </p:cNvPicPr>
          <p:nvPr/>
        </p:nvPicPr>
        <p:blipFill>
          <a:blip r:embed="rId3"/>
          <a:stretch>
            <a:fillRect/>
          </a:stretch>
        </p:blipFill>
        <p:spPr>
          <a:xfrm>
            <a:off x="3291840" y="3657600"/>
            <a:ext cx="7566717" cy="549804"/>
          </a:xfrm>
          <a:prstGeom prst="rect">
            <a:avLst/>
          </a:prstGeom>
        </p:spPr>
      </p:pic>
      <p:sp>
        <p:nvSpPr>
          <p:cNvPr id="12" name="pill"/>
          <p:cNvSpPr/>
          <p:nvPr/>
        </p:nvSpPr>
        <p:spPr>
          <a:xfrm>
            <a:off x="548640" y="4956048"/>
            <a:ext cx="2468880" cy="365760"/>
          </a:xfrm>
          <a:prstGeom prst="roundRect">
            <a:avLst>
              <a:gd name="adj" fmla="val 50000"/>
            </a:avLst>
          </a:prstGeom>
          <a:solidFill>
            <a:srgbClr val="4A3AA7"/>
          </a:solidFill>
          <a:ln w="12700">
            <a:solidFill>
              <a:srgbClr val="4A3AA7"/>
            </a:solidFill>
            <a:prstDash val="solid"/>
          </a:ln>
        </p:spPr>
      </p:sp>
      <p:sp>
        <p:nvSpPr>
          <p:cNvPr id="13" name="Text 8"/>
          <p:cNvSpPr txBox="1"/>
          <p:nvPr/>
        </p:nvSpPr>
        <p:spPr>
          <a:xfrm>
            <a:off x="548640" y="4956048"/>
            <a:ext cx="2468880" cy="365760"/>
          </a:xfrm>
          <a:prstGeom prst="rect">
            <a:avLst/>
          </a:prstGeom>
          <a:noFill/>
          <a:ln/>
        </p:spPr>
        <p:txBody>
          <a:bodyPr wrap="square" lIns="0" tIns="0" rIns="0" bIns="0" rtlCol="0" anchor="ctr"/>
          <a:lstStyle/>
          <a:p>
            <a:pPr algn="ctr" indent="0" marL="0">
              <a:buNone/>
            </a:pPr>
            <a:r>
              <a:rPr lang="en-US" sz="1300" b="1" dirty="0">
                <a:solidFill>
                  <a:srgbClr val="FFFFFF"/>
                </a:solidFill>
              </a:rPr>
              <a:t>부산물: MAP 세계</a:t>
            </a:r>
            <a:endParaRPr lang="en-US" sz="1300" dirty="0"/>
          </a:p>
        </p:txBody>
      </p:sp>
      <p:pic>
        <p:nvPicPr>
          <p:cNvPr id="14" name="equation" descr="\hat{\mathbf{x}}_{\mathrm{MAP}} :\; \hat{\imath} = \arg\max_i \big(f_i + c_{\mathrm{par}(i)}\big)">    </p:cNvPr>
          <p:cNvPicPr>
            <a:picLocks noChangeAspect="1"/>
          </p:cNvPicPr>
          <p:nvPr/>
        </p:nvPicPr>
        <p:blipFill>
          <a:blip r:embed="rId4"/>
          <a:stretch>
            <a:fillRect/>
          </a:stretch>
        </p:blipFill>
        <p:spPr>
          <a:xfrm>
            <a:off x="3291840" y="4846320"/>
            <a:ext cx="3380844" cy="386730"/>
          </a:xfrm>
          <a:prstGeom prst="rect">
            <a:avLst/>
          </a:prstGeom>
        </p:spPr>
      </p:pic>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신경망 모형: ResNet-9 + 120차원 출력</a:t>
            </a:r>
            <a:endParaRPr lang="en-US" sz="3000" dirty="0"/>
          </a:p>
        </p:txBody>
      </p:sp>
      <p:sp>
        <p:nvSpPr>
          <p:cNvPr id="3" name="box"/>
          <p:cNvSpPr/>
          <p:nvPr/>
        </p:nvSpPr>
        <p:spPr>
          <a:xfrm>
            <a:off x="548640" y="1463040"/>
            <a:ext cx="1078992" cy="960120"/>
          </a:xfrm>
          <a:prstGeom prst="roundRect">
            <a:avLst>
              <a:gd name="adj" fmla="val 7619"/>
            </a:avLst>
          </a:prstGeom>
          <a:solidFill>
            <a:srgbClr val="F1F4F8"/>
          </a:solidFill>
          <a:ln w="12700">
            <a:solidFill>
              <a:srgbClr val="F1F4F8"/>
            </a:solidFill>
            <a:prstDash val="solid"/>
          </a:ln>
        </p:spPr>
      </p:sp>
      <p:sp>
        <p:nvSpPr>
          <p:cNvPr id="4" name="Text 2"/>
          <p:cNvSpPr txBox="1"/>
          <p:nvPr/>
        </p:nvSpPr>
        <p:spPr>
          <a:xfrm>
            <a:off x="548640" y="1463040"/>
            <a:ext cx="1078992" cy="960120"/>
          </a:xfrm>
          <a:prstGeom prst="rect">
            <a:avLst/>
          </a:prstGeom>
          <a:noFill/>
          <a:ln/>
        </p:spPr>
        <p:txBody>
          <a:bodyPr wrap="square" lIns="25400" tIns="25400" rIns="25400" bIns="25400" rtlCol="0" anchor="ctr"/>
          <a:lstStyle/>
          <a:p>
            <a:pPr algn="ctr" indent="0" marL="0">
              <a:buNone/>
            </a:pPr>
            <a:r>
              <a:rPr lang="en-US" sz="1200" dirty="0">
                <a:solidFill>
                  <a:srgbClr val="1F2933"/>
                </a:solidFill>
              </a:rPr>
              <a:t>입력</a:t>
            </a:r>
            <a:endParaRPr lang="en-US" sz="1200" dirty="0"/>
          </a:p>
          <a:p>
            <a:pPr algn="ctr" indent="0" marL="0">
              <a:buNone/>
            </a:pPr>
            <a:r>
              <a:rPr lang="en-US" sz="1200" dirty="0">
                <a:solidFill>
                  <a:srgbClr val="1F2933"/>
                </a:solidFill>
              </a:rPr>
              <a:t>3×32×32</a:t>
            </a:r>
            <a:endParaRPr lang="en-US" sz="1200" dirty="0"/>
          </a:p>
        </p:txBody>
      </p:sp>
      <p:sp>
        <p:nvSpPr>
          <p:cNvPr id="5" name="arrow"/>
          <p:cNvSpPr/>
          <p:nvPr/>
        </p:nvSpPr>
        <p:spPr>
          <a:xfrm>
            <a:off x="1636776" y="1943100"/>
            <a:ext cx="137160" cy="914"/>
          </a:xfrm>
          <a:prstGeom prst="line">
            <a:avLst/>
          </a:prstGeom>
          <a:noFill/>
          <a:ln w="22225">
            <a:solidFill>
              <a:srgbClr val="7B8794"/>
            </a:solidFill>
            <a:prstDash val="solid"/>
            <a:tailEnd type="triangle"/>
          </a:ln>
        </p:spPr>
      </p:sp>
      <p:sp>
        <p:nvSpPr>
          <p:cNvPr id="6" name="box"/>
          <p:cNvSpPr/>
          <p:nvPr/>
        </p:nvSpPr>
        <p:spPr>
          <a:xfrm>
            <a:off x="1783080" y="1463040"/>
            <a:ext cx="1078992" cy="960120"/>
          </a:xfrm>
          <a:prstGeom prst="roundRect">
            <a:avLst>
              <a:gd name="adj" fmla="val 7619"/>
            </a:avLst>
          </a:prstGeom>
          <a:solidFill>
            <a:srgbClr val="E6F0FB"/>
          </a:solidFill>
          <a:ln w="12700">
            <a:solidFill>
              <a:srgbClr val="E6F0FB"/>
            </a:solidFill>
            <a:prstDash val="solid"/>
          </a:ln>
        </p:spPr>
      </p:sp>
      <p:sp>
        <p:nvSpPr>
          <p:cNvPr id="7" name="Text 5"/>
          <p:cNvSpPr txBox="1"/>
          <p:nvPr/>
        </p:nvSpPr>
        <p:spPr>
          <a:xfrm>
            <a:off x="1783080" y="1463040"/>
            <a:ext cx="1078992" cy="960120"/>
          </a:xfrm>
          <a:prstGeom prst="rect">
            <a:avLst/>
          </a:prstGeom>
          <a:noFill/>
          <a:ln/>
        </p:spPr>
        <p:txBody>
          <a:bodyPr wrap="square" lIns="25400" tIns="25400" rIns="25400" bIns="25400" rtlCol="0" anchor="ctr"/>
          <a:lstStyle/>
          <a:p>
            <a:pPr algn="ctr" indent="0" marL="0">
              <a:buNone/>
            </a:pPr>
            <a:r>
              <a:rPr lang="en-US" sz="1200" dirty="0">
                <a:solidFill>
                  <a:srgbClr val="1F2933"/>
                </a:solidFill>
              </a:rPr>
              <a:t>Conv 64</a:t>
            </a:r>
            <a:endParaRPr lang="en-US" sz="1200" dirty="0"/>
          </a:p>
        </p:txBody>
      </p:sp>
      <p:sp>
        <p:nvSpPr>
          <p:cNvPr id="8" name="arrow"/>
          <p:cNvSpPr/>
          <p:nvPr/>
        </p:nvSpPr>
        <p:spPr>
          <a:xfrm>
            <a:off x="2871216" y="1943100"/>
            <a:ext cx="137160" cy="914"/>
          </a:xfrm>
          <a:prstGeom prst="line">
            <a:avLst/>
          </a:prstGeom>
          <a:noFill/>
          <a:ln w="22225">
            <a:solidFill>
              <a:srgbClr val="7B8794"/>
            </a:solidFill>
            <a:prstDash val="solid"/>
            <a:tailEnd type="triangle"/>
          </a:ln>
        </p:spPr>
      </p:sp>
      <p:sp>
        <p:nvSpPr>
          <p:cNvPr id="9" name="box"/>
          <p:cNvSpPr/>
          <p:nvPr/>
        </p:nvSpPr>
        <p:spPr>
          <a:xfrm>
            <a:off x="3017520" y="1463040"/>
            <a:ext cx="1078992" cy="960120"/>
          </a:xfrm>
          <a:prstGeom prst="roundRect">
            <a:avLst>
              <a:gd name="adj" fmla="val 7619"/>
            </a:avLst>
          </a:prstGeom>
          <a:solidFill>
            <a:srgbClr val="E6F0FB"/>
          </a:solidFill>
          <a:ln w="12700">
            <a:solidFill>
              <a:srgbClr val="E6F0FB"/>
            </a:solidFill>
            <a:prstDash val="solid"/>
          </a:ln>
        </p:spPr>
      </p:sp>
      <p:sp>
        <p:nvSpPr>
          <p:cNvPr id="10" name="Text 8"/>
          <p:cNvSpPr txBox="1"/>
          <p:nvPr/>
        </p:nvSpPr>
        <p:spPr>
          <a:xfrm>
            <a:off x="3017520" y="1463040"/>
            <a:ext cx="1078992" cy="960120"/>
          </a:xfrm>
          <a:prstGeom prst="rect">
            <a:avLst/>
          </a:prstGeom>
          <a:noFill/>
          <a:ln/>
        </p:spPr>
        <p:txBody>
          <a:bodyPr wrap="square" lIns="25400" tIns="25400" rIns="25400" bIns="25400" rtlCol="0" anchor="ctr"/>
          <a:lstStyle/>
          <a:p>
            <a:pPr algn="ctr" indent="0" marL="0">
              <a:buNone/>
            </a:pPr>
            <a:r>
              <a:rPr lang="en-US" sz="1200" dirty="0">
                <a:solidFill>
                  <a:srgbClr val="1F2933"/>
                </a:solidFill>
              </a:rPr>
              <a:t>Conv 128</a:t>
            </a:r>
            <a:endParaRPr lang="en-US" sz="1200" dirty="0"/>
          </a:p>
          <a:p>
            <a:pPr algn="ctr" indent="0" marL="0">
              <a:buNone/>
            </a:pPr>
            <a:r>
              <a:rPr lang="en-US" sz="1200" dirty="0">
                <a:solidFill>
                  <a:srgbClr val="1F2933"/>
                </a:solidFill>
              </a:rPr>
              <a:t>+ Pool</a:t>
            </a:r>
            <a:endParaRPr lang="en-US" sz="1200" dirty="0"/>
          </a:p>
        </p:txBody>
      </p:sp>
      <p:sp>
        <p:nvSpPr>
          <p:cNvPr id="11" name="arrow"/>
          <p:cNvSpPr/>
          <p:nvPr/>
        </p:nvSpPr>
        <p:spPr>
          <a:xfrm>
            <a:off x="4105656" y="1943100"/>
            <a:ext cx="137160" cy="914"/>
          </a:xfrm>
          <a:prstGeom prst="line">
            <a:avLst/>
          </a:prstGeom>
          <a:noFill/>
          <a:ln w="22225">
            <a:solidFill>
              <a:srgbClr val="7B8794"/>
            </a:solidFill>
            <a:prstDash val="solid"/>
            <a:tailEnd type="triangle"/>
          </a:ln>
        </p:spPr>
      </p:sp>
      <p:sp>
        <p:nvSpPr>
          <p:cNvPr id="12" name="box"/>
          <p:cNvSpPr/>
          <p:nvPr/>
        </p:nvSpPr>
        <p:spPr>
          <a:xfrm>
            <a:off x="4251960" y="1463040"/>
            <a:ext cx="1078992" cy="960120"/>
          </a:xfrm>
          <a:prstGeom prst="roundRect">
            <a:avLst>
              <a:gd name="adj" fmla="val 7619"/>
            </a:avLst>
          </a:prstGeom>
          <a:solidFill>
            <a:srgbClr val="E6F0FB"/>
          </a:solidFill>
          <a:ln w="12700">
            <a:solidFill>
              <a:srgbClr val="E6F0FB"/>
            </a:solidFill>
            <a:prstDash val="solid"/>
          </a:ln>
        </p:spPr>
      </p:sp>
      <p:sp>
        <p:nvSpPr>
          <p:cNvPr id="13" name="Text 11"/>
          <p:cNvSpPr txBox="1"/>
          <p:nvPr/>
        </p:nvSpPr>
        <p:spPr>
          <a:xfrm>
            <a:off x="4251960" y="1463040"/>
            <a:ext cx="1078992" cy="960120"/>
          </a:xfrm>
          <a:prstGeom prst="rect">
            <a:avLst/>
          </a:prstGeom>
          <a:noFill/>
          <a:ln/>
        </p:spPr>
        <p:txBody>
          <a:bodyPr wrap="square" lIns="25400" tIns="25400" rIns="25400" bIns="25400" rtlCol="0" anchor="ctr"/>
          <a:lstStyle/>
          <a:p>
            <a:pPr algn="ctr" indent="0" marL="0">
              <a:buNone/>
            </a:pPr>
            <a:r>
              <a:rPr lang="en-US" sz="1200" dirty="0">
                <a:solidFill>
                  <a:srgbClr val="1F2933"/>
                </a:solidFill>
              </a:rPr>
              <a:t>Res 128</a:t>
            </a:r>
            <a:endParaRPr lang="en-US" sz="1200" dirty="0"/>
          </a:p>
        </p:txBody>
      </p:sp>
      <p:sp>
        <p:nvSpPr>
          <p:cNvPr id="14" name="arrow"/>
          <p:cNvSpPr/>
          <p:nvPr/>
        </p:nvSpPr>
        <p:spPr>
          <a:xfrm>
            <a:off x="5340096" y="1943100"/>
            <a:ext cx="137160" cy="914"/>
          </a:xfrm>
          <a:prstGeom prst="line">
            <a:avLst/>
          </a:prstGeom>
          <a:noFill/>
          <a:ln w="22225">
            <a:solidFill>
              <a:srgbClr val="7B8794"/>
            </a:solidFill>
            <a:prstDash val="solid"/>
            <a:tailEnd type="triangle"/>
          </a:ln>
        </p:spPr>
      </p:sp>
      <p:sp>
        <p:nvSpPr>
          <p:cNvPr id="15" name="box"/>
          <p:cNvSpPr/>
          <p:nvPr/>
        </p:nvSpPr>
        <p:spPr>
          <a:xfrm>
            <a:off x="5486400" y="1463040"/>
            <a:ext cx="1078992" cy="960120"/>
          </a:xfrm>
          <a:prstGeom prst="roundRect">
            <a:avLst>
              <a:gd name="adj" fmla="val 7619"/>
            </a:avLst>
          </a:prstGeom>
          <a:solidFill>
            <a:srgbClr val="E6F0FB"/>
          </a:solidFill>
          <a:ln w="12700">
            <a:solidFill>
              <a:srgbClr val="E6F0FB"/>
            </a:solidFill>
            <a:prstDash val="solid"/>
          </a:ln>
        </p:spPr>
      </p:sp>
      <p:sp>
        <p:nvSpPr>
          <p:cNvPr id="16" name="Text 14"/>
          <p:cNvSpPr txBox="1"/>
          <p:nvPr/>
        </p:nvSpPr>
        <p:spPr>
          <a:xfrm>
            <a:off x="5486400" y="1463040"/>
            <a:ext cx="1078992" cy="960120"/>
          </a:xfrm>
          <a:prstGeom prst="rect">
            <a:avLst/>
          </a:prstGeom>
          <a:noFill/>
          <a:ln/>
        </p:spPr>
        <p:txBody>
          <a:bodyPr wrap="square" lIns="25400" tIns="25400" rIns="25400" bIns="25400" rtlCol="0" anchor="ctr"/>
          <a:lstStyle/>
          <a:p>
            <a:pPr algn="ctr" indent="0" marL="0">
              <a:buNone/>
            </a:pPr>
            <a:r>
              <a:rPr lang="en-US" sz="1200" dirty="0">
                <a:solidFill>
                  <a:srgbClr val="1F2933"/>
                </a:solidFill>
              </a:rPr>
              <a:t>Conv 256</a:t>
            </a:r>
            <a:endParaRPr lang="en-US" sz="1200" dirty="0"/>
          </a:p>
          <a:p>
            <a:pPr algn="ctr" indent="0" marL="0">
              <a:buNone/>
            </a:pPr>
            <a:r>
              <a:rPr lang="en-US" sz="1200" dirty="0">
                <a:solidFill>
                  <a:srgbClr val="1F2933"/>
                </a:solidFill>
              </a:rPr>
              <a:t>+ Pool</a:t>
            </a:r>
            <a:endParaRPr lang="en-US" sz="1200" dirty="0"/>
          </a:p>
        </p:txBody>
      </p:sp>
      <p:sp>
        <p:nvSpPr>
          <p:cNvPr id="17" name="arrow"/>
          <p:cNvSpPr/>
          <p:nvPr/>
        </p:nvSpPr>
        <p:spPr>
          <a:xfrm>
            <a:off x="6574536" y="1943100"/>
            <a:ext cx="137160" cy="914"/>
          </a:xfrm>
          <a:prstGeom prst="line">
            <a:avLst/>
          </a:prstGeom>
          <a:noFill/>
          <a:ln w="22225">
            <a:solidFill>
              <a:srgbClr val="7B8794"/>
            </a:solidFill>
            <a:prstDash val="solid"/>
            <a:tailEnd type="triangle"/>
          </a:ln>
        </p:spPr>
      </p:sp>
      <p:sp>
        <p:nvSpPr>
          <p:cNvPr id="18" name="box"/>
          <p:cNvSpPr/>
          <p:nvPr/>
        </p:nvSpPr>
        <p:spPr>
          <a:xfrm>
            <a:off x="6720840" y="1463040"/>
            <a:ext cx="1078992" cy="960120"/>
          </a:xfrm>
          <a:prstGeom prst="roundRect">
            <a:avLst>
              <a:gd name="adj" fmla="val 7619"/>
            </a:avLst>
          </a:prstGeom>
          <a:solidFill>
            <a:srgbClr val="E6F0FB"/>
          </a:solidFill>
          <a:ln w="12700">
            <a:solidFill>
              <a:srgbClr val="E6F0FB"/>
            </a:solidFill>
            <a:prstDash val="solid"/>
          </a:ln>
        </p:spPr>
      </p:sp>
      <p:sp>
        <p:nvSpPr>
          <p:cNvPr id="19" name="Text 17"/>
          <p:cNvSpPr txBox="1"/>
          <p:nvPr/>
        </p:nvSpPr>
        <p:spPr>
          <a:xfrm>
            <a:off x="6720840" y="1463040"/>
            <a:ext cx="1078992" cy="960120"/>
          </a:xfrm>
          <a:prstGeom prst="rect">
            <a:avLst/>
          </a:prstGeom>
          <a:noFill/>
          <a:ln/>
        </p:spPr>
        <p:txBody>
          <a:bodyPr wrap="square" lIns="25400" tIns="25400" rIns="25400" bIns="25400" rtlCol="0" anchor="ctr"/>
          <a:lstStyle/>
          <a:p>
            <a:pPr algn="ctr" indent="0" marL="0">
              <a:buNone/>
            </a:pPr>
            <a:r>
              <a:rPr lang="en-US" sz="1200" dirty="0">
                <a:solidFill>
                  <a:srgbClr val="1F2933"/>
                </a:solidFill>
              </a:rPr>
              <a:t>Conv 512</a:t>
            </a:r>
            <a:endParaRPr lang="en-US" sz="1200" dirty="0"/>
          </a:p>
          <a:p>
            <a:pPr algn="ctr" indent="0" marL="0">
              <a:buNone/>
            </a:pPr>
            <a:r>
              <a:rPr lang="en-US" sz="1200" dirty="0">
                <a:solidFill>
                  <a:srgbClr val="1F2933"/>
                </a:solidFill>
              </a:rPr>
              <a:t>+ Pool</a:t>
            </a:r>
            <a:endParaRPr lang="en-US" sz="1200" dirty="0"/>
          </a:p>
        </p:txBody>
      </p:sp>
      <p:sp>
        <p:nvSpPr>
          <p:cNvPr id="20" name="arrow"/>
          <p:cNvSpPr/>
          <p:nvPr/>
        </p:nvSpPr>
        <p:spPr>
          <a:xfrm>
            <a:off x="7808976" y="1943100"/>
            <a:ext cx="137160" cy="914"/>
          </a:xfrm>
          <a:prstGeom prst="line">
            <a:avLst/>
          </a:prstGeom>
          <a:noFill/>
          <a:ln w="22225">
            <a:solidFill>
              <a:srgbClr val="7B8794"/>
            </a:solidFill>
            <a:prstDash val="solid"/>
            <a:tailEnd type="triangle"/>
          </a:ln>
        </p:spPr>
      </p:sp>
      <p:sp>
        <p:nvSpPr>
          <p:cNvPr id="21" name="box"/>
          <p:cNvSpPr/>
          <p:nvPr/>
        </p:nvSpPr>
        <p:spPr>
          <a:xfrm>
            <a:off x="7955280" y="1463040"/>
            <a:ext cx="1078992" cy="960120"/>
          </a:xfrm>
          <a:prstGeom prst="roundRect">
            <a:avLst>
              <a:gd name="adj" fmla="val 7619"/>
            </a:avLst>
          </a:prstGeom>
          <a:solidFill>
            <a:srgbClr val="E6F0FB"/>
          </a:solidFill>
          <a:ln w="12700">
            <a:solidFill>
              <a:srgbClr val="E6F0FB"/>
            </a:solidFill>
            <a:prstDash val="solid"/>
          </a:ln>
        </p:spPr>
      </p:sp>
      <p:sp>
        <p:nvSpPr>
          <p:cNvPr id="22" name="Text 20"/>
          <p:cNvSpPr txBox="1"/>
          <p:nvPr/>
        </p:nvSpPr>
        <p:spPr>
          <a:xfrm>
            <a:off x="7955280" y="1463040"/>
            <a:ext cx="1078992" cy="960120"/>
          </a:xfrm>
          <a:prstGeom prst="rect">
            <a:avLst/>
          </a:prstGeom>
          <a:noFill/>
          <a:ln/>
        </p:spPr>
        <p:txBody>
          <a:bodyPr wrap="square" lIns="25400" tIns="25400" rIns="25400" bIns="25400" rtlCol="0" anchor="ctr"/>
          <a:lstStyle/>
          <a:p>
            <a:pPr algn="ctr" indent="0" marL="0">
              <a:buNone/>
            </a:pPr>
            <a:r>
              <a:rPr lang="en-US" sz="1200" dirty="0">
                <a:solidFill>
                  <a:srgbClr val="1F2933"/>
                </a:solidFill>
              </a:rPr>
              <a:t>Res 512</a:t>
            </a:r>
            <a:endParaRPr lang="en-US" sz="1200" dirty="0"/>
          </a:p>
        </p:txBody>
      </p:sp>
      <p:sp>
        <p:nvSpPr>
          <p:cNvPr id="23" name="arrow"/>
          <p:cNvSpPr/>
          <p:nvPr/>
        </p:nvSpPr>
        <p:spPr>
          <a:xfrm>
            <a:off x="9043416" y="1943100"/>
            <a:ext cx="137160" cy="914"/>
          </a:xfrm>
          <a:prstGeom prst="line">
            <a:avLst/>
          </a:prstGeom>
          <a:noFill/>
          <a:ln w="22225">
            <a:solidFill>
              <a:srgbClr val="7B8794"/>
            </a:solidFill>
            <a:prstDash val="solid"/>
            <a:tailEnd type="triangle"/>
          </a:ln>
        </p:spPr>
      </p:sp>
      <p:sp>
        <p:nvSpPr>
          <p:cNvPr id="24" name="box"/>
          <p:cNvSpPr/>
          <p:nvPr/>
        </p:nvSpPr>
        <p:spPr>
          <a:xfrm>
            <a:off x="9189720" y="1463040"/>
            <a:ext cx="1078992" cy="960120"/>
          </a:xfrm>
          <a:prstGeom prst="roundRect">
            <a:avLst>
              <a:gd name="adj" fmla="val 7619"/>
            </a:avLst>
          </a:prstGeom>
          <a:solidFill>
            <a:srgbClr val="E6F0FB"/>
          </a:solidFill>
          <a:ln w="12700">
            <a:solidFill>
              <a:srgbClr val="E6F0FB"/>
            </a:solidFill>
            <a:prstDash val="solid"/>
          </a:ln>
        </p:spPr>
      </p:sp>
      <p:sp>
        <p:nvSpPr>
          <p:cNvPr id="25" name="Text 23"/>
          <p:cNvSpPr txBox="1"/>
          <p:nvPr/>
        </p:nvSpPr>
        <p:spPr>
          <a:xfrm>
            <a:off x="9189720" y="1463040"/>
            <a:ext cx="1078992" cy="960120"/>
          </a:xfrm>
          <a:prstGeom prst="rect">
            <a:avLst/>
          </a:prstGeom>
          <a:noFill/>
          <a:ln/>
        </p:spPr>
        <p:txBody>
          <a:bodyPr wrap="square" lIns="25400" tIns="25400" rIns="25400" bIns="25400" rtlCol="0" anchor="ctr"/>
          <a:lstStyle/>
          <a:p>
            <a:pPr algn="ctr" indent="0" marL="0">
              <a:buNone/>
            </a:pPr>
            <a:r>
              <a:rPr lang="en-US" sz="1200" dirty="0">
                <a:solidFill>
                  <a:srgbClr val="1F2933"/>
                </a:solidFill>
              </a:rPr>
              <a:t>Global</a:t>
            </a:r>
            <a:endParaRPr lang="en-US" sz="1200" dirty="0"/>
          </a:p>
          <a:p>
            <a:pPr algn="ctr" indent="0" marL="0">
              <a:buNone/>
            </a:pPr>
            <a:r>
              <a:rPr lang="en-US" sz="1200" dirty="0">
                <a:solidFill>
                  <a:srgbClr val="1F2933"/>
                </a:solidFill>
              </a:rPr>
              <a:t>MaxPool</a:t>
            </a:r>
            <a:endParaRPr lang="en-US" sz="1200" dirty="0"/>
          </a:p>
        </p:txBody>
      </p:sp>
      <p:sp>
        <p:nvSpPr>
          <p:cNvPr id="26" name="arrow"/>
          <p:cNvSpPr/>
          <p:nvPr/>
        </p:nvSpPr>
        <p:spPr>
          <a:xfrm>
            <a:off x="10277856" y="1943100"/>
            <a:ext cx="137160" cy="914"/>
          </a:xfrm>
          <a:prstGeom prst="line">
            <a:avLst/>
          </a:prstGeom>
          <a:noFill/>
          <a:ln w="22225">
            <a:solidFill>
              <a:srgbClr val="7B8794"/>
            </a:solidFill>
            <a:prstDash val="solid"/>
            <a:tailEnd type="triangle"/>
          </a:ln>
        </p:spPr>
      </p:sp>
      <p:sp>
        <p:nvSpPr>
          <p:cNvPr id="27" name="box"/>
          <p:cNvSpPr/>
          <p:nvPr/>
        </p:nvSpPr>
        <p:spPr>
          <a:xfrm>
            <a:off x="10424160" y="1463040"/>
            <a:ext cx="1078992" cy="960120"/>
          </a:xfrm>
          <a:prstGeom prst="roundRect">
            <a:avLst>
              <a:gd name="adj" fmla="val 7619"/>
            </a:avLst>
          </a:prstGeom>
          <a:solidFill>
            <a:srgbClr val="FDEEE6"/>
          </a:solidFill>
          <a:ln w="12700">
            <a:solidFill>
              <a:srgbClr val="FDEEE6"/>
            </a:solidFill>
            <a:prstDash val="solid"/>
          </a:ln>
        </p:spPr>
      </p:sp>
      <p:sp>
        <p:nvSpPr>
          <p:cNvPr id="28" name="Text 26"/>
          <p:cNvSpPr txBox="1"/>
          <p:nvPr/>
        </p:nvSpPr>
        <p:spPr>
          <a:xfrm>
            <a:off x="10424160" y="1463040"/>
            <a:ext cx="1078992" cy="960120"/>
          </a:xfrm>
          <a:prstGeom prst="rect">
            <a:avLst/>
          </a:prstGeom>
          <a:noFill/>
          <a:ln/>
        </p:spPr>
        <p:txBody>
          <a:bodyPr wrap="square" lIns="25400" tIns="25400" rIns="25400" bIns="25400" rtlCol="0" anchor="ctr"/>
          <a:lstStyle/>
          <a:p>
            <a:pPr algn="ctr" indent="0" marL="0">
              <a:buNone/>
            </a:pPr>
            <a:r>
              <a:rPr lang="en-US" sz="1200" b="1" dirty="0">
                <a:solidFill>
                  <a:srgbClr val="1F2933"/>
                </a:solidFill>
              </a:rPr>
              <a:t>Linear</a:t>
            </a:r>
            <a:endParaRPr lang="en-US" sz="1200" dirty="0"/>
          </a:p>
          <a:p>
            <a:pPr algn="ctr" indent="0" marL="0">
              <a:buNone/>
            </a:pPr>
            <a:r>
              <a:rPr lang="en-US" sz="1200" b="1" dirty="0">
                <a:solidFill>
                  <a:srgbClr val="1F2933"/>
                </a:solidFill>
              </a:rPr>
              <a:t>512→120</a:t>
            </a:r>
            <a:endParaRPr lang="en-US" sz="1200" dirty="0"/>
          </a:p>
        </p:txBody>
      </p:sp>
      <p:sp>
        <p:nvSpPr>
          <p:cNvPr id="29" name="Text 27"/>
          <p:cNvSpPr txBox="1"/>
          <p:nvPr/>
        </p:nvSpPr>
        <p:spPr>
          <a:xfrm>
            <a:off x="548640" y="2560320"/>
            <a:ext cx="11094415" cy="365760"/>
          </a:xfrm>
          <a:prstGeom prst="rect">
            <a:avLst/>
          </a:prstGeom>
          <a:noFill/>
          <a:ln/>
        </p:spPr>
        <p:txBody>
          <a:bodyPr wrap="square" lIns="0" tIns="0" rIns="0" bIns="0" rtlCol="0" anchor="t"/>
          <a:lstStyle/>
          <a:p>
            <a:pPr indent="0" marL="0">
              <a:spcAft>
                <a:spcPts val="600"/>
              </a:spcAft>
              <a:buNone/>
            </a:pPr>
            <a:r>
              <a:rPr lang="en-US" sz="1200" dirty="0">
                <a:solidFill>
                  <a:srgbClr val="7B8794"/>
                </a:solidFill>
              </a:rPr>
              <a:t>Conv = 3×3 합성곱 + BatchNorm + ReLU,   Res = 잔차 블록(Conv 두 개 + 스킵 연결)</a:t>
            </a:r>
            <a:endParaRPr lang="en-US" sz="1200" dirty="0"/>
          </a:p>
        </p:txBody>
      </p:sp>
      <p:sp>
        <p:nvSpPr>
          <p:cNvPr id="30" name="box"/>
          <p:cNvSpPr/>
          <p:nvPr/>
        </p:nvSpPr>
        <p:spPr>
          <a:xfrm>
            <a:off x="1737360" y="3246120"/>
            <a:ext cx="4023360" cy="685800"/>
          </a:xfrm>
          <a:prstGeom prst="roundRect">
            <a:avLst>
              <a:gd name="adj" fmla="val 10667"/>
            </a:avLst>
          </a:prstGeom>
          <a:solidFill>
            <a:srgbClr val="E6F0FB"/>
          </a:solidFill>
          <a:ln w="12700">
            <a:solidFill>
              <a:srgbClr val="E6F0FB"/>
            </a:solidFill>
            <a:prstDash val="solid"/>
          </a:ln>
        </p:spPr>
      </p:sp>
      <p:sp>
        <p:nvSpPr>
          <p:cNvPr id="31" name="Text 29"/>
          <p:cNvSpPr txBox="1"/>
          <p:nvPr/>
        </p:nvSpPr>
        <p:spPr>
          <a:xfrm>
            <a:off x="1737360" y="3246120"/>
            <a:ext cx="4023360" cy="685800"/>
          </a:xfrm>
          <a:prstGeom prst="rect">
            <a:avLst/>
          </a:prstGeom>
          <a:noFill/>
          <a:ln/>
        </p:spPr>
        <p:txBody>
          <a:bodyPr wrap="square" lIns="25400" tIns="25400" rIns="25400" bIns="25400" rtlCol="0" anchor="ctr"/>
          <a:lstStyle/>
          <a:p>
            <a:pPr algn="ctr" indent="0" marL="0">
              <a:buNone/>
            </a:pPr>
            <a:r>
              <a:rPr lang="en-US" sz="1500" b="1" dirty="0">
                <a:solidFill>
                  <a:srgbClr val="1F2933"/>
                </a:solidFill>
              </a:rPr>
              <a:t>f : 로짓 100개 (세부 클래스)</a:t>
            </a:r>
            <a:endParaRPr lang="en-US" sz="1500" dirty="0"/>
          </a:p>
        </p:txBody>
      </p:sp>
      <p:sp>
        <p:nvSpPr>
          <p:cNvPr id="32" name="box"/>
          <p:cNvSpPr/>
          <p:nvPr/>
        </p:nvSpPr>
        <p:spPr>
          <a:xfrm>
            <a:off x="6583680" y="3246120"/>
            <a:ext cx="4023360" cy="685800"/>
          </a:xfrm>
          <a:prstGeom prst="roundRect">
            <a:avLst>
              <a:gd name="adj" fmla="val 10667"/>
            </a:avLst>
          </a:prstGeom>
          <a:solidFill>
            <a:srgbClr val="E6F0FB"/>
          </a:solidFill>
          <a:ln w="12700">
            <a:solidFill>
              <a:srgbClr val="E6F0FB"/>
            </a:solidFill>
            <a:prstDash val="solid"/>
          </a:ln>
        </p:spPr>
      </p:sp>
      <p:sp>
        <p:nvSpPr>
          <p:cNvPr id="33" name="Text 31"/>
          <p:cNvSpPr txBox="1"/>
          <p:nvPr/>
        </p:nvSpPr>
        <p:spPr>
          <a:xfrm>
            <a:off x="6583680" y="3246120"/>
            <a:ext cx="4023360" cy="685800"/>
          </a:xfrm>
          <a:prstGeom prst="rect">
            <a:avLst/>
          </a:prstGeom>
          <a:noFill/>
          <a:ln/>
        </p:spPr>
        <p:txBody>
          <a:bodyPr wrap="square" lIns="25400" tIns="25400" rIns="25400" bIns="25400" rtlCol="0" anchor="ctr"/>
          <a:lstStyle/>
          <a:p>
            <a:pPr algn="ctr" indent="0" marL="0">
              <a:buNone/>
            </a:pPr>
            <a:r>
              <a:rPr lang="en-US" sz="1500" b="1" dirty="0">
                <a:solidFill>
                  <a:srgbClr val="1F2933"/>
                </a:solidFill>
              </a:rPr>
              <a:t>c : 로짓 20개 (상위 클래스)</a:t>
            </a:r>
            <a:endParaRPr lang="en-US" sz="1500" dirty="0"/>
          </a:p>
        </p:txBody>
      </p:sp>
      <p:sp>
        <p:nvSpPr>
          <p:cNvPr id="34" name="box"/>
          <p:cNvSpPr/>
          <p:nvPr/>
        </p:nvSpPr>
        <p:spPr>
          <a:xfrm>
            <a:off x="548640" y="4434840"/>
            <a:ext cx="3291840" cy="640080"/>
          </a:xfrm>
          <a:prstGeom prst="roundRect">
            <a:avLst>
              <a:gd name="adj" fmla="val 11429"/>
            </a:avLst>
          </a:prstGeom>
          <a:solidFill>
            <a:srgbClr val="F1F4F8"/>
          </a:solidFill>
          <a:ln w="12700">
            <a:solidFill>
              <a:srgbClr val="F1F4F8"/>
            </a:solidFill>
            <a:prstDash val="solid"/>
          </a:ln>
        </p:spPr>
      </p:sp>
      <p:sp>
        <p:nvSpPr>
          <p:cNvPr id="35" name="Text 33"/>
          <p:cNvSpPr txBox="1"/>
          <p:nvPr/>
        </p:nvSpPr>
        <p:spPr>
          <a:xfrm>
            <a:off x="548640" y="4434840"/>
            <a:ext cx="3291840" cy="640080"/>
          </a:xfrm>
          <a:prstGeom prst="rect">
            <a:avLst/>
          </a:prstGeom>
          <a:noFill/>
          <a:ln/>
        </p:spPr>
        <p:txBody>
          <a:bodyPr wrap="square" lIns="25400" tIns="25400" rIns="25400" bIns="25400" rtlCol="0" anchor="ctr"/>
          <a:lstStyle/>
          <a:p>
            <a:pPr algn="ctr" indent="0" marL="0">
              <a:buNone/>
            </a:pPr>
            <a:r>
              <a:rPr lang="en-US" sz="1400" dirty="0">
                <a:solidFill>
                  <a:srgbClr val="1F2933"/>
                </a:solidFill>
              </a:rPr>
              <a:t>softmax → CE(fine)</a:t>
            </a:r>
            <a:endParaRPr lang="en-US" sz="1400" dirty="0"/>
          </a:p>
        </p:txBody>
      </p:sp>
      <p:sp>
        <p:nvSpPr>
          <p:cNvPr id="36" name="box"/>
          <p:cNvSpPr/>
          <p:nvPr/>
        </p:nvSpPr>
        <p:spPr>
          <a:xfrm>
            <a:off x="4434840" y="4434840"/>
            <a:ext cx="3291840" cy="640080"/>
          </a:xfrm>
          <a:prstGeom prst="roundRect">
            <a:avLst>
              <a:gd name="adj" fmla="val 11429"/>
            </a:avLst>
          </a:prstGeom>
          <a:solidFill>
            <a:srgbClr val="FDEEE6"/>
          </a:solidFill>
          <a:ln w="12700">
            <a:solidFill>
              <a:srgbClr val="FDEEE6"/>
            </a:solidFill>
            <a:prstDash val="solid"/>
          </a:ln>
        </p:spPr>
      </p:sp>
      <p:sp>
        <p:nvSpPr>
          <p:cNvPr id="37" name="Text 35"/>
          <p:cNvSpPr txBox="1"/>
          <p:nvPr/>
        </p:nvSpPr>
        <p:spPr>
          <a:xfrm>
            <a:off x="4434840" y="4434840"/>
            <a:ext cx="3291840" cy="640080"/>
          </a:xfrm>
          <a:prstGeom prst="rect">
            <a:avLst/>
          </a:prstGeom>
          <a:noFill/>
          <a:ln/>
        </p:spPr>
        <p:txBody>
          <a:bodyPr wrap="square" lIns="25400" tIns="25400" rIns="25400" bIns="25400" rtlCol="0" anchor="ctr"/>
          <a:lstStyle/>
          <a:p>
            <a:pPr algn="ctr" indent="0" marL="0">
              <a:buNone/>
            </a:pPr>
            <a:r>
              <a:rPr lang="en-US" sz="1400" b="1" dirty="0">
                <a:solidFill>
                  <a:srgbClr val="1F2933"/>
                </a:solidFill>
              </a:rPr>
              <a:t>sigmoid(f, c) → 의미 손실 Lˢ</a:t>
            </a:r>
            <a:endParaRPr lang="en-US" sz="1400" dirty="0"/>
          </a:p>
        </p:txBody>
      </p:sp>
      <p:sp>
        <p:nvSpPr>
          <p:cNvPr id="38" name="box"/>
          <p:cNvSpPr/>
          <p:nvPr/>
        </p:nvSpPr>
        <p:spPr>
          <a:xfrm>
            <a:off x="8321040" y="4434840"/>
            <a:ext cx="3291840" cy="640080"/>
          </a:xfrm>
          <a:prstGeom prst="roundRect">
            <a:avLst>
              <a:gd name="adj" fmla="val 11429"/>
            </a:avLst>
          </a:prstGeom>
          <a:solidFill>
            <a:srgbClr val="F1F4F8"/>
          </a:solidFill>
          <a:ln w="12700">
            <a:solidFill>
              <a:srgbClr val="F1F4F8"/>
            </a:solidFill>
            <a:prstDash val="solid"/>
          </a:ln>
        </p:spPr>
      </p:sp>
      <p:sp>
        <p:nvSpPr>
          <p:cNvPr id="39" name="Text 37"/>
          <p:cNvSpPr txBox="1"/>
          <p:nvPr/>
        </p:nvSpPr>
        <p:spPr>
          <a:xfrm>
            <a:off x="8321040" y="4434840"/>
            <a:ext cx="3291840" cy="640080"/>
          </a:xfrm>
          <a:prstGeom prst="rect">
            <a:avLst/>
          </a:prstGeom>
          <a:noFill/>
          <a:ln/>
        </p:spPr>
        <p:txBody>
          <a:bodyPr wrap="square" lIns="25400" tIns="25400" rIns="25400" bIns="25400" rtlCol="0" anchor="ctr"/>
          <a:lstStyle/>
          <a:p>
            <a:pPr algn="ctr" indent="0" marL="0">
              <a:buNone/>
            </a:pPr>
            <a:r>
              <a:rPr lang="en-US" sz="1400" dirty="0">
                <a:solidFill>
                  <a:srgbClr val="1F2933"/>
                </a:solidFill>
              </a:rPr>
              <a:t>softmax → CE(coarse)</a:t>
            </a:r>
            <a:endParaRPr lang="en-US" sz="1400" dirty="0"/>
          </a:p>
        </p:txBody>
      </p:sp>
      <p:sp>
        <p:nvSpPr>
          <p:cNvPr id="40" name="arrow"/>
          <p:cNvSpPr/>
          <p:nvPr/>
        </p:nvSpPr>
        <p:spPr>
          <a:xfrm flipH="1">
            <a:off x="2194560" y="3950208"/>
            <a:ext cx="640080" cy="466344"/>
          </a:xfrm>
          <a:prstGeom prst="line">
            <a:avLst/>
          </a:prstGeom>
          <a:noFill/>
          <a:ln w="22225">
            <a:solidFill>
              <a:srgbClr val="7B8794"/>
            </a:solidFill>
            <a:prstDash val="solid"/>
            <a:tailEnd type="triangle"/>
          </a:ln>
        </p:spPr>
      </p:sp>
      <p:sp>
        <p:nvSpPr>
          <p:cNvPr id="41" name="arrow"/>
          <p:cNvSpPr/>
          <p:nvPr/>
        </p:nvSpPr>
        <p:spPr>
          <a:xfrm>
            <a:off x="4389120" y="3950208"/>
            <a:ext cx="1097280" cy="466344"/>
          </a:xfrm>
          <a:prstGeom prst="line">
            <a:avLst/>
          </a:prstGeom>
          <a:noFill/>
          <a:ln w="22225">
            <a:solidFill>
              <a:srgbClr val="7B8794"/>
            </a:solidFill>
            <a:prstDash val="solid"/>
            <a:tailEnd type="triangle"/>
          </a:ln>
        </p:spPr>
      </p:sp>
      <p:sp>
        <p:nvSpPr>
          <p:cNvPr id="42" name="arrow"/>
          <p:cNvSpPr/>
          <p:nvPr/>
        </p:nvSpPr>
        <p:spPr>
          <a:xfrm flipH="1">
            <a:off x="6675120" y="3950208"/>
            <a:ext cx="1097280" cy="466344"/>
          </a:xfrm>
          <a:prstGeom prst="line">
            <a:avLst/>
          </a:prstGeom>
          <a:noFill/>
          <a:ln w="22225">
            <a:solidFill>
              <a:srgbClr val="7B8794"/>
            </a:solidFill>
            <a:prstDash val="solid"/>
            <a:tailEnd type="triangle"/>
          </a:ln>
        </p:spPr>
      </p:sp>
      <p:sp>
        <p:nvSpPr>
          <p:cNvPr id="43" name="arrow"/>
          <p:cNvSpPr/>
          <p:nvPr/>
        </p:nvSpPr>
        <p:spPr>
          <a:xfrm>
            <a:off x="9326880" y="3950208"/>
            <a:ext cx="640080" cy="466344"/>
          </a:xfrm>
          <a:prstGeom prst="line">
            <a:avLst/>
          </a:prstGeom>
          <a:noFill/>
          <a:ln w="22225">
            <a:solidFill>
              <a:srgbClr val="7B8794"/>
            </a:solidFill>
            <a:prstDash val="solid"/>
            <a:tailEnd type="triangle"/>
          </a:ln>
        </p:spPr>
      </p:sp>
      <p:sp>
        <p:nvSpPr>
          <p:cNvPr id="44" name="Text 42"/>
          <p:cNvSpPr txBox="1"/>
          <p:nvPr/>
        </p:nvSpPr>
        <p:spPr>
          <a:xfrm>
            <a:off x="548640" y="5349240"/>
            <a:ext cx="11094415" cy="640080"/>
          </a:xfrm>
          <a:prstGeom prst="rect">
            <a:avLst/>
          </a:prstGeom>
          <a:noFill/>
          <a:ln/>
        </p:spPr>
        <p:txBody>
          <a:bodyPr wrap="square" lIns="0" tIns="0" rIns="0" bIns="0" rtlCol="0" anchor="t"/>
          <a:lstStyle/>
          <a:p>
            <a:pPr indent="0" marL="0">
              <a:spcAft>
                <a:spcPts val="600"/>
              </a:spcAft>
              <a:buNone/>
            </a:pPr>
            <a:r>
              <a:rPr lang="en-US" sz="1500" b="1" dirty="0">
                <a:solidFill>
                  <a:srgbClr val="EB6834"/>
                </a:solidFill>
              </a:rPr>
              <a:t>같은 120개 로짓을 두 가지로 해석: CE에는 소프트맥스(범주형 분포), 의미 손실에는 시그모이드(독립 명제 변수)</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손실 함수 설계</a:t>
            </a:r>
            <a:endParaRPr lang="en-US" sz="3000" dirty="0"/>
          </a:p>
        </p:txBody>
      </p:sp>
      <p:pic>
        <p:nvPicPr>
          <p:cNvPr id="3" name="equation" descr="\mathcal{L} = \frac{\sum_b m^{f}_b\, \mathrm{CE}(f_b, y^{f}_b)}{\sum_b m^{f}_b} + \frac{\sum_b m^{c}_b\, \mathrm{CE}(c_b, y^{c}_b)}{\sum_b m^{c}_b} + \lambda_t \cdot \frac{1}{B}\sum_{b=1}^{B} L^{s}(\alpha, \sigma(f_b, c_b))">    </p:cNvPr>
          <p:cNvPicPr>
            <a:picLocks noChangeAspect="1"/>
          </p:cNvPicPr>
          <p:nvPr/>
        </p:nvPicPr>
        <p:blipFill>
          <a:blip r:embed="rId1"/>
          <a:stretch>
            <a:fillRect/>
          </a:stretch>
        </p:blipFill>
        <p:spPr>
          <a:xfrm>
            <a:off x="1912178" y="1325880"/>
            <a:ext cx="8367340" cy="817154"/>
          </a:xfrm>
          <a:prstGeom prst="rect">
            <a:avLst/>
          </a:prstGeom>
        </p:spPr>
      </p:pic>
      <p:pic>
        <p:nvPicPr>
          <p:cNvPr id="4" name="equation" descr="\lambda_t = \lambda \cdot \min\!\Big(1, \frac{t}{5 \cdot \text{steps per epoch}}\Big)">    </p:cNvPr>
          <p:cNvPicPr>
            <a:picLocks noChangeAspect="1"/>
          </p:cNvPicPr>
          <p:nvPr/>
        </p:nvPicPr>
        <p:blipFill>
          <a:blip r:embed="rId2"/>
          <a:stretch>
            <a:fillRect/>
          </a:stretch>
        </p:blipFill>
        <p:spPr>
          <a:xfrm>
            <a:off x="4115047" y="2606040"/>
            <a:ext cx="3961601" cy="554267"/>
          </a:xfrm>
          <a:prstGeom prst="rect">
            <a:avLst/>
          </a:prstGeom>
        </p:spPr>
      </p:pic>
      <p:sp>
        <p:nvSpPr>
          <p:cNvPr id="5" name="card"/>
          <p:cNvSpPr/>
          <p:nvPr/>
        </p:nvSpPr>
        <p:spPr>
          <a:xfrm>
            <a:off x="548640" y="3520440"/>
            <a:ext cx="3520440" cy="2377440"/>
          </a:xfrm>
          <a:prstGeom prst="roundRect">
            <a:avLst>
              <a:gd name="adj" fmla="val 4615"/>
            </a:avLst>
          </a:prstGeom>
          <a:solidFill>
            <a:srgbClr val="F1F4F8"/>
          </a:solidFill>
          <a:ln w="12700">
            <a:solidFill>
              <a:srgbClr val="F1F4F8"/>
            </a:solidFill>
            <a:prstDash val="solid"/>
          </a:ln>
        </p:spPr>
      </p:sp>
      <p:sp>
        <p:nvSpPr>
          <p:cNvPr id="6" name="tag"/>
          <p:cNvSpPr/>
          <p:nvPr/>
        </p:nvSpPr>
        <p:spPr>
          <a:xfrm>
            <a:off x="777240" y="3749040"/>
            <a:ext cx="384048" cy="384048"/>
          </a:xfrm>
          <a:prstGeom prst="ellipse">
            <a:avLst/>
          </a:prstGeom>
          <a:solidFill>
            <a:srgbClr val="2A78D6"/>
          </a:solidFill>
          <a:ln w="12700">
            <a:solidFill>
              <a:srgbClr val="2A78D6"/>
            </a:solidFill>
            <a:prstDash val="solid"/>
          </a:ln>
        </p:spPr>
      </p:sp>
      <p:sp>
        <p:nvSpPr>
          <p:cNvPr id="7" name="Text 3"/>
          <p:cNvSpPr txBox="1"/>
          <p:nvPr/>
        </p:nvSpPr>
        <p:spPr>
          <a:xfrm>
            <a:off x="777240" y="3749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4"/>
          <p:cNvSpPr txBox="1"/>
          <p:nvPr/>
        </p:nvSpPr>
        <p:spPr>
          <a:xfrm>
            <a:off x="1280160" y="3721608"/>
            <a:ext cx="2606040" cy="438912"/>
          </a:xfrm>
          <a:prstGeom prst="rect">
            <a:avLst/>
          </a:prstGeom>
          <a:noFill/>
          <a:ln/>
        </p:spPr>
        <p:txBody>
          <a:bodyPr wrap="square" lIns="0" tIns="0" rIns="0" bIns="0" rtlCol="0" anchor="ctr"/>
          <a:lstStyle/>
          <a:p>
            <a:pPr indent="0" marL="0">
              <a:buNone/>
            </a:pPr>
            <a:r>
              <a:rPr lang="en-US" sz="1800" b="1" dirty="0">
                <a:solidFill>
                  <a:srgbClr val="1F2933"/>
                </a:solidFill>
              </a:rPr>
              <a:t>마스크 m</a:t>
            </a:r>
            <a:endParaRPr lang="en-US" sz="1800" dirty="0"/>
          </a:p>
        </p:txBody>
      </p:sp>
      <p:sp>
        <p:nvSpPr>
          <p:cNvPr id="9" name="Text 5"/>
          <p:cNvSpPr txBox="1"/>
          <p:nvPr/>
        </p:nvSpPr>
        <p:spPr>
          <a:xfrm>
            <a:off x="777240" y="4251960"/>
            <a:ext cx="3063240" cy="150876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rPr>
              <a:t>mᶠ = 1 : fine 라벨 있음</a:t>
            </a:r>
            <a:endParaRPr lang="en-US" sz="1400" dirty="0"/>
          </a:p>
          <a:p>
            <a:pPr marL="228600" indent="-228600">
              <a:spcAft>
                <a:spcPts val="800"/>
              </a:spcAft>
              <a:buSzPct val="100000"/>
              <a:buChar char="•"/>
            </a:pPr>
            <a:r>
              <a:rPr lang="en-US" sz="1400" dirty="0">
                <a:solidFill>
                  <a:srgbClr val="1F2933"/>
                </a:solidFill>
              </a:rPr>
              <a:t>mᶜ = 1 : coarse 라벨 있음</a:t>
            </a:r>
            <a:endParaRPr lang="en-US" sz="1400" dirty="0"/>
          </a:p>
          <a:p>
            <a:pPr marL="228600" indent="-228600">
              <a:spcAft>
                <a:spcPts val="800"/>
              </a:spcAft>
              <a:buSzPct val="100000"/>
              <a:buChar char="•"/>
            </a:pPr>
            <a:r>
              <a:rPr lang="en-US" sz="1400" dirty="0">
                <a:solidFill>
                  <a:srgbClr val="1F2933"/>
                </a:solidFill>
              </a:rPr>
              <a:t>설정(full/semi/weak)이 결정</a:t>
            </a:r>
            <a:endParaRPr lang="en-US" sz="1400" dirty="0"/>
          </a:p>
        </p:txBody>
      </p:sp>
      <p:sp>
        <p:nvSpPr>
          <p:cNvPr id="10" name="card"/>
          <p:cNvSpPr/>
          <p:nvPr/>
        </p:nvSpPr>
        <p:spPr>
          <a:xfrm>
            <a:off x="4297680" y="3520440"/>
            <a:ext cx="3520440" cy="2377440"/>
          </a:xfrm>
          <a:prstGeom prst="roundRect">
            <a:avLst>
              <a:gd name="adj" fmla="val 4615"/>
            </a:avLst>
          </a:prstGeom>
          <a:solidFill>
            <a:srgbClr val="FDEEE6"/>
          </a:solidFill>
          <a:ln w="12700">
            <a:solidFill>
              <a:srgbClr val="FDEEE6"/>
            </a:solidFill>
            <a:prstDash val="solid"/>
          </a:ln>
        </p:spPr>
      </p:sp>
      <p:sp>
        <p:nvSpPr>
          <p:cNvPr id="11" name="tag"/>
          <p:cNvSpPr/>
          <p:nvPr/>
        </p:nvSpPr>
        <p:spPr>
          <a:xfrm>
            <a:off x="4526280" y="3749040"/>
            <a:ext cx="384048" cy="384048"/>
          </a:xfrm>
          <a:prstGeom prst="ellipse">
            <a:avLst/>
          </a:prstGeom>
          <a:solidFill>
            <a:srgbClr val="EB6834"/>
          </a:solidFill>
          <a:ln w="12700">
            <a:solidFill>
              <a:srgbClr val="EB6834"/>
            </a:solidFill>
            <a:prstDash val="solid"/>
          </a:ln>
        </p:spPr>
      </p:sp>
      <p:sp>
        <p:nvSpPr>
          <p:cNvPr id="12" name="Text 8"/>
          <p:cNvSpPr txBox="1"/>
          <p:nvPr/>
        </p:nvSpPr>
        <p:spPr>
          <a:xfrm>
            <a:off x="4526280" y="3749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9"/>
          <p:cNvSpPr txBox="1"/>
          <p:nvPr/>
        </p:nvSpPr>
        <p:spPr>
          <a:xfrm>
            <a:off x="5029200" y="3721608"/>
            <a:ext cx="2606040" cy="438912"/>
          </a:xfrm>
          <a:prstGeom prst="rect">
            <a:avLst/>
          </a:prstGeom>
          <a:noFill/>
          <a:ln/>
        </p:spPr>
        <p:txBody>
          <a:bodyPr wrap="square" lIns="0" tIns="0" rIns="0" bIns="0" rtlCol="0" anchor="ctr"/>
          <a:lstStyle/>
          <a:p>
            <a:pPr indent="0" marL="0">
              <a:buNone/>
            </a:pPr>
            <a:r>
              <a:rPr lang="en-US" sz="1800" b="1" dirty="0">
                <a:solidFill>
                  <a:srgbClr val="1F2933"/>
                </a:solidFill>
              </a:rPr>
              <a:t>의미 손실 항</a:t>
            </a:r>
            <a:endParaRPr lang="en-US" sz="1800" dirty="0"/>
          </a:p>
        </p:txBody>
      </p:sp>
      <p:sp>
        <p:nvSpPr>
          <p:cNvPr id="14" name="Text 10"/>
          <p:cNvSpPr txBox="1"/>
          <p:nvPr/>
        </p:nvSpPr>
        <p:spPr>
          <a:xfrm>
            <a:off x="4526280" y="4251960"/>
            <a:ext cx="3063240" cy="150876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rPr>
              <a:t>배치의 모든 이미지에 적용</a:t>
            </a:r>
            <a:endParaRPr lang="en-US" sz="1400" dirty="0"/>
          </a:p>
          <a:p>
            <a:pPr marL="228600" indent="-228600">
              <a:spcAft>
                <a:spcPts val="800"/>
              </a:spcAft>
              <a:buSzPct val="100000"/>
              <a:buChar char="•"/>
            </a:pPr>
            <a:r>
              <a:rPr lang="en-US" sz="1400" dirty="0">
                <a:solidFill>
                  <a:srgbClr val="1F2933"/>
                </a:solidFill>
              </a:rPr>
              <a:t>라벨 없는 이미지도 신호를 받음</a:t>
            </a:r>
            <a:endParaRPr lang="en-US" sz="1400" dirty="0"/>
          </a:p>
        </p:txBody>
      </p:sp>
      <p:sp>
        <p:nvSpPr>
          <p:cNvPr id="15" name="card"/>
          <p:cNvSpPr/>
          <p:nvPr/>
        </p:nvSpPr>
        <p:spPr>
          <a:xfrm>
            <a:off x="8046720" y="3520440"/>
            <a:ext cx="3593592" cy="2377440"/>
          </a:xfrm>
          <a:prstGeom prst="roundRect">
            <a:avLst>
              <a:gd name="adj" fmla="val 4615"/>
            </a:avLst>
          </a:prstGeom>
          <a:solidFill>
            <a:srgbClr val="F1F4F8"/>
          </a:solidFill>
          <a:ln w="12700">
            <a:solidFill>
              <a:srgbClr val="F1F4F8"/>
            </a:solidFill>
            <a:prstDash val="solid"/>
          </a:ln>
        </p:spPr>
      </p:sp>
      <p:sp>
        <p:nvSpPr>
          <p:cNvPr id="16" name="tag"/>
          <p:cNvSpPr/>
          <p:nvPr/>
        </p:nvSpPr>
        <p:spPr>
          <a:xfrm>
            <a:off x="8275320" y="3749040"/>
            <a:ext cx="384048" cy="384048"/>
          </a:xfrm>
          <a:prstGeom prst="ellipse">
            <a:avLst/>
          </a:prstGeom>
          <a:solidFill>
            <a:srgbClr val="4A3AA7"/>
          </a:solidFill>
          <a:ln w="12700">
            <a:solidFill>
              <a:srgbClr val="4A3AA7"/>
            </a:solidFill>
            <a:prstDash val="solid"/>
          </a:ln>
        </p:spPr>
      </p:sp>
      <p:sp>
        <p:nvSpPr>
          <p:cNvPr id="17" name="Text 13"/>
          <p:cNvSpPr txBox="1"/>
          <p:nvPr/>
        </p:nvSpPr>
        <p:spPr>
          <a:xfrm>
            <a:off x="8275320" y="37490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8" name="Text 14"/>
          <p:cNvSpPr txBox="1"/>
          <p:nvPr/>
        </p:nvSpPr>
        <p:spPr>
          <a:xfrm>
            <a:off x="8778240" y="3721608"/>
            <a:ext cx="2679192" cy="438912"/>
          </a:xfrm>
          <a:prstGeom prst="rect">
            <a:avLst/>
          </a:prstGeom>
          <a:noFill/>
          <a:ln/>
        </p:spPr>
        <p:txBody>
          <a:bodyPr wrap="square" lIns="0" tIns="0" rIns="0" bIns="0" rtlCol="0" anchor="ctr"/>
          <a:lstStyle/>
          <a:p>
            <a:pPr indent="0" marL="0">
              <a:buNone/>
            </a:pPr>
            <a:r>
              <a:rPr lang="en-US" sz="1800" b="1" dirty="0">
                <a:solidFill>
                  <a:srgbClr val="1F2933"/>
                </a:solidFill>
              </a:rPr>
              <a:t>λ 웜업</a:t>
            </a:r>
            <a:endParaRPr lang="en-US" sz="1800" dirty="0"/>
          </a:p>
        </p:txBody>
      </p:sp>
      <p:sp>
        <p:nvSpPr>
          <p:cNvPr id="19" name="Text 15"/>
          <p:cNvSpPr txBox="1"/>
          <p:nvPr/>
        </p:nvSpPr>
        <p:spPr>
          <a:xfrm>
            <a:off x="8275320" y="4251960"/>
            <a:ext cx="3136392" cy="150876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rPr>
              <a:t>초기 Lˢ ≈ 80 (모든 p ≈ 0.5)</a:t>
            </a:r>
            <a:endParaRPr lang="en-US" sz="1400" dirty="0"/>
          </a:p>
          <a:p>
            <a:pPr marL="228600" indent="-228600">
              <a:spcAft>
                <a:spcPts val="800"/>
              </a:spcAft>
              <a:buSzPct val="100000"/>
              <a:buChar char="•"/>
            </a:pPr>
            <a:r>
              <a:rPr lang="en-US" sz="1400" dirty="0">
                <a:solidFill>
                  <a:srgbClr val="1F2933"/>
                </a:solidFill>
              </a:rPr>
              <a:t>처음 5에폭 동안 선형 증가</a:t>
            </a:r>
            <a:endParaRPr lang="en-US" sz="1400" dirty="0"/>
          </a:p>
          <a:p>
            <a:pPr marL="228600" indent="-228600">
              <a:spcAft>
                <a:spcPts val="800"/>
              </a:spcAft>
              <a:buSzPct val="100000"/>
              <a:buChar char="•"/>
            </a:pPr>
            <a:r>
              <a:rPr lang="en-US" sz="1400" dirty="0">
                <a:solidFill>
                  <a:srgbClr val="1F2933"/>
                </a:solidFill>
              </a:rPr>
              <a:t>CE 학습 초기를 방해하지 않도록</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세 가지 학습 설정: 라벨의 양을 바꾼다</a:t>
            </a:r>
            <a:endParaRPr lang="en-US" sz="3000" dirty="0"/>
          </a:p>
        </p:txBody>
      </p:sp>
      <p:sp>
        <p:nvSpPr>
          <p:cNvPr id="3" name="pill"/>
          <p:cNvSpPr/>
          <p:nvPr/>
        </p:nvSpPr>
        <p:spPr>
          <a:xfrm>
            <a:off x="548640" y="1645920"/>
            <a:ext cx="1097280" cy="365760"/>
          </a:xfrm>
          <a:prstGeom prst="roundRect">
            <a:avLst>
              <a:gd name="adj" fmla="val 50000"/>
            </a:avLst>
          </a:prstGeom>
          <a:solidFill>
            <a:srgbClr val="52606D"/>
          </a:solidFill>
          <a:ln w="12700">
            <a:solidFill>
              <a:srgbClr val="52606D"/>
            </a:solidFill>
            <a:prstDash val="solid"/>
          </a:ln>
        </p:spPr>
      </p:sp>
      <p:sp>
        <p:nvSpPr>
          <p:cNvPr id="4" name="Text 2"/>
          <p:cNvSpPr txBox="1"/>
          <p:nvPr/>
        </p:nvSpPr>
        <p:spPr>
          <a:xfrm>
            <a:off x="548640" y="1645920"/>
            <a:ext cx="1097280" cy="365760"/>
          </a:xfrm>
          <a:prstGeom prst="rect">
            <a:avLst/>
          </a:prstGeom>
          <a:noFill/>
          <a:ln/>
        </p:spPr>
        <p:txBody>
          <a:bodyPr wrap="square" lIns="0" tIns="0" rIns="0" bIns="0" rtlCol="0" anchor="ctr"/>
          <a:lstStyle/>
          <a:p>
            <a:pPr algn="ctr" indent="0" marL="0">
              <a:buNone/>
            </a:pPr>
            <a:r>
              <a:rPr lang="en-US" sz="1300" b="1" dirty="0">
                <a:solidFill>
                  <a:srgbClr val="FFFFFF"/>
                </a:solidFill>
              </a:rPr>
              <a:t>full</a:t>
            </a:r>
            <a:endParaRPr lang="en-US" sz="1300" dirty="0"/>
          </a:p>
        </p:txBody>
      </p:sp>
      <p:sp>
        <p:nvSpPr>
          <p:cNvPr id="5" name="Text 3"/>
          <p:cNvSpPr txBox="1"/>
          <p:nvPr/>
        </p:nvSpPr>
        <p:spPr>
          <a:xfrm>
            <a:off x="548640" y="2084832"/>
            <a:ext cx="1097280" cy="274320"/>
          </a:xfrm>
          <a:prstGeom prst="rect">
            <a:avLst/>
          </a:prstGeom>
          <a:noFill/>
          <a:ln/>
        </p:spPr>
        <p:txBody>
          <a:bodyPr wrap="square" lIns="0" tIns="0" rIns="0" bIns="0" rtlCol="0" anchor="ctr"/>
          <a:lstStyle/>
          <a:p>
            <a:pPr algn="ctr" indent="0" marL="0">
              <a:buNone/>
            </a:pPr>
            <a:r>
              <a:rPr lang="en-US" sz="1100" dirty="0">
                <a:solidFill>
                  <a:srgbClr val="7B8794"/>
                </a:solidFill>
              </a:rPr>
              <a:t>RQ1</a:t>
            </a:r>
            <a:endParaRPr lang="en-US" sz="1100" dirty="0"/>
          </a:p>
        </p:txBody>
      </p:sp>
      <p:sp>
        <p:nvSpPr>
          <p:cNvPr id="6" name="bar-bg"/>
          <p:cNvSpPr/>
          <p:nvPr/>
        </p:nvSpPr>
        <p:spPr>
          <a:xfrm>
            <a:off x="1920240" y="1508760"/>
            <a:ext cx="7315200" cy="384048"/>
          </a:xfrm>
          <a:prstGeom prst="rect">
            <a:avLst/>
          </a:prstGeom>
          <a:solidFill>
            <a:srgbClr val="E9EDF2"/>
          </a:solidFill>
          <a:ln w="12700">
            <a:solidFill>
              <a:srgbClr val="E9EDF2"/>
            </a:solidFill>
            <a:prstDash val="solid"/>
          </a:ln>
        </p:spPr>
      </p:sp>
      <p:sp>
        <p:nvSpPr>
          <p:cNvPr id="7" name="bar-fine"/>
          <p:cNvSpPr/>
          <p:nvPr/>
        </p:nvSpPr>
        <p:spPr>
          <a:xfrm>
            <a:off x="1920240" y="1508760"/>
            <a:ext cx="7315200" cy="384048"/>
          </a:xfrm>
          <a:prstGeom prst="rect">
            <a:avLst/>
          </a:prstGeom>
          <a:solidFill>
            <a:srgbClr val="2A78D6"/>
          </a:solidFill>
          <a:ln w="12700">
            <a:solidFill>
              <a:srgbClr val="2A78D6"/>
            </a:solidFill>
            <a:prstDash val="solid"/>
          </a:ln>
        </p:spPr>
      </p:sp>
      <p:sp>
        <p:nvSpPr>
          <p:cNvPr id="8" name="bar-bg"/>
          <p:cNvSpPr/>
          <p:nvPr/>
        </p:nvSpPr>
        <p:spPr>
          <a:xfrm>
            <a:off x="1920240" y="1965960"/>
            <a:ext cx="7315200" cy="384048"/>
          </a:xfrm>
          <a:prstGeom prst="rect">
            <a:avLst/>
          </a:prstGeom>
          <a:solidFill>
            <a:srgbClr val="E9EDF2"/>
          </a:solidFill>
          <a:ln w="12700">
            <a:solidFill>
              <a:srgbClr val="E9EDF2"/>
            </a:solidFill>
            <a:prstDash val="solid"/>
          </a:ln>
        </p:spPr>
      </p:sp>
      <p:sp>
        <p:nvSpPr>
          <p:cNvPr id="9" name="bar-coarse"/>
          <p:cNvSpPr/>
          <p:nvPr/>
        </p:nvSpPr>
        <p:spPr>
          <a:xfrm>
            <a:off x="1920240" y="1965960"/>
            <a:ext cx="7315200" cy="384048"/>
          </a:xfrm>
          <a:prstGeom prst="rect">
            <a:avLst/>
          </a:prstGeom>
          <a:solidFill>
            <a:srgbClr val="4A3AA7"/>
          </a:solidFill>
          <a:ln w="12700">
            <a:solidFill>
              <a:srgbClr val="4A3AA7"/>
            </a:solidFill>
            <a:prstDash val="solid"/>
          </a:ln>
        </p:spPr>
      </p:sp>
      <p:sp>
        <p:nvSpPr>
          <p:cNvPr id="10" name="Text 8"/>
          <p:cNvSpPr txBox="1"/>
          <p:nvPr/>
        </p:nvSpPr>
        <p:spPr>
          <a:xfrm>
            <a:off x="9418320" y="1508760"/>
            <a:ext cx="2377440" cy="384048"/>
          </a:xfrm>
          <a:prstGeom prst="rect">
            <a:avLst/>
          </a:prstGeom>
          <a:noFill/>
          <a:ln/>
        </p:spPr>
        <p:txBody>
          <a:bodyPr wrap="square" lIns="0" tIns="0" rIns="0" bIns="0" rtlCol="0" anchor="ctr"/>
          <a:lstStyle/>
          <a:p>
            <a:pPr indent="0" marL="0">
              <a:buNone/>
            </a:pPr>
            <a:r>
              <a:rPr lang="en-US" sz="1300" dirty="0">
                <a:solidFill>
                  <a:srgbClr val="1F2933"/>
                </a:solidFill>
              </a:rPr>
              <a:t>fine 100%</a:t>
            </a:r>
            <a:endParaRPr lang="en-US" sz="1300" dirty="0"/>
          </a:p>
        </p:txBody>
      </p:sp>
      <p:sp>
        <p:nvSpPr>
          <p:cNvPr id="11" name="Text 9"/>
          <p:cNvSpPr txBox="1"/>
          <p:nvPr/>
        </p:nvSpPr>
        <p:spPr>
          <a:xfrm>
            <a:off x="9418320" y="1965960"/>
            <a:ext cx="2377440" cy="384048"/>
          </a:xfrm>
          <a:prstGeom prst="rect">
            <a:avLst/>
          </a:prstGeom>
          <a:noFill/>
          <a:ln/>
        </p:spPr>
        <p:txBody>
          <a:bodyPr wrap="square" lIns="0" tIns="0" rIns="0" bIns="0" rtlCol="0" anchor="ctr"/>
          <a:lstStyle/>
          <a:p>
            <a:pPr indent="0" marL="0">
              <a:buNone/>
            </a:pPr>
            <a:r>
              <a:rPr lang="en-US" sz="1300" dirty="0">
                <a:solidFill>
                  <a:srgbClr val="1F2933"/>
                </a:solidFill>
              </a:rPr>
              <a:t>coarse 100%</a:t>
            </a:r>
            <a:endParaRPr lang="en-US" sz="1300" dirty="0"/>
          </a:p>
        </p:txBody>
      </p:sp>
      <p:sp>
        <p:nvSpPr>
          <p:cNvPr id="12" name="pill"/>
          <p:cNvSpPr/>
          <p:nvPr/>
        </p:nvSpPr>
        <p:spPr>
          <a:xfrm>
            <a:off x="548640" y="3108960"/>
            <a:ext cx="1097280" cy="365760"/>
          </a:xfrm>
          <a:prstGeom prst="roundRect">
            <a:avLst>
              <a:gd name="adj" fmla="val 50000"/>
            </a:avLst>
          </a:prstGeom>
          <a:solidFill>
            <a:srgbClr val="52606D"/>
          </a:solidFill>
          <a:ln w="12700">
            <a:solidFill>
              <a:srgbClr val="52606D"/>
            </a:solidFill>
            <a:prstDash val="solid"/>
          </a:ln>
        </p:spPr>
      </p:sp>
      <p:sp>
        <p:nvSpPr>
          <p:cNvPr id="13" name="Text 11"/>
          <p:cNvSpPr txBox="1"/>
          <p:nvPr/>
        </p:nvSpPr>
        <p:spPr>
          <a:xfrm>
            <a:off x="548640" y="3108960"/>
            <a:ext cx="1097280" cy="365760"/>
          </a:xfrm>
          <a:prstGeom prst="rect">
            <a:avLst/>
          </a:prstGeom>
          <a:noFill/>
          <a:ln/>
        </p:spPr>
        <p:txBody>
          <a:bodyPr wrap="square" lIns="0" tIns="0" rIns="0" bIns="0" rtlCol="0" anchor="ctr"/>
          <a:lstStyle/>
          <a:p>
            <a:pPr algn="ctr" indent="0" marL="0">
              <a:buNone/>
            </a:pPr>
            <a:r>
              <a:rPr lang="en-US" sz="1300" b="1" dirty="0">
                <a:solidFill>
                  <a:srgbClr val="FFFFFF"/>
                </a:solidFill>
              </a:rPr>
              <a:t>semi</a:t>
            </a:r>
            <a:endParaRPr lang="en-US" sz="1300" dirty="0"/>
          </a:p>
        </p:txBody>
      </p:sp>
      <p:sp>
        <p:nvSpPr>
          <p:cNvPr id="14" name="Text 12"/>
          <p:cNvSpPr txBox="1"/>
          <p:nvPr/>
        </p:nvSpPr>
        <p:spPr>
          <a:xfrm>
            <a:off x="548640" y="3547872"/>
            <a:ext cx="1097280" cy="274320"/>
          </a:xfrm>
          <a:prstGeom prst="rect">
            <a:avLst/>
          </a:prstGeom>
          <a:noFill/>
          <a:ln/>
        </p:spPr>
        <p:txBody>
          <a:bodyPr wrap="square" lIns="0" tIns="0" rIns="0" bIns="0" rtlCol="0" anchor="ctr"/>
          <a:lstStyle/>
          <a:p>
            <a:pPr algn="ctr" indent="0" marL="0">
              <a:buNone/>
            </a:pPr>
            <a:r>
              <a:rPr lang="en-US" sz="1100" dirty="0">
                <a:solidFill>
                  <a:srgbClr val="7B8794"/>
                </a:solidFill>
              </a:rPr>
              <a:t>RQ2</a:t>
            </a:r>
            <a:endParaRPr lang="en-US" sz="1100" dirty="0"/>
          </a:p>
        </p:txBody>
      </p:sp>
      <p:sp>
        <p:nvSpPr>
          <p:cNvPr id="15" name="bar-bg"/>
          <p:cNvSpPr/>
          <p:nvPr/>
        </p:nvSpPr>
        <p:spPr>
          <a:xfrm>
            <a:off x="1920240" y="2971800"/>
            <a:ext cx="7315200" cy="384048"/>
          </a:xfrm>
          <a:prstGeom prst="rect">
            <a:avLst/>
          </a:prstGeom>
          <a:solidFill>
            <a:srgbClr val="E9EDF2"/>
          </a:solidFill>
          <a:ln w="12700">
            <a:solidFill>
              <a:srgbClr val="E9EDF2"/>
            </a:solidFill>
            <a:prstDash val="solid"/>
          </a:ln>
        </p:spPr>
      </p:sp>
      <p:sp>
        <p:nvSpPr>
          <p:cNvPr id="16" name="bar-fine"/>
          <p:cNvSpPr/>
          <p:nvPr/>
        </p:nvSpPr>
        <p:spPr>
          <a:xfrm>
            <a:off x="1920240" y="2971800"/>
            <a:ext cx="731520" cy="384048"/>
          </a:xfrm>
          <a:prstGeom prst="rect">
            <a:avLst/>
          </a:prstGeom>
          <a:solidFill>
            <a:srgbClr val="2A78D6"/>
          </a:solidFill>
          <a:ln w="12700">
            <a:solidFill>
              <a:srgbClr val="2A78D6"/>
            </a:solidFill>
            <a:prstDash val="solid"/>
          </a:ln>
        </p:spPr>
      </p:sp>
      <p:sp>
        <p:nvSpPr>
          <p:cNvPr id="17" name="bar-bg"/>
          <p:cNvSpPr/>
          <p:nvPr/>
        </p:nvSpPr>
        <p:spPr>
          <a:xfrm>
            <a:off x="1920240" y="3429000"/>
            <a:ext cx="7315200" cy="384048"/>
          </a:xfrm>
          <a:prstGeom prst="rect">
            <a:avLst/>
          </a:prstGeom>
          <a:solidFill>
            <a:srgbClr val="E9EDF2"/>
          </a:solidFill>
          <a:ln w="12700">
            <a:solidFill>
              <a:srgbClr val="E9EDF2"/>
            </a:solidFill>
            <a:prstDash val="solid"/>
          </a:ln>
        </p:spPr>
      </p:sp>
      <p:sp>
        <p:nvSpPr>
          <p:cNvPr id="18" name="bar-coarse"/>
          <p:cNvSpPr/>
          <p:nvPr/>
        </p:nvSpPr>
        <p:spPr>
          <a:xfrm>
            <a:off x="1920240" y="3429000"/>
            <a:ext cx="731520" cy="384048"/>
          </a:xfrm>
          <a:prstGeom prst="rect">
            <a:avLst/>
          </a:prstGeom>
          <a:solidFill>
            <a:srgbClr val="4A3AA7"/>
          </a:solidFill>
          <a:ln w="12700">
            <a:solidFill>
              <a:srgbClr val="4A3AA7"/>
            </a:solidFill>
            <a:prstDash val="solid"/>
          </a:ln>
        </p:spPr>
      </p:sp>
      <p:sp>
        <p:nvSpPr>
          <p:cNvPr id="19" name="Text 17"/>
          <p:cNvSpPr txBox="1"/>
          <p:nvPr/>
        </p:nvSpPr>
        <p:spPr>
          <a:xfrm>
            <a:off x="9418320" y="2971800"/>
            <a:ext cx="2377440" cy="384048"/>
          </a:xfrm>
          <a:prstGeom prst="rect">
            <a:avLst/>
          </a:prstGeom>
          <a:noFill/>
          <a:ln/>
        </p:spPr>
        <p:txBody>
          <a:bodyPr wrap="square" lIns="0" tIns="0" rIns="0" bIns="0" rtlCol="0" anchor="ctr"/>
          <a:lstStyle/>
          <a:p>
            <a:pPr indent="0" marL="0">
              <a:buNone/>
            </a:pPr>
            <a:r>
              <a:rPr lang="en-US" sz="1300" dirty="0">
                <a:solidFill>
                  <a:srgbClr val="1F2933"/>
                </a:solidFill>
              </a:rPr>
              <a:t>fine 10%</a:t>
            </a:r>
            <a:endParaRPr lang="en-US" sz="1300" dirty="0"/>
          </a:p>
        </p:txBody>
      </p:sp>
      <p:sp>
        <p:nvSpPr>
          <p:cNvPr id="20" name="Text 18"/>
          <p:cNvSpPr txBox="1"/>
          <p:nvPr/>
        </p:nvSpPr>
        <p:spPr>
          <a:xfrm>
            <a:off x="9418320" y="3429000"/>
            <a:ext cx="2377440" cy="384048"/>
          </a:xfrm>
          <a:prstGeom prst="rect">
            <a:avLst/>
          </a:prstGeom>
          <a:noFill/>
          <a:ln/>
        </p:spPr>
        <p:txBody>
          <a:bodyPr wrap="square" lIns="0" tIns="0" rIns="0" bIns="0" rtlCol="0" anchor="ctr"/>
          <a:lstStyle/>
          <a:p>
            <a:pPr indent="0" marL="0">
              <a:buNone/>
            </a:pPr>
            <a:r>
              <a:rPr lang="en-US" sz="1300" dirty="0">
                <a:solidFill>
                  <a:srgbClr val="1F2933"/>
                </a:solidFill>
              </a:rPr>
              <a:t>coarse 10% (같은 이미지)</a:t>
            </a:r>
            <a:endParaRPr lang="en-US" sz="1300" dirty="0"/>
          </a:p>
        </p:txBody>
      </p:sp>
      <p:sp>
        <p:nvSpPr>
          <p:cNvPr id="21" name="pill"/>
          <p:cNvSpPr/>
          <p:nvPr/>
        </p:nvSpPr>
        <p:spPr>
          <a:xfrm>
            <a:off x="548640" y="4572000"/>
            <a:ext cx="1097280" cy="365760"/>
          </a:xfrm>
          <a:prstGeom prst="roundRect">
            <a:avLst>
              <a:gd name="adj" fmla="val 50000"/>
            </a:avLst>
          </a:prstGeom>
          <a:solidFill>
            <a:srgbClr val="EB6834"/>
          </a:solidFill>
          <a:ln w="12700">
            <a:solidFill>
              <a:srgbClr val="EB6834"/>
            </a:solidFill>
            <a:prstDash val="solid"/>
          </a:ln>
        </p:spPr>
      </p:sp>
      <p:sp>
        <p:nvSpPr>
          <p:cNvPr id="22" name="Text 20"/>
          <p:cNvSpPr txBox="1"/>
          <p:nvPr/>
        </p:nvSpPr>
        <p:spPr>
          <a:xfrm>
            <a:off x="548640" y="4572000"/>
            <a:ext cx="1097280" cy="365760"/>
          </a:xfrm>
          <a:prstGeom prst="rect">
            <a:avLst/>
          </a:prstGeom>
          <a:noFill/>
          <a:ln/>
        </p:spPr>
        <p:txBody>
          <a:bodyPr wrap="square" lIns="0" tIns="0" rIns="0" bIns="0" rtlCol="0" anchor="ctr"/>
          <a:lstStyle/>
          <a:p>
            <a:pPr algn="ctr" indent="0" marL="0">
              <a:buNone/>
            </a:pPr>
            <a:r>
              <a:rPr lang="en-US" sz="1300" b="1" dirty="0">
                <a:solidFill>
                  <a:srgbClr val="FFFFFF"/>
                </a:solidFill>
              </a:rPr>
              <a:t>weak</a:t>
            </a:r>
            <a:endParaRPr lang="en-US" sz="1300" dirty="0"/>
          </a:p>
        </p:txBody>
      </p:sp>
      <p:sp>
        <p:nvSpPr>
          <p:cNvPr id="23" name="Text 21"/>
          <p:cNvSpPr txBox="1"/>
          <p:nvPr/>
        </p:nvSpPr>
        <p:spPr>
          <a:xfrm>
            <a:off x="548640" y="5010912"/>
            <a:ext cx="1097280" cy="274320"/>
          </a:xfrm>
          <a:prstGeom prst="rect">
            <a:avLst/>
          </a:prstGeom>
          <a:noFill/>
          <a:ln/>
        </p:spPr>
        <p:txBody>
          <a:bodyPr wrap="square" lIns="0" tIns="0" rIns="0" bIns="0" rtlCol="0" anchor="ctr"/>
          <a:lstStyle/>
          <a:p>
            <a:pPr algn="ctr" indent="0" marL="0">
              <a:buNone/>
            </a:pPr>
            <a:r>
              <a:rPr lang="en-US" sz="1100" dirty="0">
                <a:solidFill>
                  <a:srgbClr val="7B8794"/>
                </a:solidFill>
              </a:rPr>
              <a:t>RQ3</a:t>
            </a:r>
            <a:endParaRPr lang="en-US" sz="1100" dirty="0"/>
          </a:p>
        </p:txBody>
      </p:sp>
      <p:sp>
        <p:nvSpPr>
          <p:cNvPr id="24" name="bar-bg"/>
          <p:cNvSpPr/>
          <p:nvPr/>
        </p:nvSpPr>
        <p:spPr>
          <a:xfrm>
            <a:off x="1920240" y="4434840"/>
            <a:ext cx="7315200" cy="384048"/>
          </a:xfrm>
          <a:prstGeom prst="rect">
            <a:avLst/>
          </a:prstGeom>
          <a:solidFill>
            <a:srgbClr val="E9EDF2"/>
          </a:solidFill>
          <a:ln w="12700">
            <a:solidFill>
              <a:srgbClr val="E9EDF2"/>
            </a:solidFill>
            <a:prstDash val="solid"/>
          </a:ln>
        </p:spPr>
      </p:sp>
      <p:sp>
        <p:nvSpPr>
          <p:cNvPr id="25" name="bar-fine"/>
          <p:cNvSpPr/>
          <p:nvPr/>
        </p:nvSpPr>
        <p:spPr>
          <a:xfrm>
            <a:off x="1920240" y="4434840"/>
            <a:ext cx="731520" cy="384048"/>
          </a:xfrm>
          <a:prstGeom prst="rect">
            <a:avLst/>
          </a:prstGeom>
          <a:solidFill>
            <a:srgbClr val="2A78D6"/>
          </a:solidFill>
          <a:ln w="12700">
            <a:solidFill>
              <a:srgbClr val="2A78D6"/>
            </a:solidFill>
            <a:prstDash val="solid"/>
          </a:ln>
        </p:spPr>
      </p:sp>
      <p:sp>
        <p:nvSpPr>
          <p:cNvPr id="26" name="bar-bg"/>
          <p:cNvSpPr/>
          <p:nvPr/>
        </p:nvSpPr>
        <p:spPr>
          <a:xfrm>
            <a:off x="1920240" y="4892040"/>
            <a:ext cx="7315200" cy="384048"/>
          </a:xfrm>
          <a:prstGeom prst="rect">
            <a:avLst/>
          </a:prstGeom>
          <a:solidFill>
            <a:srgbClr val="E9EDF2"/>
          </a:solidFill>
          <a:ln w="12700">
            <a:solidFill>
              <a:srgbClr val="E9EDF2"/>
            </a:solidFill>
            <a:prstDash val="solid"/>
          </a:ln>
        </p:spPr>
      </p:sp>
      <p:sp>
        <p:nvSpPr>
          <p:cNvPr id="27" name="bar-coarse"/>
          <p:cNvSpPr/>
          <p:nvPr/>
        </p:nvSpPr>
        <p:spPr>
          <a:xfrm>
            <a:off x="1920240" y="4892040"/>
            <a:ext cx="7315200" cy="384048"/>
          </a:xfrm>
          <a:prstGeom prst="rect">
            <a:avLst/>
          </a:prstGeom>
          <a:solidFill>
            <a:srgbClr val="4A3AA7"/>
          </a:solidFill>
          <a:ln w="12700">
            <a:solidFill>
              <a:srgbClr val="4A3AA7"/>
            </a:solidFill>
            <a:prstDash val="solid"/>
          </a:ln>
        </p:spPr>
      </p:sp>
      <p:sp>
        <p:nvSpPr>
          <p:cNvPr id="28" name="Text 26"/>
          <p:cNvSpPr txBox="1"/>
          <p:nvPr/>
        </p:nvSpPr>
        <p:spPr>
          <a:xfrm>
            <a:off x="9418320" y="4434840"/>
            <a:ext cx="2377440" cy="384048"/>
          </a:xfrm>
          <a:prstGeom prst="rect">
            <a:avLst/>
          </a:prstGeom>
          <a:noFill/>
          <a:ln/>
        </p:spPr>
        <p:txBody>
          <a:bodyPr wrap="square" lIns="0" tIns="0" rIns="0" bIns="0" rtlCol="0" anchor="ctr"/>
          <a:lstStyle/>
          <a:p>
            <a:pPr indent="0" marL="0">
              <a:buNone/>
            </a:pPr>
            <a:r>
              <a:rPr lang="en-US" sz="1300" dirty="0">
                <a:solidFill>
                  <a:srgbClr val="1F2933"/>
                </a:solidFill>
              </a:rPr>
              <a:t>fine 10%</a:t>
            </a:r>
            <a:endParaRPr lang="en-US" sz="1300" dirty="0"/>
          </a:p>
        </p:txBody>
      </p:sp>
      <p:sp>
        <p:nvSpPr>
          <p:cNvPr id="29" name="Text 27"/>
          <p:cNvSpPr txBox="1"/>
          <p:nvPr/>
        </p:nvSpPr>
        <p:spPr>
          <a:xfrm>
            <a:off x="9418320" y="4892040"/>
            <a:ext cx="2377440" cy="384048"/>
          </a:xfrm>
          <a:prstGeom prst="rect">
            <a:avLst/>
          </a:prstGeom>
          <a:noFill/>
          <a:ln/>
        </p:spPr>
        <p:txBody>
          <a:bodyPr wrap="square" lIns="0" tIns="0" rIns="0" bIns="0" rtlCol="0" anchor="ctr"/>
          <a:lstStyle/>
          <a:p>
            <a:pPr indent="0" marL="0">
              <a:buNone/>
            </a:pPr>
            <a:r>
              <a:rPr lang="en-US" sz="1300" dirty="0">
                <a:solidFill>
                  <a:srgbClr val="1F2933"/>
                </a:solidFill>
              </a:rPr>
              <a:t>coarse 100%</a:t>
            </a:r>
            <a:endParaRPr lang="en-US" sz="1300" dirty="0"/>
          </a:p>
        </p:txBody>
      </p:sp>
      <p:sp>
        <p:nvSpPr>
          <p:cNvPr id="30" name="Text 28"/>
          <p:cNvSpPr txBox="1"/>
          <p:nvPr/>
        </p:nvSpPr>
        <p:spPr>
          <a:xfrm>
            <a:off x="548640" y="5715000"/>
            <a:ext cx="11094415" cy="457200"/>
          </a:xfrm>
          <a:prstGeom prst="rect">
            <a:avLst/>
          </a:prstGeom>
          <a:noFill/>
          <a:ln/>
        </p:spPr>
        <p:txBody>
          <a:bodyPr wrap="square" lIns="0" tIns="0" rIns="0" bIns="0" rtlCol="0" anchor="t"/>
          <a:lstStyle/>
          <a:p>
            <a:pPr indent="0" marL="0">
              <a:spcAft>
                <a:spcPts val="600"/>
              </a:spcAft>
              <a:buNone/>
            </a:pPr>
            <a:r>
              <a:rPr lang="en-US" sz="1300" dirty="0">
                <a:solidFill>
                  <a:srgbClr val="52606D"/>
                </a:solidFill>
              </a:rPr>
              <a:t>막대 = 학습 이미지 45,000장 중 라벨이 있는 비율 (파랑: fine, 보라: coarse). 라벨 없는 이미지에는 의미 손실만 적용된다.</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비교 방법: 한 번에 하나씩만 바꾼다</a:t>
            </a:r>
            <a:endParaRPr lang="en-US" sz="3000" dirty="0"/>
          </a:p>
        </p:txBody>
      </p:sp>
      <p:sp>
        <p:nvSpPr>
          <p:cNvPr id="3" name="step"/>
          <p:cNvSpPr/>
          <p:nvPr/>
        </p:nvSpPr>
        <p:spPr>
          <a:xfrm>
            <a:off x="548640" y="1371600"/>
            <a:ext cx="6949440" cy="868680"/>
          </a:xfrm>
          <a:prstGeom prst="roundRect">
            <a:avLst>
              <a:gd name="adj" fmla="val 10526"/>
            </a:avLst>
          </a:prstGeom>
          <a:solidFill>
            <a:srgbClr val="F1F4F8"/>
          </a:solidFill>
          <a:ln w="12700">
            <a:solidFill>
              <a:srgbClr val="F1F4F8"/>
            </a:solidFill>
            <a:prstDash val="solid"/>
          </a:ln>
        </p:spPr>
      </p:sp>
      <p:sp>
        <p:nvSpPr>
          <p:cNvPr id="4" name="dot"/>
          <p:cNvSpPr/>
          <p:nvPr/>
        </p:nvSpPr>
        <p:spPr>
          <a:xfrm>
            <a:off x="731520" y="1618488"/>
            <a:ext cx="365760" cy="365760"/>
          </a:xfrm>
          <a:prstGeom prst="ellipse">
            <a:avLst/>
          </a:prstGeom>
          <a:solidFill>
            <a:srgbClr val="2A78D6"/>
          </a:solidFill>
          <a:ln w="12700">
            <a:solidFill>
              <a:srgbClr val="2A78D6"/>
            </a:solidFill>
            <a:prstDash val="solid"/>
          </a:ln>
        </p:spPr>
      </p:sp>
      <p:sp>
        <p:nvSpPr>
          <p:cNvPr id="5" name="Text 3"/>
          <p:cNvSpPr txBox="1"/>
          <p:nvPr/>
        </p:nvSpPr>
        <p:spPr>
          <a:xfrm>
            <a:off x="1280160" y="1444752"/>
            <a:ext cx="6035040" cy="731520"/>
          </a:xfrm>
          <a:prstGeom prst="rect">
            <a:avLst/>
          </a:prstGeom>
          <a:noFill/>
          <a:ln/>
        </p:spPr>
        <p:txBody>
          <a:bodyPr wrap="square" lIns="0" tIns="0" rIns="0" bIns="0" rtlCol="0" anchor="ctr"/>
          <a:lstStyle/>
          <a:p>
            <a:pPr indent="0" marL="0">
              <a:buNone/>
            </a:pPr>
            <a:r>
              <a:rPr lang="en-US" sz="1600" b="1" dirty="0">
                <a:solidFill>
                  <a:srgbClr val="1F2933"/>
                </a:solidFill>
                <a:latin typeface="Consolas" pitchFamily="34" charset="0"/>
                <a:ea typeface="Consolas" pitchFamily="34" charset="-122"/>
                <a:cs typeface="Consolas" pitchFamily="34" charset="-120"/>
              </a:rPr>
              <a:t>ce_fine</a:t>
            </a:r>
            <a:endParaRPr lang="en-US" sz="1600" dirty="0"/>
          </a:p>
          <a:p>
            <a:pPr indent="0" marL="0">
              <a:buNone/>
            </a:pPr>
            <a:r>
              <a:rPr lang="en-US" sz="1300" dirty="0">
                <a:solidFill>
                  <a:srgbClr val="52606D"/>
                </a:solidFill>
              </a:rPr>
              <a:t>CE(fine)</a:t>
            </a:r>
            <a:endParaRPr lang="en-US" sz="1600" dirty="0"/>
          </a:p>
        </p:txBody>
      </p:sp>
      <p:sp>
        <p:nvSpPr>
          <p:cNvPr id="6" name="Text 4"/>
          <p:cNvSpPr txBox="1"/>
          <p:nvPr/>
        </p:nvSpPr>
        <p:spPr>
          <a:xfrm>
            <a:off x="7680960" y="1554480"/>
            <a:ext cx="3657600" cy="502920"/>
          </a:xfrm>
          <a:prstGeom prst="rect">
            <a:avLst/>
          </a:prstGeom>
          <a:noFill/>
          <a:ln/>
        </p:spPr>
        <p:txBody>
          <a:bodyPr wrap="square" lIns="0" tIns="0" rIns="0" bIns="0" rtlCol="0" anchor="ctr"/>
          <a:lstStyle/>
          <a:p>
            <a:pPr indent="0" marL="0">
              <a:buNone/>
            </a:pPr>
            <a:r>
              <a:rPr lang="en-US" sz="1500" dirty="0">
                <a:solidFill>
                  <a:srgbClr val="1F2933"/>
                </a:solidFill>
              </a:rPr>
              <a:t>기준선</a:t>
            </a:r>
            <a:endParaRPr lang="en-US" sz="1500" dirty="0"/>
          </a:p>
        </p:txBody>
      </p:sp>
      <p:sp>
        <p:nvSpPr>
          <p:cNvPr id="7" name="step"/>
          <p:cNvSpPr/>
          <p:nvPr/>
        </p:nvSpPr>
        <p:spPr>
          <a:xfrm>
            <a:off x="1005840" y="2468880"/>
            <a:ext cx="6949440" cy="868680"/>
          </a:xfrm>
          <a:prstGeom prst="roundRect">
            <a:avLst>
              <a:gd name="adj" fmla="val 10526"/>
            </a:avLst>
          </a:prstGeom>
          <a:solidFill>
            <a:srgbClr val="F1F4F8"/>
          </a:solidFill>
          <a:ln w="12700">
            <a:solidFill>
              <a:srgbClr val="F1F4F8"/>
            </a:solidFill>
            <a:prstDash val="solid"/>
          </a:ln>
        </p:spPr>
      </p:sp>
      <p:sp>
        <p:nvSpPr>
          <p:cNvPr id="8" name="dot"/>
          <p:cNvSpPr/>
          <p:nvPr/>
        </p:nvSpPr>
        <p:spPr>
          <a:xfrm>
            <a:off x="1188720" y="2715768"/>
            <a:ext cx="365760" cy="365760"/>
          </a:xfrm>
          <a:prstGeom prst="ellipse">
            <a:avLst/>
          </a:prstGeom>
          <a:solidFill>
            <a:srgbClr val="4A3AA7"/>
          </a:solidFill>
          <a:ln w="12700">
            <a:solidFill>
              <a:srgbClr val="4A3AA7"/>
            </a:solidFill>
            <a:prstDash val="solid"/>
          </a:ln>
        </p:spPr>
      </p:sp>
      <p:sp>
        <p:nvSpPr>
          <p:cNvPr id="9" name="Text 7"/>
          <p:cNvSpPr txBox="1"/>
          <p:nvPr/>
        </p:nvSpPr>
        <p:spPr>
          <a:xfrm>
            <a:off x="1737360" y="2542032"/>
            <a:ext cx="6035040" cy="731520"/>
          </a:xfrm>
          <a:prstGeom prst="rect">
            <a:avLst/>
          </a:prstGeom>
          <a:noFill/>
          <a:ln/>
        </p:spPr>
        <p:txBody>
          <a:bodyPr wrap="square" lIns="0" tIns="0" rIns="0" bIns="0" rtlCol="0" anchor="ctr"/>
          <a:lstStyle/>
          <a:p>
            <a:pPr indent="0" marL="0">
              <a:buNone/>
            </a:pPr>
            <a:r>
              <a:rPr lang="en-US" sz="1600" b="1" dirty="0">
                <a:solidFill>
                  <a:srgbClr val="1F2933"/>
                </a:solidFill>
                <a:latin typeface="Consolas" pitchFamily="34" charset="0"/>
                <a:ea typeface="Consolas" pitchFamily="34" charset="-122"/>
                <a:cs typeface="Consolas" pitchFamily="34" charset="-120"/>
              </a:rPr>
              <a:t>ce_both</a:t>
            </a:r>
            <a:endParaRPr lang="en-US" sz="1600" dirty="0"/>
          </a:p>
          <a:p>
            <a:pPr indent="0" marL="0">
              <a:buNone/>
            </a:pPr>
            <a:r>
              <a:rPr lang="en-US" sz="1300" dirty="0">
                <a:solidFill>
                  <a:srgbClr val="52606D"/>
                </a:solidFill>
              </a:rPr>
              <a:t>+ CE(coarse)</a:t>
            </a:r>
            <a:endParaRPr lang="en-US" sz="1600" dirty="0"/>
          </a:p>
        </p:txBody>
      </p:sp>
      <p:sp>
        <p:nvSpPr>
          <p:cNvPr id="10" name="Text 8"/>
          <p:cNvSpPr txBox="1"/>
          <p:nvPr/>
        </p:nvSpPr>
        <p:spPr>
          <a:xfrm>
            <a:off x="8138160" y="2651760"/>
            <a:ext cx="3657600" cy="502920"/>
          </a:xfrm>
          <a:prstGeom prst="rect">
            <a:avLst/>
          </a:prstGeom>
          <a:noFill/>
          <a:ln/>
        </p:spPr>
        <p:txBody>
          <a:bodyPr wrap="square" lIns="0" tIns="0" rIns="0" bIns="0" rtlCol="0" anchor="ctr"/>
          <a:lstStyle/>
          <a:p>
            <a:pPr indent="0" marL="0">
              <a:buNone/>
            </a:pPr>
            <a:r>
              <a:rPr lang="en-US" sz="1500" dirty="0">
                <a:solidFill>
                  <a:srgbClr val="1F2933"/>
                </a:solidFill>
              </a:rPr>
              <a:t>coarse 라벨의 효과</a:t>
            </a:r>
            <a:endParaRPr lang="en-US" sz="1500" dirty="0"/>
          </a:p>
        </p:txBody>
      </p:sp>
      <p:sp>
        <p:nvSpPr>
          <p:cNvPr id="11" name="step"/>
          <p:cNvSpPr/>
          <p:nvPr/>
        </p:nvSpPr>
        <p:spPr>
          <a:xfrm>
            <a:off x="1463040" y="3566160"/>
            <a:ext cx="6949440" cy="868680"/>
          </a:xfrm>
          <a:prstGeom prst="roundRect">
            <a:avLst>
              <a:gd name="adj" fmla="val 10526"/>
            </a:avLst>
          </a:prstGeom>
          <a:solidFill>
            <a:srgbClr val="F1F4F8"/>
          </a:solidFill>
          <a:ln w="12700">
            <a:solidFill>
              <a:srgbClr val="F1F4F8"/>
            </a:solidFill>
            <a:prstDash val="solid"/>
          </a:ln>
        </p:spPr>
      </p:sp>
      <p:sp>
        <p:nvSpPr>
          <p:cNvPr id="12" name="dot"/>
          <p:cNvSpPr/>
          <p:nvPr/>
        </p:nvSpPr>
        <p:spPr>
          <a:xfrm>
            <a:off x="1645920" y="3813048"/>
            <a:ext cx="365760" cy="365760"/>
          </a:xfrm>
          <a:prstGeom prst="ellipse">
            <a:avLst/>
          </a:prstGeom>
          <a:solidFill>
            <a:srgbClr val="1BAF7A"/>
          </a:solidFill>
          <a:ln w="12700">
            <a:solidFill>
              <a:srgbClr val="1BAF7A"/>
            </a:solidFill>
            <a:prstDash val="solid"/>
          </a:ln>
        </p:spPr>
      </p:sp>
      <p:sp>
        <p:nvSpPr>
          <p:cNvPr id="13" name="Text 11"/>
          <p:cNvSpPr txBox="1"/>
          <p:nvPr/>
        </p:nvSpPr>
        <p:spPr>
          <a:xfrm>
            <a:off x="2194560" y="3639312"/>
            <a:ext cx="6035040" cy="731520"/>
          </a:xfrm>
          <a:prstGeom prst="rect">
            <a:avLst/>
          </a:prstGeom>
          <a:noFill/>
          <a:ln/>
        </p:spPr>
        <p:txBody>
          <a:bodyPr wrap="square" lIns="0" tIns="0" rIns="0" bIns="0" rtlCol="0" anchor="ctr"/>
          <a:lstStyle/>
          <a:p>
            <a:pPr indent="0" marL="0">
              <a:buNone/>
            </a:pPr>
            <a:r>
              <a:rPr lang="en-US" sz="1600" b="1" dirty="0">
                <a:solidFill>
                  <a:srgbClr val="1F2933"/>
                </a:solidFill>
                <a:latin typeface="Consolas" pitchFamily="34" charset="0"/>
                <a:ea typeface="Consolas" pitchFamily="34" charset="-122"/>
                <a:cs typeface="Consolas" pitchFamily="34" charset="-120"/>
              </a:rPr>
              <a:t>ce_both_eo</a:t>
            </a:r>
            <a:endParaRPr lang="en-US" sz="1600" dirty="0"/>
          </a:p>
          <a:p>
            <a:pPr indent="0" marL="0">
              <a:buNone/>
            </a:pPr>
            <a:r>
              <a:rPr lang="en-US" sz="1300" dirty="0">
                <a:solidFill>
                  <a:srgbClr val="52606D"/>
                </a:solidFill>
              </a:rPr>
              <a:t>+ λ·Lˢ(EO(f) ∧ EO(c))</a:t>
            </a:r>
            <a:endParaRPr lang="en-US" sz="1600" dirty="0"/>
          </a:p>
        </p:txBody>
      </p:sp>
      <p:sp>
        <p:nvSpPr>
          <p:cNvPr id="14" name="Text 12"/>
          <p:cNvSpPr txBox="1"/>
          <p:nvPr/>
        </p:nvSpPr>
        <p:spPr>
          <a:xfrm>
            <a:off x="8595360" y="3749040"/>
            <a:ext cx="3657600" cy="502920"/>
          </a:xfrm>
          <a:prstGeom prst="rect">
            <a:avLst/>
          </a:prstGeom>
          <a:noFill/>
          <a:ln/>
        </p:spPr>
        <p:txBody>
          <a:bodyPr wrap="square" lIns="0" tIns="0" rIns="0" bIns="0" rtlCol="0" anchor="ctr"/>
          <a:lstStyle/>
          <a:p>
            <a:pPr indent="0" marL="0">
              <a:buNone/>
            </a:pPr>
            <a:r>
              <a:rPr lang="en-US" sz="1500" b="1" dirty="0">
                <a:solidFill>
                  <a:srgbClr val="1F2933"/>
                </a:solidFill>
              </a:rPr>
              <a:t>확신(원-핫) 효과 — 대조군</a:t>
            </a:r>
            <a:endParaRPr lang="en-US" sz="1500" dirty="0"/>
          </a:p>
        </p:txBody>
      </p:sp>
      <p:sp>
        <p:nvSpPr>
          <p:cNvPr id="15" name="step"/>
          <p:cNvSpPr/>
          <p:nvPr/>
        </p:nvSpPr>
        <p:spPr>
          <a:xfrm>
            <a:off x="1920240" y="4663440"/>
            <a:ext cx="6949440" cy="868680"/>
          </a:xfrm>
          <a:prstGeom prst="roundRect">
            <a:avLst>
              <a:gd name="adj" fmla="val 10526"/>
            </a:avLst>
          </a:prstGeom>
          <a:solidFill>
            <a:srgbClr val="F1F4F8"/>
          </a:solidFill>
          <a:ln w="12700">
            <a:solidFill>
              <a:srgbClr val="F1F4F8"/>
            </a:solidFill>
            <a:prstDash val="solid"/>
          </a:ln>
        </p:spPr>
      </p:sp>
      <p:sp>
        <p:nvSpPr>
          <p:cNvPr id="16" name="dot"/>
          <p:cNvSpPr/>
          <p:nvPr/>
        </p:nvSpPr>
        <p:spPr>
          <a:xfrm>
            <a:off x="2103120" y="4910328"/>
            <a:ext cx="365760" cy="365760"/>
          </a:xfrm>
          <a:prstGeom prst="ellipse">
            <a:avLst/>
          </a:prstGeom>
          <a:solidFill>
            <a:srgbClr val="EB6834"/>
          </a:solidFill>
          <a:ln w="12700">
            <a:solidFill>
              <a:srgbClr val="EB6834"/>
            </a:solidFill>
            <a:prstDash val="solid"/>
          </a:ln>
        </p:spPr>
      </p:sp>
      <p:sp>
        <p:nvSpPr>
          <p:cNvPr id="17" name="Text 15"/>
          <p:cNvSpPr txBox="1"/>
          <p:nvPr/>
        </p:nvSpPr>
        <p:spPr>
          <a:xfrm>
            <a:off x="2651760" y="4736592"/>
            <a:ext cx="6035040" cy="731520"/>
          </a:xfrm>
          <a:prstGeom prst="rect">
            <a:avLst/>
          </a:prstGeom>
          <a:noFill/>
          <a:ln/>
        </p:spPr>
        <p:txBody>
          <a:bodyPr wrap="square" lIns="0" tIns="0" rIns="0" bIns="0" rtlCol="0" anchor="ctr"/>
          <a:lstStyle/>
          <a:p>
            <a:pPr indent="0" marL="0">
              <a:buNone/>
            </a:pPr>
            <a:r>
              <a:rPr lang="en-US" sz="1600" b="1" dirty="0">
                <a:solidFill>
                  <a:srgbClr val="1F2933"/>
                </a:solidFill>
                <a:latin typeface="Consolas" pitchFamily="34" charset="0"/>
                <a:ea typeface="Consolas" pitchFamily="34" charset="-122"/>
                <a:cs typeface="Consolas" pitchFamily="34" charset="-120"/>
              </a:rPr>
              <a:t>ce_both_sl</a:t>
            </a:r>
            <a:endParaRPr lang="en-US" sz="1600" dirty="0"/>
          </a:p>
          <a:p>
            <a:pPr indent="0" marL="0">
              <a:buNone/>
            </a:pPr>
            <a:r>
              <a:rPr lang="en-US" sz="1300" dirty="0">
                <a:solidFill>
                  <a:srgbClr val="52606D"/>
                </a:solidFill>
              </a:rPr>
              <a:t>+ λ·Lˢ(α) — 함의 규칙 포함</a:t>
            </a:r>
            <a:endParaRPr lang="en-US" sz="1600" dirty="0"/>
          </a:p>
        </p:txBody>
      </p:sp>
      <p:sp>
        <p:nvSpPr>
          <p:cNvPr id="18" name="Text 16"/>
          <p:cNvSpPr txBox="1"/>
          <p:nvPr/>
        </p:nvSpPr>
        <p:spPr>
          <a:xfrm>
            <a:off x="9052560" y="4846320"/>
            <a:ext cx="3657600" cy="502920"/>
          </a:xfrm>
          <a:prstGeom prst="rect">
            <a:avLst/>
          </a:prstGeom>
          <a:noFill/>
          <a:ln/>
        </p:spPr>
        <p:txBody>
          <a:bodyPr wrap="square" lIns="0" tIns="0" rIns="0" bIns="0" rtlCol="0" anchor="ctr"/>
          <a:lstStyle/>
          <a:p>
            <a:pPr indent="0" marL="0">
              <a:buNone/>
            </a:pPr>
            <a:r>
              <a:rPr lang="en-US" sz="1500" b="1" dirty="0">
                <a:solidFill>
                  <a:srgbClr val="EB6834"/>
                </a:solidFill>
              </a:rPr>
              <a:t>규칙의 순수 효과</a:t>
            </a:r>
            <a:endParaRPr lang="en-US" sz="1500" dirty="0"/>
          </a:p>
        </p:txBody>
      </p:sp>
      <p:sp>
        <p:nvSpPr>
          <p:cNvPr id="19" name="Text 17"/>
          <p:cNvSpPr txBox="1"/>
          <p:nvPr/>
        </p:nvSpPr>
        <p:spPr>
          <a:xfrm>
            <a:off x="548640" y="5806440"/>
            <a:ext cx="11094415" cy="365760"/>
          </a:xfrm>
          <a:prstGeom prst="rect">
            <a:avLst/>
          </a:prstGeom>
          <a:noFill/>
          <a:ln/>
        </p:spPr>
        <p:txBody>
          <a:bodyPr wrap="square" lIns="0" tIns="0" rIns="0" bIns="0" rtlCol="0" anchor="t"/>
          <a:lstStyle/>
          <a:p>
            <a:pPr indent="0" marL="0">
              <a:spcAft>
                <a:spcPts val="600"/>
              </a:spcAft>
              <a:buNone/>
            </a:pPr>
            <a:r>
              <a:rPr lang="en-US" sz="1500" b="1" dirty="0">
                <a:solidFill>
                  <a:srgbClr val="52606D"/>
                </a:solidFill>
              </a:rPr>
              <a:t>인접한 두 방법의 차이 = 새로 추가한 한 요소의 효과</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평가 지표: 정확도 외에 무엇을 볼 것인가</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926080"/>
                <a:gridCol w="4572000"/>
                <a:gridCol w="3593592"/>
              </a:tblGrid>
              <a:tr h="512064">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지표</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정의</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의미</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r>
              <a:tr h="512064">
                <a:tc>
                  <a:txBody>
                    <a:bodyPr/>
                    <a:lstStyle/>
                    <a:p>
                      <a:pPr algn="l" indent="0" marL="0">
                        <a:buNone/>
                      </a:pPr>
                      <a:r>
                        <a:rPr lang="en-US" sz="1400" dirty="0">
                          <a:solidFill>
                            <a:srgbClr val="1F2933"/>
                          </a:solidFill>
                          <a:latin typeface="Malgun Gothic" pitchFamily="34" charset="0"/>
                          <a:ea typeface="Malgun Gothic" pitchFamily="34" charset="-122"/>
                          <a:cs typeface="Malgun Gothic" pitchFamily="34" charset="-120"/>
                        </a:rPr>
                        <a:t>fine / coarse 정확도</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argmax f = y_f,  argmax c = y_c</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기본 성능</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512064">
                <a:tc>
                  <a:txBody>
                    <a:bodyPr/>
                    <a:lstStyle/>
                    <a:p>
                      <a:pPr algn="l" indent="0" marL="0">
                        <a:buNone/>
                      </a:pPr>
                      <a:r>
                        <a:rPr lang="en-US" sz="1400" dirty="0">
                          <a:solidFill>
                            <a:srgbClr val="1F2933"/>
                          </a:solidFill>
                          <a:latin typeface="Malgun Gothic" pitchFamily="34" charset="0"/>
                          <a:ea typeface="Malgun Gothic" pitchFamily="34" charset="-122"/>
                          <a:cs typeface="Malgun Gothic" pitchFamily="34" charset="-120"/>
                        </a:rPr>
                        <a:t>일관성 (consistency)</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par(argmax f) = argmax c</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규칙 준수율</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r>
              <a:tr h="512064">
                <a:tc>
                  <a:txBody>
                    <a:bodyPr/>
                    <a:lstStyle/>
                    <a:p>
                      <a:pPr algn="l" indent="0" marL="0">
                        <a:buNone/>
                      </a:pPr>
                      <a:r>
                        <a:rPr lang="en-US" sz="1400" dirty="0">
                          <a:solidFill>
                            <a:srgbClr val="1F2933"/>
                          </a:solidFill>
                          <a:latin typeface="Malgun Gothic" pitchFamily="34" charset="0"/>
                          <a:ea typeface="Malgun Gothic" pitchFamily="34" charset="-122"/>
                          <a:cs typeface="Malgun Gothic" pitchFamily="34" charset="-120"/>
                        </a:rPr>
                        <a:t>fine 정확도 (MAP)</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argmax_i (f_i + c_par(i))</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추론 시 규칙 적용 ①</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512064">
                <a:tc>
                  <a:txBody>
                    <a:bodyPr/>
                    <a:lstStyle/>
                    <a:p>
                      <a:pPr algn="l" indent="0" marL="0">
                        <a:buNone/>
                      </a:pPr>
                      <a:r>
                        <a:rPr lang="en-US" sz="1400" dirty="0">
                          <a:solidFill>
                            <a:srgbClr val="1F2933"/>
                          </a:solidFill>
                          <a:latin typeface="Malgun Gothic" pitchFamily="34" charset="0"/>
                          <a:ea typeface="Malgun Gothic" pitchFamily="34" charset="-122"/>
                          <a:cs typeface="Malgun Gothic" pitchFamily="34" charset="-120"/>
                        </a:rPr>
                        <a:t>fine 정확도 (masked)</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예측 coarse의 자식 5개 중 argmax f</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추론 시 규칙 적용 ②</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r>
              <a:tr h="512064">
                <a:tc>
                  <a:txBody>
                    <a:bodyPr/>
                    <a:lstStyle/>
                    <a:p>
                      <a:pPr algn="l" indent="0" marL="0">
                        <a:buNone/>
                      </a:pPr>
                      <a:r>
                        <a:rPr lang="en-US" sz="1400" dirty="0">
                          <a:solidFill>
                            <a:srgbClr val="1F2933"/>
                          </a:solidFill>
                          <a:latin typeface="Malgun Gothic" pitchFamily="34" charset="0"/>
                          <a:ea typeface="Malgun Gothic" pitchFamily="34" charset="-122"/>
                          <a:cs typeface="Malgun Gothic" pitchFamily="34" charset="-120"/>
                        </a:rPr>
                        <a:t>coarse via fine</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par(argmax f) = y_c</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fine 예측의 상위 정확도</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512064">
                <a:tc>
                  <a:txBody>
                    <a:bodyPr/>
                    <a:lstStyle/>
                    <a:p>
                      <a:pPr algn="l" indent="0" marL="0">
                        <a:buNone/>
                      </a:pPr>
                      <a:r>
                        <a:rPr lang="en-US" sz="1400" dirty="0">
                          <a:solidFill>
                            <a:srgbClr val="1F2933"/>
                          </a:solidFill>
                          <a:latin typeface="Malgun Gothic" pitchFamily="34" charset="0"/>
                          <a:ea typeface="Malgun Gothic" pitchFamily="34" charset="-122"/>
                          <a:cs typeface="Malgun Gothic" pitchFamily="34" charset="-120"/>
                        </a:rPr>
                        <a:t>같은 상위 내 오류 비율</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fine 오답 중 par(예측) = y_c 인 비율</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오류의 심각도 (높을수록 온건)</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r>
              <a:tr h="512064">
                <a:tc>
                  <a:txBody>
                    <a:bodyPr/>
                    <a:lstStyle/>
                    <a:p>
                      <a:pPr algn="l" indent="0" marL="0">
                        <a:buNone/>
                      </a:pPr>
                      <a:r>
                        <a:rPr lang="en-US" sz="1400" dirty="0">
                          <a:solidFill>
                            <a:srgbClr val="1F2933"/>
                          </a:solidFill>
                          <a:latin typeface="Malgun Gothic" pitchFamily="34" charset="0"/>
                          <a:ea typeface="Malgun Gothic" pitchFamily="34" charset="-122"/>
                          <a:cs typeface="Malgun Gothic" pitchFamily="34" charset="-120"/>
                        </a:rPr>
                        <a:t>평균 log Pr(α)</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테스트 이미지 평균</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확률적 규칙 준수</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학습 세부사항과 실험 프로토콜</a:t>
            </a:r>
            <a:endParaRPr lang="en-US" sz="3000" dirty="0"/>
          </a:p>
        </p:txBody>
      </p:sp>
      <p:sp>
        <p:nvSpPr>
          <p:cNvPr id="3" name="card"/>
          <p:cNvSpPr/>
          <p:nvPr/>
        </p:nvSpPr>
        <p:spPr>
          <a:xfrm>
            <a:off x="548640" y="1371600"/>
            <a:ext cx="5394960" cy="4526280"/>
          </a:xfrm>
          <a:prstGeom prst="roundRect">
            <a:avLst>
              <a:gd name="adj" fmla="val 2424"/>
            </a:avLst>
          </a:prstGeom>
          <a:solidFill>
            <a:srgbClr val="F1F4F8"/>
          </a:solidFill>
          <a:ln w="12700">
            <a:solidFill>
              <a:srgbClr val="F1F4F8"/>
            </a:solidFill>
            <a:prstDash val="solid"/>
          </a:ln>
        </p:spPr>
      </p:sp>
      <p:sp>
        <p:nvSpPr>
          <p:cNvPr id="4" name="tag"/>
          <p:cNvSpPr/>
          <p:nvPr/>
        </p:nvSpPr>
        <p:spPr>
          <a:xfrm>
            <a:off x="777240" y="1600200"/>
            <a:ext cx="384048" cy="384048"/>
          </a:xfrm>
          <a:prstGeom prst="ellipse">
            <a:avLst/>
          </a:prstGeom>
          <a:solidFill>
            <a:srgbClr val="2A78D6"/>
          </a:solidFill>
          <a:ln w="12700">
            <a:solidFill>
              <a:srgbClr val="2A78D6"/>
            </a:solidFill>
            <a:prstDash val="solid"/>
          </a:ln>
        </p:spPr>
      </p:sp>
      <p:sp>
        <p:nvSpPr>
          <p:cNvPr id="5" name="Text 3"/>
          <p:cNvSpPr txBox="1"/>
          <p:nvPr/>
        </p:nvSpPr>
        <p:spPr>
          <a:xfrm>
            <a:off x="77724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N</a:t>
            </a:r>
            <a:endParaRPr lang="en-US" sz="1300" dirty="0"/>
          </a:p>
        </p:txBody>
      </p:sp>
      <p:sp>
        <p:nvSpPr>
          <p:cNvPr id="6" name="Text 4"/>
          <p:cNvSpPr txBox="1"/>
          <p:nvPr/>
        </p:nvSpPr>
        <p:spPr>
          <a:xfrm>
            <a:off x="1280160" y="1572768"/>
            <a:ext cx="4480560" cy="438912"/>
          </a:xfrm>
          <a:prstGeom prst="rect">
            <a:avLst/>
          </a:prstGeom>
          <a:noFill/>
          <a:ln/>
        </p:spPr>
        <p:txBody>
          <a:bodyPr wrap="square" lIns="0" tIns="0" rIns="0" bIns="0" rtlCol="0" anchor="ctr"/>
          <a:lstStyle/>
          <a:p>
            <a:pPr indent="0" marL="0">
              <a:buNone/>
            </a:pPr>
            <a:r>
              <a:rPr lang="en-US" sz="1800" b="1" dirty="0">
                <a:solidFill>
                  <a:srgbClr val="1F2933"/>
                </a:solidFill>
              </a:rPr>
              <a:t>학습 설정</a:t>
            </a:r>
            <a:endParaRPr lang="en-US" sz="1800" dirty="0"/>
          </a:p>
        </p:txBody>
      </p:sp>
      <p:sp>
        <p:nvSpPr>
          <p:cNvPr id="7" name="Text 5"/>
          <p:cNvSpPr txBox="1"/>
          <p:nvPr/>
        </p:nvSpPr>
        <p:spPr>
          <a:xfrm>
            <a:off x="777240" y="2103120"/>
            <a:ext cx="4937760" cy="36576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rPr>
              <a:t>SGD (Nesterov, momentum 0.9), weight decay 5e-4</a:t>
            </a:r>
            <a:endParaRPr lang="en-US" sz="1400" dirty="0"/>
          </a:p>
          <a:p>
            <a:pPr marL="228600" indent="-228600">
              <a:spcAft>
                <a:spcPts val="800"/>
              </a:spcAft>
              <a:buSzPct val="100000"/>
              <a:buChar char="•"/>
            </a:pPr>
            <a:r>
              <a:rPr lang="en-US" sz="1400" dirty="0">
                <a:solidFill>
                  <a:srgbClr val="1F2933"/>
                </a:solidFill>
              </a:rPr>
              <a:t>학습률: one-cycle, 최대 0.1 · 배치 256 · 30 에폭</a:t>
            </a:r>
            <a:endParaRPr lang="en-US" sz="1400" dirty="0"/>
          </a:p>
          <a:p>
            <a:pPr marL="228600" indent="-228600">
              <a:spcAft>
                <a:spcPts val="800"/>
              </a:spcAft>
              <a:buSzPct val="100000"/>
              <a:buChar char="•"/>
            </a:pPr>
            <a:r>
              <a:rPr lang="en-US" sz="1400" dirty="0">
                <a:solidFill>
                  <a:srgbClr val="1F2933"/>
                </a:solidFill>
              </a:rPr>
              <a:t>증강: 랜덤 크롭(4px pad) + 좌우 반전 (GPU)</a:t>
            </a:r>
            <a:endParaRPr lang="en-US" sz="1400" dirty="0"/>
          </a:p>
          <a:p>
            <a:pPr marL="228600" indent="-228600">
              <a:spcAft>
                <a:spcPts val="800"/>
              </a:spcAft>
              <a:buSzPct val="100000"/>
              <a:buChar char="•"/>
            </a:pPr>
            <a:r>
              <a:rPr lang="en-US" sz="1400" dirty="0">
                <a:solidFill>
                  <a:srgbClr val="1F2933"/>
                </a:solidFill>
              </a:rPr>
              <a:t>혼합 정밀도: bfloat16 autocast (손실은 float32)</a:t>
            </a:r>
            <a:endParaRPr lang="en-US" sz="1400" dirty="0"/>
          </a:p>
          <a:p>
            <a:pPr marL="228600" indent="-228600">
              <a:spcAft>
                <a:spcPts val="800"/>
              </a:spcAft>
              <a:buSzPct val="100000"/>
              <a:buChar char="•"/>
            </a:pPr>
            <a:r>
              <a:rPr lang="en-US" sz="1400" dirty="0">
                <a:solidFill>
                  <a:srgbClr val="1F2933"/>
                </a:solidFill>
              </a:rPr>
              <a:t>하드웨어: Apple M4 Max (MPS), 1회 학습 약 5.5분</a:t>
            </a:r>
            <a:endParaRPr lang="en-US" sz="1400" dirty="0"/>
          </a:p>
        </p:txBody>
      </p:sp>
      <p:sp>
        <p:nvSpPr>
          <p:cNvPr id="8" name="card"/>
          <p:cNvSpPr/>
          <p:nvPr/>
        </p:nvSpPr>
        <p:spPr>
          <a:xfrm>
            <a:off x="6217920" y="1371600"/>
            <a:ext cx="5394960" cy="4526280"/>
          </a:xfrm>
          <a:prstGeom prst="roundRect">
            <a:avLst>
              <a:gd name="adj" fmla="val 2424"/>
            </a:avLst>
          </a:prstGeom>
          <a:solidFill>
            <a:srgbClr val="FDEEE6"/>
          </a:solidFill>
          <a:ln w="12700">
            <a:solidFill>
              <a:srgbClr val="FDEEE6"/>
            </a:solidFill>
            <a:prstDash val="solid"/>
          </a:ln>
        </p:spPr>
      </p:sp>
      <p:sp>
        <p:nvSpPr>
          <p:cNvPr id="9" name="tag"/>
          <p:cNvSpPr/>
          <p:nvPr/>
        </p:nvSpPr>
        <p:spPr>
          <a:xfrm>
            <a:off x="6446520" y="1600200"/>
            <a:ext cx="384048" cy="384048"/>
          </a:xfrm>
          <a:prstGeom prst="ellipse">
            <a:avLst/>
          </a:prstGeom>
          <a:solidFill>
            <a:srgbClr val="EB6834"/>
          </a:solidFill>
          <a:ln w="12700">
            <a:solidFill>
              <a:srgbClr val="EB6834"/>
            </a:solidFill>
            <a:prstDash val="solid"/>
          </a:ln>
        </p:spPr>
      </p:sp>
      <p:sp>
        <p:nvSpPr>
          <p:cNvPr id="10" name="Text 8"/>
          <p:cNvSpPr txBox="1"/>
          <p:nvPr/>
        </p:nvSpPr>
        <p:spPr>
          <a:xfrm>
            <a:off x="644652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S</a:t>
            </a:r>
            <a:endParaRPr lang="en-US" sz="1300" dirty="0"/>
          </a:p>
        </p:txBody>
      </p:sp>
      <p:sp>
        <p:nvSpPr>
          <p:cNvPr id="11" name="Text 9"/>
          <p:cNvSpPr txBox="1"/>
          <p:nvPr/>
        </p:nvSpPr>
        <p:spPr>
          <a:xfrm>
            <a:off x="6949440" y="1572768"/>
            <a:ext cx="4480560" cy="438912"/>
          </a:xfrm>
          <a:prstGeom prst="rect">
            <a:avLst/>
          </a:prstGeom>
          <a:noFill/>
          <a:ln/>
        </p:spPr>
        <p:txBody>
          <a:bodyPr wrap="square" lIns="0" tIns="0" rIns="0" bIns="0" rtlCol="0" anchor="ctr"/>
          <a:lstStyle/>
          <a:p>
            <a:pPr indent="0" marL="0">
              <a:buNone/>
            </a:pPr>
            <a:r>
              <a:rPr lang="en-US" sz="1800" b="1" dirty="0">
                <a:solidFill>
                  <a:srgbClr val="1F2933"/>
                </a:solidFill>
              </a:rPr>
              <a:t>프로토콜</a:t>
            </a:r>
            <a:endParaRPr lang="en-US" sz="1800" dirty="0"/>
          </a:p>
        </p:txBody>
      </p:sp>
      <p:sp>
        <p:nvSpPr>
          <p:cNvPr id="12" name="Text 10"/>
          <p:cNvSpPr txBox="1"/>
          <p:nvPr/>
        </p:nvSpPr>
        <p:spPr>
          <a:xfrm>
            <a:off x="6446520" y="2103120"/>
            <a:ext cx="4937760" cy="36576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rPr>
              <a:t>검증셋 5,000장(클래스당 50)은 시드와 무관하게 고정</a:t>
            </a:r>
            <a:endParaRPr lang="en-US" sz="1400" dirty="0"/>
          </a:p>
          <a:p>
            <a:pPr marL="228600" indent="-228600">
              <a:spcAft>
                <a:spcPts val="800"/>
              </a:spcAft>
              <a:buSzPct val="100000"/>
              <a:buChar char="•"/>
            </a:pPr>
            <a:r>
              <a:rPr lang="en-US" sz="1400" dirty="0">
                <a:solidFill>
                  <a:srgbClr val="1F2933"/>
                </a:solidFill>
              </a:rPr>
              <a:t>λ 선택: 시드 0, 검증셋 fine 정확도 기준</a:t>
            </a:r>
            <a:endParaRPr lang="en-US" sz="1400" dirty="0"/>
          </a:p>
          <a:p>
            <a:pPr marL="228600" indent="-228600">
              <a:spcAft>
                <a:spcPts val="800"/>
              </a:spcAft>
              <a:buSzPct val="100000"/>
              <a:buChar char="•"/>
            </a:pPr>
            <a:r>
              <a:rPr lang="en-US" sz="1400" dirty="0">
                <a:solidFill>
                  <a:srgbClr val="1F2933"/>
                </a:solidFill>
              </a:rPr>
              <a:t>의미 손실 λ ∈ {0.005, 0.02, 0.1, 0.5, 1, 2, 5}</a:t>
            </a:r>
            <a:endParaRPr lang="en-US" sz="1400" dirty="0"/>
          </a:p>
          <a:p>
            <a:pPr marL="228600" indent="-228600">
              <a:spcAft>
                <a:spcPts val="800"/>
              </a:spcAft>
              <a:buSzPct val="100000"/>
              <a:buChar char="•"/>
            </a:pPr>
            <a:r>
              <a:rPr lang="en-US" sz="1400" dirty="0">
                <a:solidFill>
                  <a:srgbClr val="1F2933"/>
                </a:solidFill>
              </a:rPr>
              <a:t>exactly-one 대조군 λ ∈ {0.5, 1, 2}</a:t>
            </a:r>
            <a:endParaRPr lang="en-US" sz="1400" dirty="0"/>
          </a:p>
          <a:p>
            <a:pPr marL="228600" indent="-228600">
              <a:spcAft>
                <a:spcPts val="800"/>
              </a:spcAft>
              <a:buSzPct val="100000"/>
              <a:buChar char="•"/>
            </a:pPr>
            <a:r>
              <a:rPr lang="en-US" sz="1400" dirty="0">
                <a:solidFill>
                  <a:srgbClr val="1F2933"/>
                </a:solidFill>
              </a:rPr>
              <a:t>본 실험: 3 설정 × 4 방법 × 3 시드 → 테스트셋 평가</a:t>
            </a:r>
            <a:endParaRPr lang="en-US" sz="1400" dirty="0"/>
          </a:p>
          <a:p>
            <a:pPr marL="228600" indent="-228600">
              <a:spcAft>
                <a:spcPts val="800"/>
              </a:spcAft>
              <a:buSzPct val="100000"/>
              <a:buChar char="•"/>
            </a:pPr>
            <a:r>
              <a:rPr lang="en-US" sz="1400" dirty="0">
                <a:solidFill>
                  <a:srgbClr val="1F2933"/>
                </a:solidFill>
              </a:rPr>
              <a:t>보고: 3 시드 평균 ± 표준편차</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반복 실험: 시드와 "평균 ± 표준편차"의 의미</a:t>
            </a:r>
            <a:endParaRPr lang="en-US" sz="3000" dirty="0"/>
          </a:p>
        </p:txBody>
      </p:sp>
      <p:sp>
        <p:nvSpPr>
          <p:cNvPr id="3" name="card"/>
          <p:cNvSpPr/>
          <p:nvPr/>
        </p:nvSpPr>
        <p:spPr>
          <a:xfrm>
            <a:off x="548640" y="1371600"/>
            <a:ext cx="5394960" cy="2514600"/>
          </a:xfrm>
          <a:prstGeom prst="roundRect">
            <a:avLst>
              <a:gd name="adj" fmla="val 4364"/>
            </a:avLst>
          </a:prstGeom>
          <a:solidFill>
            <a:srgbClr val="E6F0FB"/>
          </a:solidFill>
          <a:ln w="12700">
            <a:solidFill>
              <a:srgbClr val="E6F0FB"/>
            </a:solidFill>
            <a:prstDash val="solid"/>
          </a:ln>
        </p:spPr>
      </p:sp>
      <p:sp>
        <p:nvSpPr>
          <p:cNvPr id="4" name="tag"/>
          <p:cNvSpPr/>
          <p:nvPr/>
        </p:nvSpPr>
        <p:spPr>
          <a:xfrm>
            <a:off x="777240" y="1600200"/>
            <a:ext cx="384048" cy="384048"/>
          </a:xfrm>
          <a:prstGeom prst="ellipse">
            <a:avLst/>
          </a:prstGeom>
          <a:solidFill>
            <a:srgbClr val="2A78D6"/>
          </a:solidFill>
          <a:ln w="12700">
            <a:solidFill>
              <a:srgbClr val="2A78D6"/>
            </a:solidFill>
            <a:prstDash val="solid"/>
          </a:ln>
        </p:spPr>
      </p:sp>
      <p:sp>
        <p:nvSpPr>
          <p:cNvPr id="5" name="Text 3"/>
          <p:cNvSpPr txBox="1"/>
          <p:nvPr/>
        </p:nvSpPr>
        <p:spPr>
          <a:xfrm>
            <a:off x="77724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N</a:t>
            </a:r>
            <a:endParaRPr lang="en-US" sz="1300" dirty="0"/>
          </a:p>
        </p:txBody>
      </p:sp>
      <p:sp>
        <p:nvSpPr>
          <p:cNvPr id="6" name="Text 4"/>
          <p:cNvSpPr txBox="1"/>
          <p:nvPr/>
        </p:nvSpPr>
        <p:spPr>
          <a:xfrm>
            <a:off x="1280160" y="1572768"/>
            <a:ext cx="4480560" cy="438912"/>
          </a:xfrm>
          <a:prstGeom prst="rect">
            <a:avLst/>
          </a:prstGeom>
          <a:noFill/>
          <a:ln/>
        </p:spPr>
        <p:txBody>
          <a:bodyPr wrap="square" lIns="0" tIns="0" rIns="0" bIns="0" rtlCol="0" anchor="ctr"/>
          <a:lstStyle/>
          <a:p>
            <a:pPr indent="0" marL="0">
              <a:buNone/>
            </a:pPr>
            <a:r>
              <a:rPr lang="en-US" sz="1800" b="1" dirty="0">
                <a:solidFill>
                  <a:srgbClr val="1F2933"/>
                </a:solidFill>
              </a:rPr>
              <a:t>시드가 바꾸는 것</a:t>
            </a:r>
            <a:endParaRPr lang="en-US" sz="1800" dirty="0"/>
          </a:p>
        </p:txBody>
      </p:sp>
      <p:sp>
        <p:nvSpPr>
          <p:cNvPr id="7" name="Text 5"/>
          <p:cNvSpPr txBox="1"/>
          <p:nvPr/>
        </p:nvSpPr>
        <p:spPr>
          <a:xfrm>
            <a:off x="777240" y="2103120"/>
            <a:ext cx="4937760" cy="16459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가중치 초기화</a:t>
            </a:r>
            <a:endParaRPr lang="en-US" sz="1500" dirty="0"/>
          </a:p>
          <a:p>
            <a:pPr marL="228600" indent="-228600">
              <a:spcAft>
                <a:spcPts val="800"/>
              </a:spcAft>
              <a:buSzPct val="100000"/>
              <a:buChar char="•"/>
            </a:pPr>
            <a:r>
              <a:rPr lang="en-US" sz="1500" dirty="0">
                <a:solidFill>
                  <a:srgbClr val="1F2933"/>
                </a:solidFill>
              </a:rPr>
              <a:t>미니배치 순서, 랜덤 크롭·좌우 반전</a:t>
            </a:r>
            <a:endParaRPr lang="en-US" sz="1500" dirty="0"/>
          </a:p>
          <a:p>
            <a:pPr marL="228600" indent="-228600">
              <a:spcAft>
                <a:spcPts val="800"/>
              </a:spcAft>
              <a:buSzPct val="100000"/>
              <a:buChar char="•"/>
            </a:pPr>
            <a:r>
              <a:rPr lang="en-US" sz="1500" dirty="0">
                <a:solidFill>
                  <a:srgbClr val="1F2933"/>
                </a:solidFill>
              </a:rPr>
              <a:t>semi·weak: 라벨을 줄 10%(4,500장)의 선택</a:t>
            </a:r>
            <a:endParaRPr lang="en-US" sz="1500" dirty="0"/>
          </a:p>
        </p:txBody>
      </p:sp>
      <p:sp>
        <p:nvSpPr>
          <p:cNvPr id="8" name="card"/>
          <p:cNvSpPr/>
          <p:nvPr/>
        </p:nvSpPr>
        <p:spPr>
          <a:xfrm>
            <a:off x="548640" y="4069080"/>
            <a:ext cx="5394960" cy="1828800"/>
          </a:xfrm>
          <a:prstGeom prst="roundRect">
            <a:avLst>
              <a:gd name="adj" fmla="val 6000"/>
            </a:avLst>
          </a:prstGeom>
          <a:solidFill>
            <a:srgbClr val="F1F4F8"/>
          </a:solidFill>
          <a:ln w="12700">
            <a:solidFill>
              <a:srgbClr val="F1F4F8"/>
            </a:solidFill>
            <a:prstDash val="solid"/>
          </a:ln>
        </p:spPr>
      </p:sp>
      <p:sp>
        <p:nvSpPr>
          <p:cNvPr id="9" name="tag"/>
          <p:cNvSpPr/>
          <p:nvPr/>
        </p:nvSpPr>
        <p:spPr>
          <a:xfrm>
            <a:off x="777240" y="4297680"/>
            <a:ext cx="384048" cy="384048"/>
          </a:xfrm>
          <a:prstGeom prst="ellipse">
            <a:avLst/>
          </a:prstGeom>
          <a:solidFill>
            <a:srgbClr val="52606D"/>
          </a:solidFill>
          <a:ln w="12700">
            <a:solidFill>
              <a:srgbClr val="52606D"/>
            </a:solidFill>
            <a:prstDash val="solid"/>
          </a:ln>
        </p:spPr>
      </p:sp>
      <p:sp>
        <p:nvSpPr>
          <p:cNvPr id="10" name="Text 8"/>
          <p:cNvSpPr txBox="1"/>
          <p:nvPr/>
        </p:nvSpPr>
        <p:spPr>
          <a:xfrm>
            <a:off x="777240" y="42976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1" name="Text 9"/>
          <p:cNvSpPr txBox="1"/>
          <p:nvPr/>
        </p:nvSpPr>
        <p:spPr>
          <a:xfrm>
            <a:off x="1280160" y="4270248"/>
            <a:ext cx="4480560" cy="438912"/>
          </a:xfrm>
          <a:prstGeom prst="rect">
            <a:avLst/>
          </a:prstGeom>
          <a:noFill/>
          <a:ln/>
        </p:spPr>
        <p:txBody>
          <a:bodyPr wrap="square" lIns="0" tIns="0" rIns="0" bIns="0" rtlCol="0" anchor="ctr"/>
          <a:lstStyle/>
          <a:p>
            <a:pPr indent="0" marL="0">
              <a:buNone/>
            </a:pPr>
            <a:r>
              <a:rPr lang="en-US" sz="1800" b="1" dirty="0">
                <a:solidFill>
                  <a:srgbClr val="1F2933"/>
                </a:solidFill>
              </a:rPr>
              <a:t>시드와 무관하게 고정</a:t>
            </a:r>
            <a:endParaRPr lang="en-US" sz="1800" dirty="0"/>
          </a:p>
        </p:txBody>
      </p:sp>
      <p:sp>
        <p:nvSpPr>
          <p:cNvPr id="12" name="Text 10"/>
          <p:cNvSpPr txBox="1"/>
          <p:nvPr/>
        </p:nvSpPr>
        <p:spPr>
          <a:xfrm>
            <a:off x="777240" y="4800600"/>
            <a:ext cx="4937760" cy="960120"/>
          </a:xfrm>
          <a:prstGeom prst="rect">
            <a:avLst/>
          </a:prstGeom>
          <a:noFill/>
          <a:ln/>
        </p:spPr>
        <p:txBody>
          <a:bodyPr wrap="square" lIns="0" tIns="0" rIns="0" bIns="0" rtlCol="0" anchor="t"/>
          <a:lstStyle/>
          <a:p>
            <a:pPr marL="228600" indent="-228600">
              <a:spcAft>
                <a:spcPts val="800"/>
              </a:spcAft>
              <a:buSzPct val="100000"/>
              <a:buChar char="•"/>
            </a:pPr>
            <a:r>
              <a:rPr lang="en-US" sz="1500" dirty="0">
                <a:solidFill>
                  <a:srgbClr val="1F2933"/>
                </a:solidFill>
              </a:rPr>
              <a:t>검증셋 5,000장, 테스트셋 10,000장, 모델 구조, 하이퍼파라미터</a:t>
            </a:r>
            <a:endParaRPr lang="en-US" sz="15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217920" y="1371600"/>
          <a:ext cx="5422392" cy="914400"/>
        </p:xfrm>
        <a:graphic>
          <a:graphicData uri="http://schemas.openxmlformats.org/drawingml/2006/table">
            <a:tbl>
              <a:tblPr/>
              <a:tblGrid>
                <a:gridCol w="2313432"/>
                <a:gridCol w="1033272"/>
                <a:gridCol w="1033272"/>
                <a:gridCol w="1042416"/>
              </a:tblGrid>
              <a:tr h="457200">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full · fine CE</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시드 0</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시드 1</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시드 2</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r>
              <a:tr h="457200">
                <a:tc>
                  <a:txBody>
                    <a:bodyPr/>
                    <a:lstStyle/>
                    <a:p>
                      <a:pPr algn="l" indent="0" marL="0">
                        <a:buNone/>
                      </a:pPr>
                      <a:r>
                        <a:rPr lang="en-US" sz="1400" dirty="0">
                          <a:solidFill>
                            <a:srgbClr val="1F2933"/>
                          </a:solidFill>
                          <a:latin typeface="Malgun Gothic" pitchFamily="34" charset="0"/>
                          <a:ea typeface="Malgun Gothic" pitchFamily="34" charset="-122"/>
                          <a:cs typeface="Malgun Gothic" pitchFamily="34" charset="-120"/>
                        </a:rPr>
                        <a:t>테스트 fine 정확도 (%)</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73.98</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73.77</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73.47</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bl>
          </a:graphicData>
        </a:graphic>
      </p:graphicFrame>
      <p:pic>
        <p:nvPicPr>
          <p:cNvPr id="14" name="equation" descr="\bar{x} = \frac{1}{n}\sum_{k=1}^{n} x_k, \qquad s = \sqrt{\frac{1}{n-1}\sum_{k=1}^{n} (x_k - \bar{x})^2}">    </p:cNvPr>
          <p:cNvPicPr>
            <a:picLocks noChangeAspect="1"/>
          </p:cNvPicPr>
          <p:nvPr/>
        </p:nvPicPr>
        <p:blipFill>
          <a:blip r:embed="rId1"/>
          <a:stretch>
            <a:fillRect/>
          </a:stretch>
        </p:blipFill>
        <p:spPr>
          <a:xfrm>
            <a:off x="6217920" y="2514600"/>
            <a:ext cx="4447429" cy="836722"/>
          </a:xfrm>
          <a:prstGeom prst="rect">
            <a:avLst/>
          </a:prstGeom>
        </p:spPr>
      </p:pic>
      <p:pic>
        <p:nvPicPr>
          <p:cNvPr id="15" name="equation" descr="\bar{x} = 73.74,\quad s = 0.26 \quad\Rightarrow\quad 73.7 \pm 0.3">    </p:cNvPr>
          <p:cNvPicPr>
            <a:picLocks noChangeAspect="1"/>
          </p:cNvPicPr>
          <p:nvPr/>
        </p:nvPicPr>
        <p:blipFill>
          <a:blip r:embed="rId2"/>
          <a:stretch>
            <a:fillRect/>
          </a:stretch>
        </p:blipFill>
        <p:spPr>
          <a:xfrm>
            <a:off x="6217920" y="3520440"/>
            <a:ext cx="3895947" cy="202790"/>
          </a:xfrm>
          <a:prstGeom prst="rect">
            <a:avLst/>
          </a:prstGeom>
        </p:spPr>
      </p:pic>
      <p:sp>
        <p:nvSpPr>
          <p:cNvPr id="16" name="Text 11"/>
          <p:cNvSpPr txBox="1"/>
          <p:nvPr/>
        </p:nvSpPr>
        <p:spPr>
          <a:xfrm>
            <a:off x="6217920" y="4343400"/>
            <a:ext cx="5394960" cy="146304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 는 "한 번 학습했을 때 결과가 얼마나 흔들리는가"를 나타낸다. 라벨이 적은 semi·weak는 라벨 부분집합까지 바뀌어 편차가 더 크다(±1~2).</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차이를 읽는 법: 차이가 흔들림보다 큰가</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697480"/>
                <a:gridCol w="1965960"/>
                <a:gridCol w="2240280"/>
                <a:gridCol w="4187952"/>
              </a:tblGrid>
              <a:tr h="457200">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비교 (fine 정확도 %)</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평균 ± 표준편차</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시드별 값</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판단</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r>
              <a:tr h="457200">
                <a:tc>
                  <a:txBody>
                    <a:bodyPr/>
                    <a:lstStyle/>
                    <a:p>
                      <a:pPr algn="l" indent="0" marL="0">
                        <a:buNone/>
                      </a:pPr>
                      <a:r>
                        <a:rPr lang="en-US" sz="1400" dirty="0">
                          <a:solidFill>
                            <a:srgbClr val="1F2933"/>
                          </a:solidFill>
                          <a:latin typeface="Malgun Gothic" pitchFamily="34" charset="0"/>
                          <a:ea typeface="Malgun Gothic" pitchFamily="34" charset="-122"/>
                          <a:cs typeface="Malgun Gothic" pitchFamily="34" charset="-120"/>
                        </a:rPr>
                        <a:t>weak · fine+coarse CE</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52.16 ± 1.97</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54.3, 51.8, 50.4</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rowSpan="2">
                  <a:txBody>
                    <a:bodyPr/>
                    <a:lstStyle/>
                    <a:p>
                      <a:pPr algn="ctr" indent="0" marL="0">
                        <a:buNone/>
                      </a:pPr>
                      <a:r>
                        <a:rPr lang="en-US" sz="1400" b="1" dirty="0">
                          <a:solidFill>
                            <a:srgbClr val="1F2933"/>
                          </a:solidFill>
                          <a:latin typeface="Malgun Gothic" pitchFamily="34" charset="0"/>
                          <a:ea typeface="Malgun Gothic" pitchFamily="34" charset="-122"/>
                          <a:cs typeface="Malgun Gothic" pitchFamily="34" charset="-120"/>
                        </a:rPr>
                        <a:t>차이 ≫ 편차, 모든 시드 우세 → 믿을 만함</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E3F4EC"/>
                    </a:solidFill>
                  </a:tcPr>
                </a:tc>
              </a:tr>
              <a:tr h="457200">
                <a:tc>
                  <a:txBody>
                    <a:bodyPr/>
                    <a:lstStyle/>
                    <a:p>
                      <a:pPr algn="l" indent="0" marL="0">
                        <a:buNone/>
                      </a:pPr>
                      <a:r>
                        <a:rPr lang="en-US" sz="1400" b="1" dirty="0">
                          <a:solidFill>
                            <a:srgbClr val="1F2933"/>
                          </a:solidFill>
                          <a:latin typeface="Malgun Gothic" pitchFamily="34" charset="0"/>
                          <a:ea typeface="Malgun Gothic" pitchFamily="34" charset="-122"/>
                          <a:cs typeface="Malgun Gothic" pitchFamily="34" charset="-120"/>
                        </a:rPr>
                        <a:t>weak · + 계층 의미 손실</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57.84 ± 0.53</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58.4, 57.4, 57.7</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vMerge="1">
                  <a:tcPr/>
                </a:tc>
              </a:tr>
              <a:tr h="457200">
                <a:tc>
                  <a:txBody>
                    <a:bodyPr/>
                    <a:lstStyle/>
                    <a:p>
                      <a:pPr algn="l" indent="0" marL="0">
                        <a:buNone/>
                      </a:pPr>
                      <a:r>
                        <a:rPr lang="en-US" sz="1400" dirty="0">
                          <a:solidFill>
                            <a:srgbClr val="1F2933"/>
                          </a:solidFill>
                          <a:latin typeface="Malgun Gothic" pitchFamily="34" charset="0"/>
                          <a:ea typeface="Malgun Gothic" pitchFamily="34" charset="-122"/>
                          <a:cs typeface="Malgun Gothic" pitchFamily="34" charset="-120"/>
                        </a:rPr>
                        <a:t>full · + exactly-one SL</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74.07 ± 0.19</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74.3, 73.9, 74.1</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rowSpan="2">
                  <a:txBody>
                    <a:bodyPr/>
                    <a:lstStyle/>
                    <a:p>
                      <a:pPr algn="ctr" indent="0" marL="0">
                        <a:buNone/>
                      </a:pPr>
                      <a:r>
                        <a:rPr lang="en-US" sz="1400" b="1" dirty="0">
                          <a:solidFill>
                            <a:srgbClr val="1F2933"/>
                          </a:solidFill>
                          <a:latin typeface="Malgun Gothic" pitchFamily="34" charset="0"/>
                          <a:ea typeface="Malgun Gothic" pitchFamily="34" charset="-122"/>
                          <a:cs typeface="Malgun Gothic" pitchFamily="34" charset="-120"/>
                        </a:rPr>
                        <a:t>차이 &lt; 편차 → 차이가 없다고 판단</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CE6DC"/>
                    </a:solidFill>
                  </a:tcPr>
                </a:tc>
              </a:tr>
              <a:tr h="457200">
                <a:tc>
                  <a:txBody>
                    <a:bodyPr/>
                    <a:lstStyle/>
                    <a:p>
                      <a:pPr algn="l" indent="0" marL="0">
                        <a:buNone/>
                      </a:pPr>
                      <a:r>
                        <a:rPr lang="en-US" sz="1400" b="1" dirty="0">
                          <a:solidFill>
                            <a:srgbClr val="1F2933"/>
                          </a:solidFill>
                          <a:latin typeface="Malgun Gothic" pitchFamily="34" charset="0"/>
                          <a:ea typeface="Malgun Gothic" pitchFamily="34" charset="-122"/>
                          <a:cs typeface="Malgun Gothic" pitchFamily="34" charset="-120"/>
                        </a:rPr>
                        <a:t>full · + 계층 의미 손실</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74.11 ± 0.04</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74.1, 74.1, 74.1</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vMerge="1">
                  <a:tcPr/>
                </a:tc>
              </a:tr>
            </a:tbl>
          </a:graphicData>
        </a:graphic>
      </p:graphicFrame>
      <p:sp>
        <p:nvSpPr>
          <p:cNvPr id="4" name="card"/>
          <p:cNvSpPr/>
          <p:nvPr/>
        </p:nvSpPr>
        <p:spPr>
          <a:xfrm>
            <a:off x="548640" y="3931920"/>
            <a:ext cx="3520440" cy="1965960"/>
          </a:xfrm>
          <a:prstGeom prst="roundRect">
            <a:avLst>
              <a:gd name="adj" fmla="val 5581"/>
            </a:avLst>
          </a:prstGeom>
          <a:solidFill>
            <a:srgbClr val="F1F4F8"/>
          </a:solidFill>
          <a:ln w="12700">
            <a:solidFill>
              <a:srgbClr val="F1F4F8"/>
            </a:solidFill>
            <a:prstDash val="solid"/>
          </a:ln>
        </p:spPr>
      </p:sp>
      <p:sp>
        <p:nvSpPr>
          <p:cNvPr id="5" name="tag"/>
          <p:cNvSpPr/>
          <p:nvPr/>
        </p:nvSpPr>
        <p:spPr>
          <a:xfrm>
            <a:off x="777240" y="4160520"/>
            <a:ext cx="384048" cy="384048"/>
          </a:xfrm>
          <a:prstGeom prst="ellipse">
            <a:avLst/>
          </a:prstGeom>
          <a:solidFill>
            <a:srgbClr val="EB6834"/>
          </a:solidFill>
          <a:ln w="12700">
            <a:solidFill>
              <a:srgbClr val="EB6834"/>
            </a:solidFill>
            <a:prstDash val="solid"/>
          </a:ln>
        </p:spPr>
      </p:sp>
      <p:sp>
        <p:nvSpPr>
          <p:cNvPr id="6" name="Text 3"/>
          <p:cNvSpPr txBox="1"/>
          <p:nvPr/>
        </p:nvSpPr>
        <p:spPr>
          <a:xfrm>
            <a:off x="777240" y="4160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4"/>
          <p:cNvSpPr txBox="1"/>
          <p:nvPr/>
        </p:nvSpPr>
        <p:spPr>
          <a:xfrm>
            <a:off x="1280160" y="4133088"/>
            <a:ext cx="2606040" cy="438912"/>
          </a:xfrm>
          <a:prstGeom prst="rect">
            <a:avLst/>
          </a:prstGeom>
          <a:noFill/>
          <a:ln/>
        </p:spPr>
        <p:txBody>
          <a:bodyPr wrap="square" lIns="0" tIns="0" rIns="0" bIns="0" rtlCol="0" anchor="ctr"/>
          <a:lstStyle/>
          <a:p>
            <a:pPr indent="0" marL="0">
              <a:buNone/>
            </a:pPr>
            <a:r>
              <a:rPr lang="en-US" sz="1800" b="1" dirty="0">
                <a:solidFill>
                  <a:srgbClr val="1F2933"/>
                </a:solidFill>
              </a:rPr>
              <a:t>규칙 1</a:t>
            </a:r>
            <a:endParaRPr lang="en-US" sz="1800" dirty="0"/>
          </a:p>
        </p:txBody>
      </p:sp>
      <p:sp>
        <p:nvSpPr>
          <p:cNvPr id="8" name="Text 5"/>
          <p:cNvSpPr txBox="1"/>
          <p:nvPr/>
        </p:nvSpPr>
        <p:spPr>
          <a:xfrm>
            <a:off x="777240" y="4663440"/>
            <a:ext cx="3063240" cy="109728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평균의 차이를 두 방법의 표준편차와 비교한다</a:t>
            </a:r>
            <a:endParaRPr lang="en-US" sz="1500" dirty="0"/>
          </a:p>
        </p:txBody>
      </p:sp>
      <p:sp>
        <p:nvSpPr>
          <p:cNvPr id="9" name="card"/>
          <p:cNvSpPr/>
          <p:nvPr/>
        </p:nvSpPr>
        <p:spPr>
          <a:xfrm>
            <a:off x="4297680" y="3931920"/>
            <a:ext cx="3520440" cy="1965960"/>
          </a:xfrm>
          <a:prstGeom prst="roundRect">
            <a:avLst>
              <a:gd name="adj" fmla="val 5581"/>
            </a:avLst>
          </a:prstGeom>
          <a:solidFill>
            <a:srgbClr val="F1F4F8"/>
          </a:solidFill>
          <a:ln w="12700">
            <a:solidFill>
              <a:srgbClr val="F1F4F8"/>
            </a:solidFill>
            <a:prstDash val="solid"/>
          </a:ln>
        </p:spPr>
      </p:sp>
      <p:sp>
        <p:nvSpPr>
          <p:cNvPr id="10" name="tag"/>
          <p:cNvSpPr/>
          <p:nvPr/>
        </p:nvSpPr>
        <p:spPr>
          <a:xfrm>
            <a:off x="4526280" y="4160520"/>
            <a:ext cx="384048" cy="384048"/>
          </a:xfrm>
          <a:prstGeom prst="ellipse">
            <a:avLst/>
          </a:prstGeom>
          <a:solidFill>
            <a:srgbClr val="4A3AA7"/>
          </a:solidFill>
          <a:ln w="12700">
            <a:solidFill>
              <a:srgbClr val="4A3AA7"/>
            </a:solidFill>
            <a:prstDash val="solid"/>
          </a:ln>
        </p:spPr>
      </p:sp>
      <p:sp>
        <p:nvSpPr>
          <p:cNvPr id="11" name="Text 8"/>
          <p:cNvSpPr txBox="1"/>
          <p:nvPr/>
        </p:nvSpPr>
        <p:spPr>
          <a:xfrm>
            <a:off x="4526280" y="4160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9"/>
          <p:cNvSpPr txBox="1"/>
          <p:nvPr/>
        </p:nvSpPr>
        <p:spPr>
          <a:xfrm>
            <a:off x="5029200" y="4133088"/>
            <a:ext cx="2606040" cy="438912"/>
          </a:xfrm>
          <a:prstGeom prst="rect">
            <a:avLst/>
          </a:prstGeom>
          <a:noFill/>
          <a:ln/>
        </p:spPr>
        <p:txBody>
          <a:bodyPr wrap="square" lIns="0" tIns="0" rIns="0" bIns="0" rtlCol="0" anchor="ctr"/>
          <a:lstStyle/>
          <a:p>
            <a:pPr indent="0" marL="0">
              <a:buNone/>
            </a:pPr>
            <a:r>
              <a:rPr lang="en-US" sz="1800" b="1" dirty="0">
                <a:solidFill>
                  <a:srgbClr val="1F2933"/>
                </a:solidFill>
              </a:rPr>
              <a:t>규칙 2</a:t>
            </a:r>
            <a:endParaRPr lang="en-US" sz="1800" dirty="0"/>
          </a:p>
        </p:txBody>
      </p:sp>
      <p:sp>
        <p:nvSpPr>
          <p:cNvPr id="13" name="Text 10"/>
          <p:cNvSpPr txBox="1"/>
          <p:nvPr/>
        </p:nvSpPr>
        <p:spPr>
          <a:xfrm>
            <a:off x="4526280" y="4663440"/>
            <a:ext cx="3063240" cy="109728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시드별로 짝지어 모두 같은 방향인지 본다</a:t>
            </a:r>
            <a:endParaRPr lang="en-US" sz="1500" dirty="0"/>
          </a:p>
        </p:txBody>
      </p:sp>
      <p:sp>
        <p:nvSpPr>
          <p:cNvPr id="14" name="card"/>
          <p:cNvSpPr/>
          <p:nvPr/>
        </p:nvSpPr>
        <p:spPr>
          <a:xfrm>
            <a:off x="8046720" y="3931920"/>
            <a:ext cx="3593592" cy="1965960"/>
          </a:xfrm>
          <a:prstGeom prst="roundRect">
            <a:avLst>
              <a:gd name="adj" fmla="val 5581"/>
            </a:avLst>
          </a:prstGeom>
          <a:solidFill>
            <a:srgbClr val="F1F4F8"/>
          </a:solidFill>
          <a:ln w="12700">
            <a:solidFill>
              <a:srgbClr val="F1F4F8"/>
            </a:solidFill>
            <a:prstDash val="solid"/>
          </a:ln>
        </p:spPr>
      </p:sp>
      <p:sp>
        <p:nvSpPr>
          <p:cNvPr id="15" name="tag"/>
          <p:cNvSpPr/>
          <p:nvPr/>
        </p:nvSpPr>
        <p:spPr>
          <a:xfrm>
            <a:off x="8275320" y="4160520"/>
            <a:ext cx="384048" cy="384048"/>
          </a:xfrm>
          <a:prstGeom prst="ellipse">
            <a:avLst/>
          </a:prstGeom>
          <a:solidFill>
            <a:srgbClr val="52606D"/>
          </a:solidFill>
          <a:ln w="12700">
            <a:solidFill>
              <a:srgbClr val="52606D"/>
            </a:solidFill>
            <a:prstDash val="solid"/>
          </a:ln>
        </p:spPr>
      </p:sp>
      <p:sp>
        <p:nvSpPr>
          <p:cNvPr id="16" name="Text 13"/>
          <p:cNvSpPr txBox="1"/>
          <p:nvPr/>
        </p:nvSpPr>
        <p:spPr>
          <a:xfrm>
            <a:off x="8275320" y="41605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17" name="Text 14"/>
          <p:cNvSpPr txBox="1"/>
          <p:nvPr/>
        </p:nvSpPr>
        <p:spPr>
          <a:xfrm>
            <a:off x="8778240" y="4133088"/>
            <a:ext cx="2679192" cy="438912"/>
          </a:xfrm>
          <a:prstGeom prst="rect">
            <a:avLst/>
          </a:prstGeom>
          <a:noFill/>
          <a:ln/>
        </p:spPr>
        <p:txBody>
          <a:bodyPr wrap="square" lIns="0" tIns="0" rIns="0" bIns="0" rtlCol="0" anchor="ctr"/>
          <a:lstStyle/>
          <a:p>
            <a:pPr indent="0" marL="0">
              <a:buNone/>
            </a:pPr>
            <a:r>
              <a:rPr lang="en-US" sz="1800" b="1" dirty="0">
                <a:solidFill>
                  <a:srgbClr val="1F2933"/>
                </a:solidFill>
              </a:rPr>
              <a:t>주의</a:t>
            </a:r>
            <a:endParaRPr lang="en-US" sz="1800" dirty="0"/>
          </a:p>
        </p:txBody>
      </p:sp>
      <p:sp>
        <p:nvSpPr>
          <p:cNvPr id="18" name="Text 15"/>
          <p:cNvSpPr txBox="1"/>
          <p:nvPr/>
        </p:nvSpPr>
        <p:spPr>
          <a:xfrm>
            <a:off x="8275320" y="4663440"/>
            <a:ext cx="3136392" cy="1097280"/>
          </a:xfrm>
          <a:prstGeom prst="rect">
            <a:avLst/>
          </a:prstGeom>
          <a:noFill/>
          <a:ln/>
        </p:spPr>
        <p:txBody>
          <a:bodyPr wrap="square" lIns="0" tIns="0" rIns="0" bIns="0" rtlCol="0" anchor="t"/>
          <a:lstStyle/>
          <a:p>
            <a:pPr indent="0" marL="0">
              <a:spcAft>
                <a:spcPts val="600"/>
              </a:spcAft>
              <a:buNone/>
            </a:pPr>
            <a:r>
              <a:rPr lang="en-US" sz="1500" dirty="0">
                <a:solidFill>
                  <a:srgbClr val="1F2933"/>
                </a:solidFill>
              </a:rPr>
              <a:t>표준오차 = s/√n (n=3이면 약 0.58s). 시드 3개는 추정이 거칠다</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구현: 코드 구조</a:t>
            </a:r>
            <a:endParaRPr lang="en-US" sz="3000" dirty="0"/>
          </a:p>
        </p:txBody>
      </p:sp>
      <p:sp>
        <p:nvSpPr>
          <p:cNvPr id="3" name="code-panel"/>
          <p:cNvSpPr/>
          <p:nvPr/>
        </p:nvSpPr>
        <p:spPr>
          <a:xfrm>
            <a:off x="548640" y="1371600"/>
            <a:ext cx="7223760" cy="4526280"/>
          </a:xfrm>
          <a:prstGeom prst="roundRect">
            <a:avLst>
              <a:gd name="adj" fmla="val 2020"/>
            </a:avLst>
          </a:prstGeom>
          <a:solidFill>
            <a:srgbClr val="1B2430"/>
          </a:solidFill>
          <a:ln w="12700">
            <a:solidFill>
              <a:srgbClr val="1B2430"/>
            </a:solidFill>
            <a:prstDash val="solid"/>
          </a:ln>
        </p:spPr>
      </p:sp>
      <p:sp>
        <p:nvSpPr>
          <p:cNvPr id="4" name="code"/>
          <p:cNvSpPr txBox="1"/>
          <p:nvPr/>
        </p:nvSpPr>
        <p:spPr>
          <a:xfrm>
            <a:off x="822960" y="1554480"/>
            <a:ext cx="6675120" cy="4206240"/>
          </a:xfrm>
          <a:prstGeom prst="rect">
            <a:avLst/>
          </a:prstGeom>
          <a:noFill/>
          <a:ln/>
        </p:spPr>
        <p:txBody>
          <a:bodyPr wrap="square" lIns="0" tIns="0" rIns="0" bIns="0" rtlCol="0" anchor="t"/>
          <a:lstStyle/>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SemanticLoss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semloss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losses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py</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의미 손실: 전수 WMC, 닫힌 형태, CNF 생성</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data</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py</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CIFAR-100 로딩, full/semi/weak 분할, GPU 증강</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model</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py</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ResNet-9, 출력 120 = fine 100 + coarse 20</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train</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py</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1회 학습 + 평가 지표 8종</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tests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test_losses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py</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논문 수치 재현 + 전수 계산과 대조</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demo_paper_examples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py</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2.1절 예제(표, 펭귄, 경사하강) 재현</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run_experiments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py</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λ 튜닝 → 본 실험 → 대조 실험 (재시작 가능)</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summarize</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py</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결과 집계 → results/summary.md</a:t>
            </a:r>
            <a:endParaRPr lang="en-US" sz="1250" dirty="0"/>
          </a:p>
        </p:txBody>
      </p:sp>
      <p:sp>
        <p:nvSpPr>
          <p:cNvPr id="5" name="card"/>
          <p:cNvSpPr/>
          <p:nvPr/>
        </p:nvSpPr>
        <p:spPr>
          <a:xfrm>
            <a:off x="8046720" y="1371600"/>
            <a:ext cx="3593592" cy="4526280"/>
          </a:xfrm>
          <a:prstGeom prst="roundRect">
            <a:avLst>
              <a:gd name="adj" fmla="val 3053"/>
            </a:avLst>
          </a:prstGeom>
          <a:solidFill>
            <a:srgbClr val="F1F4F8"/>
          </a:solidFill>
          <a:ln w="12700">
            <a:solidFill>
              <a:srgbClr val="F1F4F8"/>
            </a:solidFill>
            <a:prstDash val="solid"/>
          </a:ln>
        </p:spPr>
      </p:sp>
      <p:sp>
        <p:nvSpPr>
          <p:cNvPr id="6" name="tag"/>
          <p:cNvSpPr/>
          <p:nvPr/>
        </p:nvSpPr>
        <p:spPr>
          <a:xfrm>
            <a:off x="8275320" y="1600200"/>
            <a:ext cx="384048" cy="384048"/>
          </a:xfrm>
          <a:prstGeom prst="ellipse">
            <a:avLst/>
          </a:prstGeom>
          <a:solidFill>
            <a:srgbClr val="1BAF7A"/>
          </a:solidFill>
          <a:ln w="12700">
            <a:solidFill>
              <a:srgbClr val="1BAF7A"/>
            </a:solidFill>
            <a:prstDash val="solid"/>
          </a:ln>
        </p:spPr>
      </p:sp>
      <p:sp>
        <p:nvSpPr>
          <p:cNvPr id="7" name="Text 5"/>
          <p:cNvSpPr txBox="1"/>
          <p:nvPr/>
        </p:nvSpPr>
        <p:spPr>
          <a:xfrm>
            <a:off x="827532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8" name="Text 6"/>
          <p:cNvSpPr txBox="1"/>
          <p:nvPr/>
        </p:nvSpPr>
        <p:spPr>
          <a:xfrm>
            <a:off x="8778240" y="1572768"/>
            <a:ext cx="2679192" cy="438912"/>
          </a:xfrm>
          <a:prstGeom prst="rect">
            <a:avLst/>
          </a:prstGeom>
          <a:noFill/>
          <a:ln/>
        </p:spPr>
        <p:txBody>
          <a:bodyPr wrap="square" lIns="0" tIns="0" rIns="0" bIns="0" rtlCol="0" anchor="ctr"/>
          <a:lstStyle/>
          <a:p>
            <a:pPr indent="0" marL="0">
              <a:buNone/>
            </a:pPr>
            <a:r>
              <a:rPr lang="en-US" sz="1800" b="1" dirty="0">
                <a:solidFill>
                  <a:srgbClr val="1F2933"/>
                </a:solidFill>
              </a:rPr>
              <a:t>설계 원칙</a:t>
            </a:r>
            <a:endParaRPr lang="en-US" sz="1800" dirty="0"/>
          </a:p>
        </p:txBody>
      </p:sp>
      <p:sp>
        <p:nvSpPr>
          <p:cNvPr id="9" name="Text 7"/>
          <p:cNvSpPr txBox="1"/>
          <p:nvPr/>
        </p:nvSpPr>
        <p:spPr>
          <a:xfrm>
            <a:off x="8275320" y="2103120"/>
            <a:ext cx="3136392" cy="36576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rPr>
              <a:t>손실 함수는 순수 함수로 분리</a:t>
            </a:r>
            <a:endParaRPr lang="en-US" sz="1400" dirty="0"/>
          </a:p>
          <a:p>
            <a:pPr marL="228600" indent="-228600">
              <a:spcAft>
                <a:spcPts val="800"/>
              </a:spcAft>
              <a:buSzPct val="100000"/>
              <a:buChar char="•"/>
            </a:pPr>
            <a:r>
              <a:rPr lang="en-US" sz="1400" dirty="0">
                <a:solidFill>
                  <a:srgbClr val="1F2933"/>
                </a:solidFill>
              </a:rPr>
              <a:t>닫힌 형태는 전수 계산과 대조</a:t>
            </a:r>
            <a:endParaRPr lang="en-US" sz="1400" dirty="0"/>
          </a:p>
          <a:p>
            <a:pPr marL="228600" indent="-228600">
              <a:spcAft>
                <a:spcPts val="800"/>
              </a:spcAft>
              <a:buSzPct val="100000"/>
              <a:buChar char="•"/>
            </a:pPr>
            <a:r>
              <a:rPr lang="en-US" sz="1400" dirty="0">
                <a:solidFill>
                  <a:srgbClr val="1F2933"/>
                </a:solidFill>
              </a:rPr>
              <a:t>모든 실행을 JSON으로 캐시</a:t>
            </a:r>
            <a:endParaRPr lang="en-US" sz="1400" dirty="0"/>
          </a:p>
          <a:p>
            <a:pPr marL="228600" indent="-228600">
              <a:spcAft>
                <a:spcPts val="800"/>
              </a:spcAft>
              <a:buSzPct val="100000"/>
              <a:buChar char="•"/>
            </a:pPr>
            <a:r>
              <a:rPr lang="en-US" sz="1400" dirty="0">
                <a:solidFill>
                  <a:srgbClr val="1F2933"/>
                </a:solidFill>
              </a:rPr>
              <a:t>의존성 최소화 (torch, numpy)</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구현 ①: 명제 규칙의 코드화 (CNF)</a:t>
            </a:r>
            <a:endParaRPr lang="en-US" sz="3000" dirty="0"/>
          </a:p>
        </p:txBody>
      </p:sp>
      <p:sp>
        <p:nvSpPr>
          <p:cNvPr id="3" name="code-panel"/>
          <p:cNvSpPr/>
          <p:nvPr/>
        </p:nvSpPr>
        <p:spPr>
          <a:xfrm>
            <a:off x="548640" y="1325880"/>
            <a:ext cx="11094415" cy="4617720"/>
          </a:xfrm>
          <a:prstGeom prst="roundRect">
            <a:avLst>
              <a:gd name="adj" fmla="val 1980"/>
            </a:avLst>
          </a:prstGeom>
          <a:solidFill>
            <a:srgbClr val="1B2430"/>
          </a:solidFill>
          <a:ln w="12700">
            <a:solidFill>
              <a:srgbClr val="1B2430"/>
            </a:solidFill>
            <a:prstDash val="solid"/>
          </a:ln>
        </p:spPr>
      </p:sp>
      <p:sp>
        <p:nvSpPr>
          <p:cNvPr id="4" name="Text 2"/>
          <p:cNvSpPr txBox="1"/>
          <p:nvPr/>
        </p:nvSpPr>
        <p:spPr>
          <a:xfrm>
            <a:off x="822960" y="1463040"/>
            <a:ext cx="10545775" cy="274320"/>
          </a:xfrm>
          <a:prstGeom prst="rect">
            <a:avLst/>
          </a:prstGeom>
          <a:noFill/>
          <a:ln/>
        </p:spPr>
        <p:txBody>
          <a:bodyPr wrap="square" lIns="0" tIns="0" rIns="0" bIns="0" rtlCol="0" anchor="ctr"/>
          <a:lstStyle/>
          <a:p>
            <a:pPr indent="0" marL="0">
              <a:buNone/>
            </a:pPr>
            <a:r>
              <a:rPr lang="en-US" sz="1100" dirty="0">
                <a:solidFill>
                  <a:srgbClr val="8B98A5"/>
                </a:solidFill>
                <a:latin typeface="Consolas" pitchFamily="34" charset="0"/>
                <a:ea typeface="Consolas" pitchFamily="34" charset="-122"/>
                <a:cs typeface="Consolas" pitchFamily="34" charset="-120"/>
              </a:rPr>
              <a:t>semloss/losses.py</a:t>
            </a:r>
            <a:endParaRPr lang="en-US" sz="1100" dirty="0"/>
          </a:p>
        </p:txBody>
      </p:sp>
      <p:sp>
        <p:nvSpPr>
          <p:cNvPr id="5" name="code"/>
          <p:cNvSpPr txBox="1"/>
          <p:nvPr/>
        </p:nvSpPr>
        <p:spPr>
          <a:xfrm>
            <a:off x="822960" y="1783080"/>
            <a:ext cx="10545775" cy="4023360"/>
          </a:xfrm>
          <a:prstGeom prst="rect">
            <a:avLst/>
          </a:prstGeom>
          <a:noFill/>
          <a:ln/>
        </p:spPr>
        <p:txBody>
          <a:bodyPr wrap="square" lIns="0" tIns="0" rIns="0" bIns="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def</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82AAFF"/>
                </a:solidFill>
                <a:latin typeface="Consolas" pitchFamily="34" charset="0"/>
                <a:ea typeface="Consolas" pitchFamily="34" charset="-122"/>
                <a:cs typeface="Consolas" pitchFamily="34" charset="-120"/>
              </a:rPr>
              <a:t>exactly_one_cnf</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vars_</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A5D6A7"/>
                </a:solidFill>
                <a:latin typeface="Consolas" pitchFamily="34" charset="0"/>
                <a:ea typeface="Consolas" pitchFamily="34" charset="-122"/>
                <a:cs typeface="Consolas" pitchFamily="34" charset="-120"/>
              </a:rPr>
              <a:t>"""CNF clauses for exactly-one over the given 1-based variable ids."""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clauses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list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vars_</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7F8C9A"/>
                </a:solidFill>
                <a:latin typeface="Consolas" pitchFamily="34" charset="0"/>
                <a:ea typeface="Consolas" pitchFamily="34" charset="-122"/>
                <a:cs typeface="Consolas" pitchFamily="34" charset="-120"/>
              </a:rPr>
              <a:t># at least one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clauses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b</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for</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b</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in</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itertools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combinations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vars_</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2</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7F8C9A"/>
                </a:solidFill>
                <a:latin typeface="Consolas" pitchFamily="34" charset="0"/>
                <a:ea typeface="Consolas" pitchFamily="34" charset="-122"/>
                <a:cs typeface="Consolas" pitchFamily="34" charset="-120"/>
              </a:rPr>
              <a:t># at most one</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clauses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def</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82AAFF"/>
                </a:solidFill>
                <a:latin typeface="Consolas" pitchFamily="34" charset="0"/>
                <a:ea typeface="Consolas" pitchFamily="34" charset="-122"/>
                <a:cs typeface="Consolas" pitchFamily="34" charset="-120"/>
              </a:rPr>
              <a:t>hierarchy_cnf</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n_coarse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A5D6A7"/>
                </a:solidFill>
                <a:latin typeface="Consolas" pitchFamily="34" charset="0"/>
                <a:ea typeface="Consolas" pitchFamily="34" charset="-122"/>
                <a:cs typeface="Consolas" pitchFamily="34" charset="-120"/>
              </a:rPr>
              <a:t>"""CNF for the hierarchy constraint; fine vars are 1..F, coarse vars F+1..F+C."""</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n_fine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len</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fine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list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range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n_fine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coarse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list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range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n_fine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n_fine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n_coarse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clauses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exactly_one_cnf</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fine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exactly_one_cnf</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coarse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clauses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i</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n_fine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int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i</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for</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i</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in</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range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n_fine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7F8C9A"/>
                </a:solidFill>
                <a:latin typeface="Consolas" pitchFamily="34" charset="0"/>
                <a:ea typeface="Consolas" pitchFamily="34" charset="-122"/>
                <a:cs typeface="Consolas" pitchFamily="34" charset="-120"/>
              </a:rPr>
              <a:t># f_i -&gt; c_par(i)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clauses</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PENGUIN_CNF</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3</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3</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2</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7F8C9A"/>
                </a:solidFill>
                <a:latin typeface="Consolas" pitchFamily="34" charset="0"/>
                <a:ea typeface="Consolas" pitchFamily="34" charset="-122"/>
                <a:cs typeface="Consolas" pitchFamily="34" charset="-120"/>
              </a:rPr>
              <a:t># 1=B, 2=F, 3=P : (¬P ∨ B) ∧ (¬P ∨ ¬F)</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구현 ②: 정의 그대로 — 전수 가중 모델 카운팅</a:t>
            </a:r>
            <a:endParaRPr lang="en-US" sz="3000" dirty="0"/>
          </a:p>
        </p:txBody>
      </p:sp>
      <p:sp>
        <p:nvSpPr>
          <p:cNvPr id="3" name="code-panel"/>
          <p:cNvSpPr/>
          <p:nvPr/>
        </p:nvSpPr>
        <p:spPr>
          <a:xfrm>
            <a:off x="548640" y="1325880"/>
            <a:ext cx="11094415" cy="4617720"/>
          </a:xfrm>
          <a:prstGeom prst="roundRect">
            <a:avLst>
              <a:gd name="adj" fmla="val 1980"/>
            </a:avLst>
          </a:prstGeom>
          <a:solidFill>
            <a:srgbClr val="1B2430"/>
          </a:solidFill>
          <a:ln w="12700">
            <a:solidFill>
              <a:srgbClr val="1B2430"/>
            </a:solidFill>
            <a:prstDash val="solid"/>
          </a:ln>
        </p:spPr>
      </p:sp>
      <p:sp>
        <p:nvSpPr>
          <p:cNvPr id="4" name="Text 2"/>
          <p:cNvSpPr txBox="1"/>
          <p:nvPr/>
        </p:nvSpPr>
        <p:spPr>
          <a:xfrm>
            <a:off x="822960" y="1463040"/>
            <a:ext cx="10545775" cy="274320"/>
          </a:xfrm>
          <a:prstGeom prst="rect">
            <a:avLst/>
          </a:prstGeom>
          <a:noFill/>
          <a:ln/>
        </p:spPr>
        <p:txBody>
          <a:bodyPr wrap="square" lIns="0" tIns="0" rIns="0" bIns="0" rtlCol="0" anchor="ctr"/>
          <a:lstStyle/>
          <a:p>
            <a:pPr indent="0" marL="0">
              <a:buNone/>
            </a:pPr>
            <a:r>
              <a:rPr lang="en-US" sz="1100" dirty="0">
                <a:solidFill>
                  <a:srgbClr val="8B98A5"/>
                </a:solidFill>
                <a:latin typeface="Consolas" pitchFamily="34" charset="0"/>
                <a:ea typeface="Consolas" pitchFamily="34" charset="-122"/>
                <a:cs typeface="Consolas" pitchFamily="34" charset="-120"/>
              </a:rPr>
              <a:t>semloss/losses.py · 기준 구현</a:t>
            </a:r>
            <a:endParaRPr lang="en-US" sz="1100" dirty="0"/>
          </a:p>
        </p:txBody>
      </p:sp>
      <p:sp>
        <p:nvSpPr>
          <p:cNvPr id="5" name="code"/>
          <p:cNvSpPr txBox="1"/>
          <p:nvPr/>
        </p:nvSpPr>
        <p:spPr>
          <a:xfrm>
            <a:off x="822960" y="1783080"/>
            <a:ext cx="10545775" cy="4023360"/>
          </a:xfrm>
          <a:prstGeom prst="rect">
            <a:avLst/>
          </a:prstGeom>
          <a:noFill/>
          <a:ln/>
        </p:spPr>
        <p:txBody>
          <a:bodyPr wrap="square" lIns="0" tIns="0" rIns="0" bIns="0" rtlCol="0" anchor="t"/>
          <a:lstStyle/>
          <a:p>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def</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82AAFF"/>
                </a:solidFill>
                <a:latin typeface="Consolas" pitchFamily="34" charset="0"/>
                <a:ea typeface="Consolas" pitchFamily="34" charset="-122"/>
                <a:cs typeface="Consolas" pitchFamily="34" charset="-120"/>
              </a:rPr>
              <a:t>wmc_bruteforce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probs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clauses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A5D6A7"/>
                </a:solidFill>
                <a:latin typeface="Consolas" pitchFamily="34" charset="0"/>
                <a:ea typeface="Consolas" pitchFamily="34" charset="-122"/>
                <a:cs typeface="Consolas" pitchFamily="34" charset="-120"/>
              </a:rPr>
              <a:t>"""Pr(alpha) by enumerating all 2^n worlds (reference implementation, small n only)."""</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n</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probs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shape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total</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probs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new_zeros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probs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shape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for</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world</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in</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itertools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product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0</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repeat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n</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7F8C9A"/>
                </a:solidFill>
                <a:latin typeface="Consolas" pitchFamily="34" charset="0"/>
                <a:ea typeface="Consolas" pitchFamily="34" charset="-122"/>
                <a:cs typeface="Consolas" pitchFamily="34" charset="-120"/>
              </a:rPr>
              <a:t># x |= alpha : every clause has at least one true literal</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if</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all</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any</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lit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&gt;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0</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bool</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world</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abs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lit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for</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lit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in</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clause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for</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clause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in</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clauses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w</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tensor</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world</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dtype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bool</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device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probs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device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7F8C9A"/>
                </a:solidFill>
                <a:latin typeface="Consolas" pitchFamily="34" charset="0"/>
                <a:ea typeface="Consolas" pitchFamily="34" charset="-122"/>
                <a:cs typeface="Consolas" pitchFamily="34" charset="-120"/>
              </a:rPr>
              <a:t># prod_i p_i^{x_i} (1 - p_i)^{1 - x_i}</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total</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total</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prod</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where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w</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probs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probs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dim</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return</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total</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probs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tensor</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0.9</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0.8</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F7A072"/>
                </a:solidFill>
                <a:latin typeface="Consolas" pitchFamily="34" charset="0"/>
                <a:ea typeface="Consolas" pitchFamily="34" charset="-122"/>
                <a:cs typeface="Consolas" pitchFamily="34" charset="-120"/>
              </a:rPr>
              <a:t>0.8</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requires_grad</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C792EA"/>
                </a:solidFill>
                <a:latin typeface="Consolas" pitchFamily="34" charset="0"/>
                <a:ea typeface="Consolas" pitchFamily="34" charset="-122"/>
                <a:cs typeface="Consolas" pitchFamily="34" charset="-120"/>
              </a:rPr>
              <a:t>True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pr</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wmc_bruteforce</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probs</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PENGUIN_CNF</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7F8C9A"/>
                </a:solidFill>
                <a:latin typeface="Consolas" pitchFamily="34" charset="0"/>
                <a:ea typeface="Consolas" pitchFamily="34" charset="-122"/>
                <a:cs typeface="Consolas" pitchFamily="34" charset="-120"/>
              </a:rPr>
              <a:t># 0.344</a:t>
            </a:r>
            <a:endParaRPr lang="en-US" sz="1300" dirty="0"/>
          </a:p>
          <a:p>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pr</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backward</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3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300" dirty="0">
                <a:solidFill>
                  <a:srgbClr val="7F8C9A"/>
                </a:solidFill>
                <a:latin typeface="Consolas" pitchFamily="34" charset="0"/>
                <a:ea typeface="Consolas" pitchFamily="34" charset="-122"/>
                <a:cs typeface="Consolas" pitchFamily="34" charset="-120"/>
              </a:rPr>
              <a:t># probs.grad = (0.16, -0.72, -0.82)</a:t>
            </a:r>
            <a:endParaRPr lang="en-US" sz="13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구현 ③: 닫힌 형태 — 학습에 쓰는 손실</a:t>
            </a:r>
            <a:endParaRPr lang="en-US" sz="3000" dirty="0"/>
          </a:p>
        </p:txBody>
      </p:sp>
      <p:sp>
        <p:nvSpPr>
          <p:cNvPr id="3" name="code-panel"/>
          <p:cNvSpPr/>
          <p:nvPr/>
        </p:nvSpPr>
        <p:spPr>
          <a:xfrm>
            <a:off x="548640" y="1325880"/>
            <a:ext cx="7589520" cy="4617720"/>
          </a:xfrm>
          <a:prstGeom prst="roundRect">
            <a:avLst>
              <a:gd name="adj" fmla="val 1980"/>
            </a:avLst>
          </a:prstGeom>
          <a:solidFill>
            <a:srgbClr val="1B2430"/>
          </a:solidFill>
          <a:ln w="12700">
            <a:solidFill>
              <a:srgbClr val="1B2430"/>
            </a:solidFill>
            <a:prstDash val="solid"/>
          </a:ln>
        </p:spPr>
      </p:sp>
      <p:sp>
        <p:nvSpPr>
          <p:cNvPr id="4" name="Text 2"/>
          <p:cNvSpPr txBox="1"/>
          <p:nvPr/>
        </p:nvSpPr>
        <p:spPr>
          <a:xfrm>
            <a:off x="822960" y="1463040"/>
            <a:ext cx="7040880" cy="274320"/>
          </a:xfrm>
          <a:prstGeom prst="rect">
            <a:avLst/>
          </a:prstGeom>
          <a:noFill/>
          <a:ln/>
        </p:spPr>
        <p:txBody>
          <a:bodyPr wrap="square" lIns="0" tIns="0" rIns="0" bIns="0" rtlCol="0" anchor="ctr"/>
          <a:lstStyle/>
          <a:p>
            <a:pPr indent="0" marL="0">
              <a:buNone/>
            </a:pPr>
            <a:r>
              <a:rPr lang="en-US" sz="1100" dirty="0">
                <a:solidFill>
                  <a:srgbClr val="8B98A5"/>
                </a:solidFill>
                <a:latin typeface="Consolas" pitchFamily="34" charset="0"/>
                <a:ea typeface="Consolas" pitchFamily="34" charset="-122"/>
                <a:cs typeface="Consolas" pitchFamily="34" charset="-120"/>
              </a:rPr>
              <a:t>semloss/losses.py · 학습용</a:t>
            </a:r>
            <a:endParaRPr lang="en-US" sz="1100" dirty="0"/>
          </a:p>
        </p:txBody>
      </p:sp>
      <p:sp>
        <p:nvSpPr>
          <p:cNvPr id="5" name="code"/>
          <p:cNvSpPr txBox="1"/>
          <p:nvPr/>
        </p:nvSpPr>
        <p:spPr>
          <a:xfrm>
            <a:off x="822960" y="1783080"/>
            <a:ext cx="7040880" cy="4023360"/>
          </a:xfrm>
          <a:prstGeom prst="rect">
            <a:avLst/>
          </a:prstGeom>
          <a:noFill/>
          <a:ln/>
        </p:spPr>
        <p:txBody>
          <a:bodyPr wrap="square" lIns="0" tIns="0" rIns="0" bIns="0" rtlCol="0" anchor="t"/>
          <a:lstStyle/>
          <a:p>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def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82AAFF"/>
                </a:solidFill>
                <a:latin typeface="Consolas" pitchFamily="34" charset="0"/>
                <a:ea typeface="Consolas" pitchFamily="34" charset="-122"/>
                <a:cs typeface="Consolas" pitchFamily="34" charset="-120"/>
              </a:rPr>
              <a:t>exactly_one_log_prob</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A5D6A7"/>
                </a:solidFill>
                <a:latin typeface="Consolas" pitchFamily="34" charset="0"/>
                <a:ea typeface="Consolas" pitchFamily="34" charset="-122"/>
                <a:cs typeface="Consolas" pitchFamily="34" charset="-120"/>
              </a:rPr>
              <a:t>"""log Pr(exactly one X_i is true) = logsumexp(x) - sum softplus(x)."""</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return</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logsumexp</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dim</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softplus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sum</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dim</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def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82AAFF"/>
                </a:solidFill>
                <a:latin typeface="Consolas" pitchFamily="34" charset="0"/>
                <a:ea typeface="Consolas" pitchFamily="34" charset="-122"/>
                <a:cs typeface="Consolas" pitchFamily="34" charset="-120"/>
              </a:rPr>
              <a:t>hierarchy_log_prob</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fine_logits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coarse_logits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A5D6A7"/>
                </a:solidFill>
                <a:latin typeface="Consolas" pitchFamily="34" charset="0"/>
                <a:ea typeface="Consolas" pitchFamily="34" charset="-122"/>
                <a:cs typeface="Consolas" pitchFamily="34" charset="-120"/>
              </a:rPr>
              <a:t>"""log Pr(EO(fine) &amp; EO(coarse) &amp; AND_i (fine_i -&gt; coarse_parent(i)))."""</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joint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fine_logits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coarse_logits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f_i + c_par(i)</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return</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logsumexp</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joint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dim</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softplus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fine_logits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sum</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dim</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softplus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coarse_logits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sum</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dim</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def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82AAFF"/>
                </a:solidFill>
                <a:latin typeface="Consolas" pitchFamily="34" charset="0"/>
                <a:ea typeface="Consolas" pitchFamily="34" charset="-122"/>
                <a:cs typeface="Consolas" pitchFamily="34" charset="-120"/>
              </a:rPr>
              <a:t>hierarchy_semantic_loss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fine_logits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coarse_logits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A5D6A7"/>
                </a:solidFill>
                <a:latin typeface="Consolas" pitchFamily="34" charset="0"/>
                <a:ea typeface="Consolas" pitchFamily="34" charset="-122"/>
                <a:cs typeface="Consolas" pitchFamily="34" charset="-120"/>
              </a:rPr>
              <a:t>"""Batch mean of -log Pr(alpha)."""</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return</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hierarchy_log_prob</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fine_logits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coarse_logits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mean</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p:txBody>
      </p:sp>
      <p:sp>
        <p:nvSpPr>
          <p:cNvPr id="6" name="card"/>
          <p:cNvSpPr/>
          <p:nvPr/>
        </p:nvSpPr>
        <p:spPr>
          <a:xfrm>
            <a:off x="8412480" y="1325880"/>
            <a:ext cx="3227832" cy="4617720"/>
          </a:xfrm>
          <a:prstGeom prst="roundRect">
            <a:avLst>
              <a:gd name="adj" fmla="val 3399"/>
            </a:avLst>
          </a:prstGeom>
          <a:solidFill>
            <a:srgbClr val="FDEEE6"/>
          </a:solidFill>
          <a:ln w="12700">
            <a:solidFill>
              <a:srgbClr val="FDEEE6"/>
            </a:solidFill>
            <a:prstDash val="solid"/>
          </a:ln>
        </p:spPr>
      </p:sp>
      <p:sp>
        <p:nvSpPr>
          <p:cNvPr id="7" name="tag"/>
          <p:cNvSpPr/>
          <p:nvPr/>
        </p:nvSpPr>
        <p:spPr>
          <a:xfrm>
            <a:off x="8641080" y="1554480"/>
            <a:ext cx="384048" cy="384048"/>
          </a:xfrm>
          <a:prstGeom prst="ellipse">
            <a:avLst/>
          </a:prstGeom>
          <a:solidFill>
            <a:srgbClr val="EB6834"/>
          </a:solidFill>
          <a:ln w="12700">
            <a:solidFill>
              <a:srgbClr val="EB6834"/>
            </a:solidFill>
            <a:prstDash val="solid"/>
          </a:ln>
        </p:spPr>
      </p:sp>
      <p:sp>
        <p:nvSpPr>
          <p:cNvPr id="8" name="Text 6"/>
          <p:cNvSpPr txBox="1"/>
          <p:nvPr/>
        </p:nvSpPr>
        <p:spPr>
          <a:xfrm>
            <a:off x="8641080"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9" name="Text 7"/>
          <p:cNvSpPr txBox="1"/>
          <p:nvPr/>
        </p:nvSpPr>
        <p:spPr>
          <a:xfrm>
            <a:off x="9144000" y="1527048"/>
            <a:ext cx="2313432" cy="438912"/>
          </a:xfrm>
          <a:prstGeom prst="rect">
            <a:avLst/>
          </a:prstGeom>
          <a:noFill/>
          <a:ln/>
        </p:spPr>
        <p:txBody>
          <a:bodyPr wrap="square" lIns="0" tIns="0" rIns="0" bIns="0" rtlCol="0" anchor="ctr"/>
          <a:lstStyle/>
          <a:p>
            <a:pPr indent="0" marL="0">
              <a:buNone/>
            </a:pPr>
            <a:r>
              <a:rPr lang="en-US" sz="1800" b="1" dirty="0">
                <a:solidFill>
                  <a:srgbClr val="1F2933"/>
                </a:solidFill>
              </a:rPr>
              <a:t>수식 ↔ 코드</a:t>
            </a:r>
            <a:endParaRPr lang="en-US" sz="1800" dirty="0"/>
          </a:p>
        </p:txBody>
      </p:sp>
      <p:sp>
        <p:nvSpPr>
          <p:cNvPr id="10" name="Text 8"/>
          <p:cNvSpPr txBox="1"/>
          <p:nvPr/>
        </p:nvSpPr>
        <p:spPr>
          <a:xfrm>
            <a:off x="8641080" y="2057400"/>
            <a:ext cx="2770632" cy="37490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rPr>
              <a:t>fᵢ + c_par(i) ↔ joint</a:t>
            </a:r>
            <a:endParaRPr lang="en-US" sz="1400" dirty="0"/>
          </a:p>
          <a:p>
            <a:pPr marL="228600" indent="-228600">
              <a:spcAft>
                <a:spcPts val="800"/>
              </a:spcAft>
              <a:buSzPct val="100000"/>
              <a:buChar char="•"/>
            </a:pPr>
            <a:r>
              <a:rPr lang="en-US" sz="1400" dirty="0">
                <a:solidFill>
                  <a:srgbClr val="1F2933"/>
                </a:solidFill>
              </a:rPr>
              <a:t>logsumexpᵢ ↔ torch.logsumexp</a:t>
            </a:r>
            <a:endParaRPr lang="en-US" sz="1400" dirty="0"/>
          </a:p>
          <a:p>
            <a:pPr marL="228600" indent="-228600">
              <a:spcAft>
                <a:spcPts val="800"/>
              </a:spcAft>
              <a:buSzPct val="100000"/>
              <a:buChar char="•"/>
            </a:pPr>
            <a:r>
              <a:rPr lang="en-US" sz="1400" dirty="0">
                <a:solidFill>
                  <a:srgbClr val="1F2933"/>
                </a:solidFill>
              </a:rPr>
              <a:t>Σ softplus ↔ F.softplus().sum</a:t>
            </a:r>
            <a:endParaRPr lang="en-US" sz="1400" dirty="0"/>
          </a:p>
          <a:p>
            <a:pPr marL="228600" indent="-228600">
              <a:spcAft>
                <a:spcPts val="800"/>
              </a:spcAft>
              <a:buSzPct val="100000"/>
              <a:buChar char="•"/>
            </a:pPr>
            <a:r>
              <a:rPr lang="en-US" sz="1400" dirty="0">
                <a:solidFill>
                  <a:srgbClr val="1F2933"/>
                </a:solidFill>
              </a:rPr>
              <a:t>연산량 O(B·120), CE 수준</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구현 ④: 닫힌 형태를 믿어도 되는가 — 테스트</a:t>
            </a:r>
            <a:endParaRPr lang="en-US" sz="3000" dirty="0"/>
          </a:p>
        </p:txBody>
      </p:sp>
      <p:sp>
        <p:nvSpPr>
          <p:cNvPr id="3" name="code-panel"/>
          <p:cNvSpPr/>
          <p:nvPr/>
        </p:nvSpPr>
        <p:spPr>
          <a:xfrm>
            <a:off x="548640" y="1325880"/>
            <a:ext cx="7589520" cy="4617720"/>
          </a:xfrm>
          <a:prstGeom prst="roundRect">
            <a:avLst>
              <a:gd name="adj" fmla="val 1980"/>
            </a:avLst>
          </a:prstGeom>
          <a:solidFill>
            <a:srgbClr val="1B2430"/>
          </a:solidFill>
          <a:ln w="12700">
            <a:solidFill>
              <a:srgbClr val="1B2430"/>
            </a:solidFill>
            <a:prstDash val="solid"/>
          </a:ln>
        </p:spPr>
      </p:sp>
      <p:sp>
        <p:nvSpPr>
          <p:cNvPr id="4" name="Text 2"/>
          <p:cNvSpPr txBox="1"/>
          <p:nvPr/>
        </p:nvSpPr>
        <p:spPr>
          <a:xfrm>
            <a:off x="822960" y="1463040"/>
            <a:ext cx="7040880" cy="274320"/>
          </a:xfrm>
          <a:prstGeom prst="rect">
            <a:avLst/>
          </a:prstGeom>
          <a:noFill/>
          <a:ln/>
        </p:spPr>
        <p:txBody>
          <a:bodyPr wrap="square" lIns="0" tIns="0" rIns="0" bIns="0" rtlCol="0" anchor="ctr"/>
          <a:lstStyle/>
          <a:p>
            <a:pPr indent="0" marL="0">
              <a:buNone/>
            </a:pPr>
            <a:r>
              <a:rPr lang="en-US" sz="1100" dirty="0">
                <a:solidFill>
                  <a:srgbClr val="8B98A5"/>
                </a:solidFill>
                <a:latin typeface="Consolas" pitchFamily="34" charset="0"/>
                <a:ea typeface="Consolas" pitchFamily="34" charset="-122"/>
                <a:cs typeface="Consolas" pitchFamily="34" charset="-120"/>
              </a:rPr>
              <a:t>tests/test_losses.py</a:t>
            </a:r>
            <a:endParaRPr lang="en-US" sz="1100" dirty="0"/>
          </a:p>
        </p:txBody>
      </p:sp>
      <p:sp>
        <p:nvSpPr>
          <p:cNvPr id="5" name="code"/>
          <p:cNvSpPr txBox="1"/>
          <p:nvPr/>
        </p:nvSpPr>
        <p:spPr>
          <a:xfrm>
            <a:off x="822960" y="1783080"/>
            <a:ext cx="7040880" cy="4023360"/>
          </a:xfrm>
          <a:prstGeom prst="rect">
            <a:avLst/>
          </a:prstGeom>
          <a:noFill/>
          <a:ln/>
        </p:spPr>
        <p:txBody>
          <a:bodyPr wrap="square" lIns="0" tIns="0" rIns="0" bIns="0" rtlCol="0" anchor="t"/>
          <a:lstStyle/>
          <a:p>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def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82AAFF"/>
                </a:solidFill>
                <a:latin typeface="Consolas" pitchFamily="34" charset="0"/>
                <a:ea typeface="Consolas" pitchFamily="34" charset="-122"/>
                <a:cs typeface="Consolas" pitchFamily="34" charset="-120"/>
              </a:rPr>
              <a:t>test_hierarchy_closed_form_matches_bruteforce</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manual_seed</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0</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tensor</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0</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0</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2</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5 fine, 3 coarse</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cnf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hierarchy_cnf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3</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randn</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4</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8</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dtype</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float64</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2</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5</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5</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brute</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wmc_bruteforce</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sigmoid</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cnf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2^8 worlds</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closed</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hierarchy_log_prob</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exp</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assert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allclose</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closed</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brute</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rtol</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1e-10</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def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82AAFF"/>
                </a:solidFill>
                <a:latin typeface="Consolas" pitchFamily="34" charset="0"/>
                <a:ea typeface="Consolas" pitchFamily="34" charset="-122"/>
                <a:cs typeface="Consolas" pitchFamily="34" charset="-120"/>
              </a:rPr>
              <a:t>test_hierarchy_log_prob_is_stable_for_large_logits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full</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2</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100</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40.0</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full</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2</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20</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40.0</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7</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40.0</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40.0</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parent(7) == 1</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assert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hierarchy_log_prob</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abs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max</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1e-6</a:t>
            </a:r>
            <a:endParaRPr lang="en-US" sz="1250" dirty="0"/>
          </a:p>
        </p:txBody>
      </p:sp>
      <p:sp>
        <p:nvSpPr>
          <p:cNvPr id="6" name="card"/>
          <p:cNvSpPr/>
          <p:nvPr/>
        </p:nvSpPr>
        <p:spPr>
          <a:xfrm>
            <a:off x="8412480" y="1325880"/>
            <a:ext cx="3227832" cy="4617720"/>
          </a:xfrm>
          <a:prstGeom prst="roundRect">
            <a:avLst>
              <a:gd name="adj" fmla="val 3399"/>
            </a:avLst>
          </a:prstGeom>
          <a:solidFill>
            <a:srgbClr val="F1F4F8"/>
          </a:solidFill>
          <a:ln w="12700">
            <a:solidFill>
              <a:srgbClr val="F1F4F8"/>
            </a:solidFill>
            <a:prstDash val="solid"/>
          </a:ln>
        </p:spPr>
      </p:sp>
      <p:sp>
        <p:nvSpPr>
          <p:cNvPr id="7" name="tag"/>
          <p:cNvSpPr/>
          <p:nvPr/>
        </p:nvSpPr>
        <p:spPr>
          <a:xfrm>
            <a:off x="8641080" y="1554480"/>
            <a:ext cx="384048" cy="384048"/>
          </a:xfrm>
          <a:prstGeom prst="ellipse">
            <a:avLst/>
          </a:prstGeom>
          <a:solidFill>
            <a:srgbClr val="1BAF7A"/>
          </a:solidFill>
          <a:ln w="12700">
            <a:solidFill>
              <a:srgbClr val="1BAF7A"/>
            </a:solidFill>
            <a:prstDash val="solid"/>
          </a:ln>
        </p:spPr>
      </p:sp>
      <p:sp>
        <p:nvSpPr>
          <p:cNvPr id="8" name="Text 6"/>
          <p:cNvSpPr txBox="1"/>
          <p:nvPr/>
        </p:nvSpPr>
        <p:spPr>
          <a:xfrm>
            <a:off x="8641080"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t>
            </a:r>
            <a:endParaRPr lang="en-US" sz="1300" dirty="0"/>
          </a:p>
        </p:txBody>
      </p:sp>
      <p:sp>
        <p:nvSpPr>
          <p:cNvPr id="9" name="Text 7"/>
          <p:cNvSpPr txBox="1"/>
          <p:nvPr/>
        </p:nvSpPr>
        <p:spPr>
          <a:xfrm>
            <a:off x="9144000" y="1527048"/>
            <a:ext cx="2313432" cy="438912"/>
          </a:xfrm>
          <a:prstGeom prst="rect">
            <a:avLst/>
          </a:prstGeom>
          <a:noFill/>
          <a:ln/>
        </p:spPr>
        <p:txBody>
          <a:bodyPr wrap="square" lIns="0" tIns="0" rIns="0" bIns="0" rtlCol="0" anchor="ctr"/>
          <a:lstStyle/>
          <a:p>
            <a:pPr indent="0" marL="0">
              <a:buNone/>
            </a:pPr>
            <a:r>
              <a:rPr lang="en-US" sz="1800" b="1" dirty="0">
                <a:solidFill>
                  <a:srgbClr val="1F2933"/>
                </a:solidFill>
              </a:rPr>
              <a:t>6 passed</a:t>
            </a:r>
            <a:endParaRPr lang="en-US" sz="1800" dirty="0"/>
          </a:p>
        </p:txBody>
      </p:sp>
      <p:sp>
        <p:nvSpPr>
          <p:cNvPr id="10" name="Text 8"/>
          <p:cNvSpPr txBox="1"/>
          <p:nvPr/>
        </p:nvSpPr>
        <p:spPr>
          <a:xfrm>
            <a:off x="8641080" y="2057400"/>
            <a:ext cx="2770632" cy="37490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rPr>
              <a:t>논문 표 3행 (exactly-one)</a:t>
            </a:r>
            <a:endParaRPr lang="en-US" sz="1400" dirty="0"/>
          </a:p>
          <a:p>
            <a:pPr marL="228600" indent="-228600">
              <a:spcAft>
                <a:spcPts val="800"/>
              </a:spcAft>
              <a:buSzPct val="100000"/>
              <a:buChar char="•"/>
            </a:pPr>
            <a:r>
              <a:rPr lang="en-US" sz="1400" dirty="0">
                <a:solidFill>
                  <a:srgbClr val="1F2933"/>
                </a:solidFill>
              </a:rPr>
              <a:t>펭귄: Pr = 0.344, ∇ = (0.16, −0.72, −0.82)</a:t>
            </a:r>
            <a:endParaRPr lang="en-US" sz="1400" dirty="0"/>
          </a:p>
          <a:p>
            <a:pPr marL="228600" indent="-228600">
              <a:spcAft>
                <a:spcPts val="800"/>
              </a:spcAft>
              <a:buSzPct val="100000"/>
              <a:buChar char="•"/>
            </a:pPr>
            <a:r>
              <a:rPr lang="en-US" sz="1400" dirty="0">
                <a:solidFill>
                  <a:srgbClr val="1F2933"/>
                </a:solidFill>
              </a:rPr>
              <a:t>계층 닫힌 형태 = 전수 계산</a:t>
            </a:r>
            <a:endParaRPr lang="en-US" sz="1400" dirty="0"/>
          </a:p>
          <a:p>
            <a:pPr marL="228600" indent="-228600">
              <a:spcAft>
                <a:spcPts val="800"/>
              </a:spcAft>
              <a:buSzPct val="100000"/>
              <a:buChar char="•"/>
            </a:pPr>
            <a:r>
              <a:rPr lang="en-US" sz="1400" dirty="0">
                <a:solidFill>
                  <a:srgbClr val="1F2933"/>
                </a:solidFill>
              </a:rPr>
              <a:t>로짓 ±40에서도 유한·정확</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구현 ⑤: 학습 루프의 핵심</a:t>
            </a:r>
            <a:endParaRPr lang="en-US" sz="3000" dirty="0"/>
          </a:p>
        </p:txBody>
      </p:sp>
      <p:sp>
        <p:nvSpPr>
          <p:cNvPr id="3" name="code-panel"/>
          <p:cNvSpPr/>
          <p:nvPr/>
        </p:nvSpPr>
        <p:spPr>
          <a:xfrm>
            <a:off x="548640" y="1325880"/>
            <a:ext cx="11094415" cy="4617720"/>
          </a:xfrm>
          <a:prstGeom prst="roundRect">
            <a:avLst>
              <a:gd name="adj" fmla="val 1980"/>
            </a:avLst>
          </a:prstGeom>
          <a:solidFill>
            <a:srgbClr val="1B2430"/>
          </a:solidFill>
          <a:ln w="12700">
            <a:solidFill>
              <a:srgbClr val="1B2430"/>
            </a:solidFill>
            <a:prstDash val="solid"/>
          </a:ln>
        </p:spPr>
      </p:sp>
      <p:sp>
        <p:nvSpPr>
          <p:cNvPr id="4" name="Text 2"/>
          <p:cNvSpPr txBox="1"/>
          <p:nvPr/>
        </p:nvSpPr>
        <p:spPr>
          <a:xfrm>
            <a:off x="822960" y="1463040"/>
            <a:ext cx="10545775" cy="274320"/>
          </a:xfrm>
          <a:prstGeom prst="rect">
            <a:avLst/>
          </a:prstGeom>
          <a:noFill/>
          <a:ln/>
        </p:spPr>
        <p:txBody>
          <a:bodyPr wrap="square" lIns="0" tIns="0" rIns="0" bIns="0" rtlCol="0" anchor="ctr"/>
          <a:lstStyle/>
          <a:p>
            <a:pPr indent="0" marL="0">
              <a:buNone/>
            </a:pPr>
            <a:r>
              <a:rPr lang="en-US" sz="1100" dirty="0">
                <a:solidFill>
                  <a:srgbClr val="8B98A5"/>
                </a:solidFill>
                <a:latin typeface="Consolas" pitchFamily="34" charset="0"/>
                <a:ea typeface="Consolas" pitchFamily="34" charset="-122"/>
                <a:cs typeface="Consolas" pitchFamily="34" charset="-120"/>
              </a:rPr>
              <a:t>semloss/train.py</a:t>
            </a:r>
            <a:endParaRPr lang="en-US" sz="1100" dirty="0"/>
          </a:p>
        </p:txBody>
      </p:sp>
      <p:sp>
        <p:nvSpPr>
          <p:cNvPr id="5" name="code"/>
          <p:cNvSpPr txBox="1"/>
          <p:nvPr/>
        </p:nvSpPr>
        <p:spPr>
          <a:xfrm>
            <a:off x="822960" y="1783080"/>
            <a:ext cx="10545775" cy="4023360"/>
          </a:xfrm>
          <a:prstGeom prst="rect">
            <a:avLst/>
          </a:prstGeom>
          <a:noFill/>
          <a:ln/>
        </p:spPr>
        <p:txBody>
          <a:bodyPr wrap="square" lIns="0" tIns="0" rIns="0" bIns="0" rtlCol="0" anchor="t"/>
          <a:lstStyle/>
          <a:p>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with</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autocast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device</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type</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dtype</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torch</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bfloat16</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model</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x</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float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losses in float32</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N_FINE</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logits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N_FINE</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has_f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b</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has_c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b</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label-availability masks</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masked means keep the graph static (no data-dependent branching / sync)</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ce_f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cross_entropy</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f_tr</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b</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reduction</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A5D6A7"/>
                </a:solidFill>
                <a:latin typeface="Consolas" pitchFamily="34" charset="0"/>
                <a:ea typeface="Consolas" pitchFamily="34" charset="-122"/>
                <a:cs typeface="Consolas" pitchFamily="34" charset="-120"/>
              </a:rPr>
              <a:t>"none"</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sum</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sum</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clamp</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min</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loss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ce_f</a:t>
            </a:r>
            <a:endParaRPr lang="en-US" sz="1250" dirty="0"/>
          </a:p>
          <a:p>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if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method</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A5D6A7"/>
                </a:solidFill>
                <a:latin typeface="Consolas" pitchFamily="34" charset="0"/>
                <a:ea typeface="Consolas" pitchFamily="34" charset="-122"/>
                <a:cs typeface="Consolas" pitchFamily="34" charset="-120"/>
              </a:rPr>
              <a:t>"ce_fine"</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ce_c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cross_entropy</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c_tr</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b</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reduction</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A5D6A7"/>
                </a:solidFill>
                <a:latin typeface="Consolas" pitchFamily="34" charset="0"/>
                <a:ea typeface="Consolas" pitchFamily="34" charset="-122"/>
                <a:cs typeface="Consolas" pitchFamily="34" charset="-120"/>
              </a:rPr>
              <a:t>"none"</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sum</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sum</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clamp</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min</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loss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loss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ce_c</a:t>
            </a:r>
            <a:endParaRPr lang="en-US" sz="1250" dirty="0"/>
          </a:p>
          <a:p>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if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method</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A5D6A7"/>
                </a:solidFill>
                <a:latin typeface="Consolas" pitchFamily="34" charset="0"/>
                <a:ea typeface="Consolas" pitchFamily="34" charset="-122"/>
                <a:cs typeface="Consolas" pitchFamily="34" charset="-120"/>
              </a:rPr>
              <a:t>"ce_both_sl"</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lam_t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lam</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min</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1.0</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step</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warmup_epochs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steps_per_epoch</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sl</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hierarchy_semantic_loss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label-free: every image in the batch</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loss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loss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lam_t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sl</a:t>
            </a:r>
            <a:endParaRPr lang="en-US" sz="1250" dirty="0"/>
          </a:p>
          <a:p>
            <a:pPr indent="0" marL="0">
              <a:lnSpc>
                <a:spcPct val="105000"/>
              </a:lnSpc>
              <a:buNone/>
            </a:pPr>
            <a:r>
              <a:rPr lang="en-US" sz="1250" dirty="0">
                <a:solidFill>
                  <a:srgbClr val="C792EA"/>
                </a:solidFill>
                <a:latin typeface="Consolas" pitchFamily="34" charset="0"/>
                <a:ea typeface="Consolas" pitchFamily="34" charset="-122"/>
                <a:cs typeface="Consolas" pitchFamily="34" charset="-120"/>
              </a:rPr>
              <a:t>if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method</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A5D6A7"/>
                </a:solidFill>
                <a:latin typeface="Consolas" pitchFamily="34" charset="0"/>
                <a:ea typeface="Consolas" pitchFamily="34" charset="-122"/>
                <a:cs typeface="Consolas" pitchFamily="34" charset="-120"/>
              </a:rPr>
              <a:t>"ce_both_eo"</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7F8C9A"/>
                </a:solidFill>
                <a:latin typeface="Consolas" pitchFamily="34" charset="0"/>
                <a:ea typeface="Consolas" pitchFamily="34" charset="-122"/>
                <a:cs typeface="Consolas" pitchFamily="34" charset="-120"/>
              </a:rPr>
              <a:t># ablation: EO(f) &amp; EO(c), no implications</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lam_t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lam</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min</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F7A072"/>
                </a:solidFill>
                <a:latin typeface="Consolas" pitchFamily="34" charset="0"/>
                <a:ea typeface="Consolas" pitchFamily="34" charset="-122"/>
                <a:cs typeface="Consolas" pitchFamily="34" charset="-120"/>
              </a:rPr>
              <a:t>1.0</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step</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warmup_epochs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steps_per_epoch</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sl</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exactly_one_log_prob</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exactly_one_log_prob</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c</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mean</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endParaRPr lang="en-US" sz="1250" dirty="0"/>
          </a:p>
          <a:p>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loss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loss</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lam_t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250" dirty="0">
                <a:solidFill>
                  <a:srgbClr val="E6EDF3"/>
                </a:solidFill>
                <a:latin typeface="Consolas" pitchFamily="34" charset="0"/>
                <a:ea typeface="Consolas" pitchFamily="34" charset="-122"/>
                <a:cs typeface="Consolas" pitchFamily="34" charset="-120"/>
              </a:rPr>
              <a:t>sl</a:t>
            </a:r>
            <a:endParaRPr lang="en-US" sz="125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구현 ⑥: 추론 시 규칙을 쓰는 두 가지 방법</a:t>
            </a:r>
            <a:endParaRPr lang="en-US" sz="3000" dirty="0"/>
          </a:p>
        </p:txBody>
      </p:sp>
      <p:sp>
        <p:nvSpPr>
          <p:cNvPr id="3" name="code-panel"/>
          <p:cNvSpPr/>
          <p:nvPr/>
        </p:nvSpPr>
        <p:spPr>
          <a:xfrm>
            <a:off x="548640" y="1325880"/>
            <a:ext cx="11094415" cy="3291840"/>
          </a:xfrm>
          <a:prstGeom prst="roundRect">
            <a:avLst>
              <a:gd name="adj" fmla="val 2778"/>
            </a:avLst>
          </a:prstGeom>
          <a:solidFill>
            <a:srgbClr val="1B2430"/>
          </a:solidFill>
          <a:ln w="12700">
            <a:solidFill>
              <a:srgbClr val="1B2430"/>
            </a:solidFill>
            <a:prstDash val="solid"/>
          </a:ln>
        </p:spPr>
      </p:sp>
      <p:sp>
        <p:nvSpPr>
          <p:cNvPr id="4" name="Text 2"/>
          <p:cNvSpPr txBox="1"/>
          <p:nvPr/>
        </p:nvSpPr>
        <p:spPr>
          <a:xfrm>
            <a:off x="822960" y="1463040"/>
            <a:ext cx="10545775" cy="274320"/>
          </a:xfrm>
          <a:prstGeom prst="rect">
            <a:avLst/>
          </a:prstGeom>
          <a:noFill/>
          <a:ln/>
        </p:spPr>
        <p:txBody>
          <a:bodyPr wrap="square" lIns="0" tIns="0" rIns="0" bIns="0" rtlCol="0" anchor="ctr"/>
          <a:lstStyle/>
          <a:p>
            <a:pPr indent="0" marL="0">
              <a:buNone/>
            </a:pPr>
            <a:r>
              <a:rPr lang="en-US" sz="1100" dirty="0">
                <a:solidFill>
                  <a:srgbClr val="8B98A5"/>
                </a:solidFill>
                <a:latin typeface="Consolas" pitchFamily="34" charset="0"/>
                <a:ea typeface="Consolas" pitchFamily="34" charset="-122"/>
                <a:cs typeface="Consolas" pitchFamily="34" charset="-120"/>
              </a:rPr>
              <a:t>semloss/train.py · evaluate()</a:t>
            </a:r>
            <a:endParaRPr lang="en-US" sz="1100" dirty="0"/>
          </a:p>
        </p:txBody>
      </p:sp>
      <p:sp>
        <p:nvSpPr>
          <p:cNvPr id="5" name="code"/>
          <p:cNvSpPr txBox="1"/>
          <p:nvPr/>
        </p:nvSpPr>
        <p:spPr>
          <a:xfrm>
            <a:off x="822960" y="1783080"/>
            <a:ext cx="10545775" cy="2697480"/>
          </a:xfrm>
          <a:prstGeom prst="rect">
            <a:avLst/>
          </a:prstGeom>
          <a:noFill/>
          <a:ln/>
        </p:spPr>
        <p:txBody>
          <a:bodyPr wrap="square" lIns="0" tIns="0" rIns="0" bIns="0" rtlCol="0" anchor="t"/>
          <a:lstStyle/>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pred_f</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argmax</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pred_c</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c</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argmax</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7F8C9A"/>
                </a:solidFill>
                <a:latin typeface="Consolas" pitchFamily="34" charset="0"/>
                <a:ea typeface="Consolas" pitchFamily="34" charset="-122"/>
                <a:cs typeface="Consolas" pitchFamily="34" charset="-120"/>
              </a:rPr>
              <a:t># (1) Hierarchical masking: fine prediction restricted to children of predicted coarse.</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masked</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masked_fill</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None</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pred_c</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C792EA"/>
                </a:solidFill>
                <a:latin typeface="Consolas" pitchFamily="34" charset="0"/>
                <a:ea typeface="Consolas" pitchFamily="34" charset="-122"/>
                <a:cs typeface="Consolas" pitchFamily="34" charset="-120"/>
              </a:rPr>
              <a:t>None</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float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A5D6A7"/>
                </a:solidFill>
                <a:latin typeface="Consolas" pitchFamily="34" charset="0"/>
                <a:ea typeface="Consolas" pitchFamily="34" charset="-122"/>
                <a:cs typeface="Consolas" pitchFamily="34" charset="-120"/>
              </a:rPr>
              <a:t>"-inf"</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7F8C9A"/>
                </a:solidFill>
                <a:latin typeface="Consolas" pitchFamily="34" charset="0"/>
                <a:ea typeface="Consolas" pitchFamily="34" charset="-122"/>
                <a:cs typeface="Consolas" pitchFamily="34" charset="-120"/>
              </a:rPr>
              <a:t># (2) MAP world under the constraint: argmax_i (f_i + c_par(i)).</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pred_joint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f</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c</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argmax</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F7A072"/>
                </a:solidFill>
                <a:latin typeface="Consolas" pitchFamily="34" charset="0"/>
                <a:ea typeface="Consolas" pitchFamily="34" charset="-122"/>
                <a:cs typeface="Consolas" pitchFamily="34" charset="-120"/>
              </a:rPr>
              <a:t>1</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consistency</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pred_f</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pred_c</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float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mean</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7F8C9A"/>
                </a:solidFill>
                <a:latin typeface="Consolas" pitchFamily="34" charset="0"/>
                <a:ea typeface="Consolas" pitchFamily="34" charset="-122"/>
                <a:cs typeface="Consolas" pitchFamily="34" charset="-120"/>
              </a:rPr>
              <a:t># rule compliance</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within_superclass_err</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parent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pred_f</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wrong</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coarse</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wrong</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float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mean</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endParaRPr lang="en-US" sz="1400" dirty="0"/>
          </a:p>
        </p:txBody>
      </p:sp>
      <p:sp>
        <p:nvSpPr>
          <p:cNvPr id="6" name="card"/>
          <p:cNvSpPr/>
          <p:nvPr/>
        </p:nvSpPr>
        <p:spPr>
          <a:xfrm>
            <a:off x="548640" y="4846320"/>
            <a:ext cx="5394960" cy="1097280"/>
          </a:xfrm>
          <a:prstGeom prst="roundRect">
            <a:avLst>
              <a:gd name="adj" fmla="val 10000"/>
            </a:avLst>
          </a:prstGeom>
          <a:solidFill>
            <a:srgbClr val="F1F4F8"/>
          </a:solidFill>
          <a:ln w="12700">
            <a:solidFill>
              <a:srgbClr val="F1F4F8"/>
            </a:solidFill>
            <a:prstDash val="solid"/>
          </a:ln>
        </p:spPr>
      </p:sp>
      <p:sp>
        <p:nvSpPr>
          <p:cNvPr id="7" name="tag"/>
          <p:cNvSpPr/>
          <p:nvPr/>
        </p:nvSpPr>
        <p:spPr>
          <a:xfrm>
            <a:off x="777240" y="5074920"/>
            <a:ext cx="384048" cy="384048"/>
          </a:xfrm>
          <a:prstGeom prst="ellipse">
            <a:avLst/>
          </a:prstGeom>
          <a:solidFill>
            <a:srgbClr val="4A3AA7"/>
          </a:solidFill>
          <a:ln w="12700">
            <a:solidFill>
              <a:srgbClr val="4A3AA7"/>
            </a:solidFill>
            <a:prstDash val="solid"/>
          </a:ln>
        </p:spPr>
      </p:sp>
      <p:sp>
        <p:nvSpPr>
          <p:cNvPr id="8" name="Text 6"/>
          <p:cNvSpPr txBox="1"/>
          <p:nvPr/>
        </p:nvSpPr>
        <p:spPr>
          <a:xfrm>
            <a:off x="777240" y="5074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9" name="Text 7"/>
          <p:cNvSpPr txBox="1"/>
          <p:nvPr/>
        </p:nvSpPr>
        <p:spPr>
          <a:xfrm>
            <a:off x="1280160" y="5047488"/>
            <a:ext cx="4480560" cy="438912"/>
          </a:xfrm>
          <a:prstGeom prst="rect">
            <a:avLst/>
          </a:prstGeom>
          <a:noFill/>
          <a:ln/>
        </p:spPr>
        <p:txBody>
          <a:bodyPr wrap="square" lIns="0" tIns="0" rIns="0" bIns="0" rtlCol="0" anchor="ctr"/>
          <a:lstStyle/>
          <a:p>
            <a:pPr indent="0" marL="0">
              <a:buNone/>
            </a:pPr>
            <a:r>
              <a:rPr lang="en-US" sz="1500" b="1" dirty="0">
                <a:solidFill>
                  <a:srgbClr val="1F2933"/>
                </a:solidFill>
              </a:rPr>
              <a:t>마스킹: coarse를 먼저 정하고 fine을 그 안에서</a:t>
            </a:r>
            <a:endParaRPr lang="en-US" sz="1500" dirty="0"/>
          </a:p>
        </p:txBody>
      </p:sp>
      <p:sp>
        <p:nvSpPr>
          <p:cNvPr id="10" name="card"/>
          <p:cNvSpPr/>
          <p:nvPr/>
        </p:nvSpPr>
        <p:spPr>
          <a:xfrm>
            <a:off x="6217920" y="4846320"/>
            <a:ext cx="5394960" cy="1097280"/>
          </a:xfrm>
          <a:prstGeom prst="roundRect">
            <a:avLst>
              <a:gd name="adj" fmla="val 10000"/>
            </a:avLst>
          </a:prstGeom>
          <a:solidFill>
            <a:srgbClr val="FDEEE6"/>
          </a:solidFill>
          <a:ln w="12700">
            <a:solidFill>
              <a:srgbClr val="FDEEE6"/>
            </a:solidFill>
            <a:prstDash val="solid"/>
          </a:ln>
        </p:spPr>
      </p:sp>
      <p:sp>
        <p:nvSpPr>
          <p:cNvPr id="11" name="tag"/>
          <p:cNvSpPr/>
          <p:nvPr/>
        </p:nvSpPr>
        <p:spPr>
          <a:xfrm>
            <a:off x="6446520" y="5074920"/>
            <a:ext cx="384048" cy="384048"/>
          </a:xfrm>
          <a:prstGeom prst="ellipse">
            <a:avLst/>
          </a:prstGeom>
          <a:solidFill>
            <a:srgbClr val="EB6834"/>
          </a:solidFill>
          <a:ln w="12700">
            <a:solidFill>
              <a:srgbClr val="EB6834"/>
            </a:solidFill>
            <a:prstDash val="solid"/>
          </a:ln>
        </p:spPr>
      </p:sp>
      <p:sp>
        <p:nvSpPr>
          <p:cNvPr id="12" name="Text 10"/>
          <p:cNvSpPr txBox="1"/>
          <p:nvPr/>
        </p:nvSpPr>
        <p:spPr>
          <a:xfrm>
            <a:off x="6446520" y="5074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3" name="Text 11"/>
          <p:cNvSpPr txBox="1"/>
          <p:nvPr/>
        </p:nvSpPr>
        <p:spPr>
          <a:xfrm>
            <a:off x="6949440" y="5047488"/>
            <a:ext cx="4480560" cy="438912"/>
          </a:xfrm>
          <a:prstGeom prst="rect">
            <a:avLst/>
          </a:prstGeom>
          <a:noFill/>
          <a:ln/>
        </p:spPr>
        <p:txBody>
          <a:bodyPr wrap="square" lIns="0" tIns="0" rIns="0" bIns="0" rtlCol="0" anchor="ctr"/>
          <a:lstStyle/>
          <a:p>
            <a:pPr indent="0" marL="0">
              <a:buNone/>
            </a:pPr>
            <a:r>
              <a:rPr lang="en-US" sz="1500" b="1" dirty="0">
                <a:solidFill>
                  <a:srgbClr val="1F2933"/>
                </a:solidFill>
              </a:rPr>
              <a:t>MAP: 100개 만족 세계 중 최대 확률</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ection-number"/>
          <p:cNvSpPr txBox="1"/>
          <p:nvPr/>
        </p:nvSpPr>
        <p:spPr>
          <a:xfrm>
            <a:off x="548640" y="1737360"/>
            <a:ext cx="4572000" cy="822960"/>
          </a:xfrm>
          <a:prstGeom prst="rect">
            <a:avLst/>
          </a:prstGeom>
          <a:noFill/>
          <a:ln/>
        </p:spPr>
        <p:txBody>
          <a:bodyPr wrap="square" lIns="0" tIns="0" rIns="0" bIns="0" rtlCol="0" anchor="ctr"/>
          <a:lstStyle/>
          <a:p>
            <a:pPr indent="0" marL="0">
              <a:buNone/>
            </a:pPr>
            <a:r>
              <a:rPr lang="en-US" sz="5400" b="1" dirty="0">
                <a:solidFill>
                  <a:srgbClr val="EB6834"/>
                </a:solidFill>
              </a:rPr>
              <a:t>06</a:t>
            </a:r>
            <a:endParaRPr lang="en-US" sz="5400" dirty="0"/>
          </a:p>
        </p:txBody>
      </p:sp>
      <p:sp>
        <p:nvSpPr>
          <p:cNvPr id="3" name="Text 0"/>
          <p:cNvSpPr/>
          <p:nvPr>
            <p:ph idx="100" type="title" hasCustomPrompt="1"/>
          </p:nvPr>
        </p:nvSpPr>
        <p:spPr>
          <a:xfrm>
            <a:off x="548640" y="2651760"/>
            <a:ext cx="10607040" cy="1005840"/>
          </a:xfrm>
          <a:prstGeom prst="rect">
            <a:avLst/>
          </a:prstGeom>
          <a:noFill/>
          <a:ln/>
        </p:spPr>
        <p:txBody>
          <a:bodyPr wrap="square" lIns="0" tIns="0" rIns="0" bIns="0" rtlCol="0" anchor="t"/>
          <a:lstStyle/>
          <a:p>
            <a:pPr algn="l" indent="0" marL="0">
              <a:buNone/>
            </a:pPr>
            <a:r>
              <a:rPr lang="en-US" sz="4000" b="1" dirty="0">
                <a:solidFill>
                  <a:schemeClr val="bg1"/>
                </a:solidFill>
              </a:rPr>
              <a:t>실험 결과와 토론</a:t>
            </a:r>
            <a:endParaRPr lang="en-US" sz="4000" dirty="0"/>
          </a:p>
        </p:txBody>
      </p:sp>
      <p:sp>
        <p:nvSpPr>
          <p:cNvPr id="4" name="Text 0"/>
          <p:cNvSpPr/>
          <p:nvPr>
            <p:ph idx="101" type="body" hasCustomPrompt="1"/>
          </p:nvPr>
        </p:nvSpPr>
        <p:spPr>
          <a:xfrm>
            <a:off x="548640" y="3749040"/>
            <a:ext cx="10607040" cy="1280160"/>
          </a:xfrm>
          <a:prstGeom prst="rect">
            <a:avLst/>
          </a:prstGeom>
          <a:noFill/>
          <a:ln/>
        </p:spPr>
        <p:txBody>
          <a:bodyPr wrap="square" lIns="0" tIns="0" rIns="0" bIns="0" rtlCol="0" anchor="t"/>
          <a:lstStyle/>
          <a:p>
            <a:pPr algn="l" indent="0" marL="0">
              <a:buNone/>
            </a:pPr>
            <a:r>
              <a:rPr lang="en-US" sz="1800" dirty="0">
                <a:solidFill>
                  <a:srgbClr val="BCCCDC"/>
                </a:solidFill>
              </a:rPr>
              <a:t>정확도는 '확신'이, 규칙 준수는 '함의 규칙'이 만든다</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λ 선택: 최적점 너머에는 절벽이 있다</a:t>
            </a:r>
            <a:endParaRPr lang="en-US" sz="3000" dirty="0"/>
          </a:p>
        </p:txBody>
      </p:sp>
      <p:graphicFrame>
        <p:nvGraphicFramePr>
          <p:cNvPr id="3" name="Chart 0" descr=""/>
          <p:cNvGraphicFramePr/>
          <p:nvPr/>
        </p:nvGraphicFramePr>
        <p:xfrm>
          <a:off x="548640" y="1325880"/>
          <a:ext cx="7315200" cy="4617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8229600" y="1325880"/>
            <a:ext cx="3410712" cy="4617720"/>
          </a:xfrm>
          <a:prstGeom prst="roundRect">
            <a:avLst>
              <a:gd name="adj" fmla="val 3217"/>
            </a:avLst>
          </a:prstGeom>
          <a:solidFill>
            <a:srgbClr val="F1F4F8"/>
          </a:solidFill>
          <a:ln w="12700">
            <a:solidFill>
              <a:srgbClr val="F1F4F8"/>
            </a:solidFill>
            <a:prstDash val="solid"/>
          </a:ln>
        </p:spPr>
      </p:sp>
      <p:sp>
        <p:nvSpPr>
          <p:cNvPr id="5" name="tag"/>
          <p:cNvSpPr/>
          <p:nvPr/>
        </p:nvSpPr>
        <p:spPr>
          <a:xfrm>
            <a:off x="8458200" y="1554480"/>
            <a:ext cx="384048" cy="384048"/>
          </a:xfrm>
          <a:prstGeom prst="ellipse">
            <a:avLst/>
          </a:prstGeom>
          <a:solidFill>
            <a:srgbClr val="4A3AA7"/>
          </a:solidFill>
          <a:ln w="12700">
            <a:solidFill>
              <a:srgbClr val="4A3AA7"/>
            </a:solidFill>
            <a:prstDash val="solid"/>
          </a:ln>
        </p:spPr>
      </p:sp>
      <p:sp>
        <p:nvSpPr>
          <p:cNvPr id="6" name="Text 3"/>
          <p:cNvSpPr txBox="1"/>
          <p:nvPr/>
        </p:nvSpPr>
        <p:spPr>
          <a:xfrm>
            <a:off x="8458200"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λ</a:t>
            </a:r>
            <a:endParaRPr lang="en-US" sz="1300" dirty="0"/>
          </a:p>
        </p:txBody>
      </p:sp>
      <p:sp>
        <p:nvSpPr>
          <p:cNvPr id="7" name="Text 4"/>
          <p:cNvSpPr txBox="1"/>
          <p:nvPr/>
        </p:nvSpPr>
        <p:spPr>
          <a:xfrm>
            <a:off x="8961120" y="1527048"/>
            <a:ext cx="2496312" cy="438912"/>
          </a:xfrm>
          <a:prstGeom prst="rect">
            <a:avLst/>
          </a:prstGeom>
          <a:noFill/>
          <a:ln/>
        </p:spPr>
        <p:txBody>
          <a:bodyPr wrap="square" lIns="0" tIns="0" rIns="0" bIns="0" rtlCol="0" anchor="ctr"/>
          <a:lstStyle/>
          <a:p>
            <a:pPr indent="0" marL="0">
              <a:buNone/>
            </a:pPr>
            <a:r>
              <a:rPr lang="en-US" sz="1800" b="1" dirty="0">
                <a:solidFill>
                  <a:srgbClr val="1F2933"/>
                </a:solidFill>
              </a:rPr>
              <a:t>읽는 법</a:t>
            </a:r>
            <a:endParaRPr lang="en-US" sz="1800" dirty="0"/>
          </a:p>
        </p:txBody>
      </p:sp>
      <p:sp>
        <p:nvSpPr>
          <p:cNvPr id="8" name="Text 5"/>
          <p:cNvSpPr txBox="1"/>
          <p:nvPr/>
        </p:nvSpPr>
        <p:spPr>
          <a:xfrm>
            <a:off x="8458200" y="2057400"/>
            <a:ext cx="2953512" cy="37490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rPr>
              <a:t>선택된 λ: full 2, semi 1, weak 2</a:t>
            </a:r>
            <a:endParaRPr lang="en-US" sz="1400" dirty="0"/>
          </a:p>
          <a:p>
            <a:pPr marL="228600" indent="-228600">
              <a:spcAft>
                <a:spcPts val="800"/>
              </a:spcAft>
              <a:buSzPct val="100000"/>
              <a:buChar char="•"/>
            </a:pPr>
            <a:r>
              <a:rPr lang="en-US" sz="1400" dirty="0">
                <a:solidFill>
                  <a:srgbClr val="1F2933"/>
                </a:solidFill>
              </a:rPr>
              <a:t>λ = 5에서 모든 설정이 붕괴</a:t>
            </a:r>
            <a:endParaRPr lang="en-US" sz="1400" dirty="0"/>
          </a:p>
          <a:p>
            <a:pPr marL="228600" indent="-228600">
              <a:spcAft>
                <a:spcPts val="800"/>
              </a:spcAft>
              <a:buSzPct val="100000"/>
              <a:buChar char="•"/>
            </a:pPr>
            <a:r>
              <a:rPr lang="en-US" sz="1400" dirty="0">
                <a:solidFill>
                  <a:srgbClr val="1F2933"/>
                </a:solidFill>
              </a:rPr>
              <a:t>라벨이 적을수록(semi) 더 작은 λ에서 붕괴</a:t>
            </a:r>
            <a:endParaRPr lang="en-US" sz="1400" dirty="0"/>
          </a:p>
          <a:p>
            <a:pPr marL="228600" indent="-228600">
              <a:spcAft>
                <a:spcPts val="800"/>
              </a:spcAft>
              <a:buSzPct val="100000"/>
              <a:buChar char="•"/>
            </a:pPr>
            <a:r>
              <a:rPr lang="en-US" sz="1400" dirty="0">
                <a:solidFill>
                  <a:srgbClr val="1F2933"/>
                </a:solidFill>
              </a:rPr>
              <a:t>교훈: 의미 손실은 정답을 모른다 → CE가 방향을 잡아줘야 한다</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주요 결과: 세부 클래스 정확도</a:t>
            </a:r>
            <a:endParaRPr lang="en-US" sz="3000" dirty="0"/>
          </a:p>
        </p:txBody>
      </p:sp>
      <p:graphicFrame>
        <p:nvGraphicFramePr>
          <p:cNvPr id="3" name="Chart 0" descr=""/>
          <p:cNvGraphicFramePr/>
          <p:nvPr/>
        </p:nvGraphicFramePr>
        <p:xfrm>
          <a:off x="548640" y="1325880"/>
          <a:ext cx="7863840" cy="4617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8686800" y="1325880"/>
            <a:ext cx="2953512" cy="4617720"/>
          </a:xfrm>
          <a:prstGeom prst="roundRect">
            <a:avLst>
              <a:gd name="adj" fmla="val 3715"/>
            </a:avLst>
          </a:prstGeom>
          <a:solidFill>
            <a:srgbClr val="FDEEE6"/>
          </a:solidFill>
          <a:ln w="12700">
            <a:solidFill>
              <a:srgbClr val="FDEEE6"/>
            </a:solidFill>
            <a:prstDash val="solid"/>
          </a:ln>
        </p:spPr>
      </p:sp>
      <p:sp>
        <p:nvSpPr>
          <p:cNvPr id="5" name="tag"/>
          <p:cNvSpPr/>
          <p:nvPr/>
        </p:nvSpPr>
        <p:spPr>
          <a:xfrm>
            <a:off x="8915400" y="1554480"/>
            <a:ext cx="384048" cy="384048"/>
          </a:xfrm>
          <a:prstGeom prst="ellipse">
            <a:avLst/>
          </a:prstGeom>
          <a:solidFill>
            <a:srgbClr val="EB6834"/>
          </a:solidFill>
          <a:ln w="12700">
            <a:solidFill>
              <a:srgbClr val="EB6834"/>
            </a:solidFill>
            <a:prstDash val="solid"/>
          </a:ln>
        </p:spPr>
      </p:sp>
      <p:sp>
        <p:nvSpPr>
          <p:cNvPr id="6" name="Text 3"/>
          <p:cNvSpPr txBox="1"/>
          <p:nvPr/>
        </p:nvSpPr>
        <p:spPr>
          <a:xfrm>
            <a:off x="8915400"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S</a:t>
            </a:r>
            <a:endParaRPr lang="en-US" sz="1300" dirty="0"/>
          </a:p>
        </p:txBody>
      </p:sp>
      <p:sp>
        <p:nvSpPr>
          <p:cNvPr id="7" name="Text 4"/>
          <p:cNvSpPr txBox="1"/>
          <p:nvPr/>
        </p:nvSpPr>
        <p:spPr>
          <a:xfrm>
            <a:off x="9418320" y="1527048"/>
            <a:ext cx="2039112" cy="438912"/>
          </a:xfrm>
          <a:prstGeom prst="rect">
            <a:avLst/>
          </a:prstGeom>
          <a:noFill/>
          <a:ln/>
        </p:spPr>
        <p:txBody>
          <a:bodyPr wrap="square" lIns="0" tIns="0" rIns="0" bIns="0" rtlCol="0" anchor="ctr"/>
          <a:lstStyle/>
          <a:p>
            <a:pPr indent="0" marL="0">
              <a:buNone/>
            </a:pPr>
            <a:r>
              <a:rPr lang="en-US" sz="1800" b="1" dirty="0">
                <a:solidFill>
                  <a:srgbClr val="1F2933"/>
                </a:solidFill>
              </a:rPr>
              <a:t>CE 대비 이득</a:t>
            </a:r>
            <a:endParaRPr lang="en-US" sz="1800" dirty="0"/>
          </a:p>
        </p:txBody>
      </p:sp>
      <p:sp>
        <p:nvSpPr>
          <p:cNvPr id="8" name="Text 5"/>
          <p:cNvSpPr txBox="1"/>
          <p:nvPr/>
        </p:nvSpPr>
        <p:spPr>
          <a:xfrm>
            <a:off x="8915400" y="2057400"/>
            <a:ext cx="2496312" cy="374904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rgbClr val="1F2933"/>
                </a:solidFill>
              </a:rPr>
              <a:t>exactly-one / 계층 SL</a:t>
            </a:r>
            <a:endParaRPr lang="en-US" sz="1500" dirty="0"/>
          </a:p>
          <a:p>
            <a:pPr marL="228600" indent="-228600">
              <a:spcAft>
                <a:spcPts val="800"/>
              </a:spcAft>
              <a:buSzPct val="100000"/>
              <a:buChar char="•"/>
            </a:pPr>
            <a:r>
              <a:rPr lang="en-US" sz="1500" dirty="0">
                <a:solidFill>
                  <a:srgbClr val="1F2933"/>
                </a:solidFill>
              </a:rPr>
              <a:t>full: +0.9 / +0.9%p</a:t>
            </a:r>
            <a:endParaRPr lang="en-US" sz="1500" dirty="0"/>
          </a:p>
          <a:p>
            <a:pPr marL="228600" indent="-228600">
              <a:spcAft>
                <a:spcPts val="800"/>
              </a:spcAft>
              <a:buSzPct val="100000"/>
              <a:buChar char="•"/>
            </a:pPr>
            <a:r>
              <a:rPr lang="en-US" sz="1500" dirty="0">
                <a:solidFill>
                  <a:srgbClr val="1F2933"/>
                </a:solidFill>
              </a:rPr>
              <a:t>semi: +3.5 / +1.9%p</a:t>
            </a:r>
            <a:endParaRPr lang="en-US" sz="1500" dirty="0"/>
          </a:p>
          <a:p>
            <a:pPr marL="228600" indent="-228600">
              <a:spcAft>
                <a:spcPts val="800"/>
              </a:spcAft>
              <a:buSzPct val="100000"/>
              <a:buChar char="•"/>
            </a:pPr>
            <a:r>
              <a:rPr lang="en-US" sz="1500" dirty="0">
                <a:solidFill>
                  <a:srgbClr val="1F2933"/>
                </a:solidFill>
              </a:rPr>
              <a:t>weak: +5.2 / +5.7%p</a:t>
            </a:r>
            <a:endParaRPr lang="en-US" sz="1500" dirty="0"/>
          </a:p>
          <a:p>
            <a:pPr marL="228600" indent="-228600">
              <a:spcAft>
                <a:spcPts val="800"/>
              </a:spcAft>
              <a:buSzPct val="100000"/>
              <a:buChar char="•"/>
            </a:pPr>
            <a:r>
              <a:rPr lang="en-US" sz="1500" dirty="0">
                <a:solidFill>
                  <a:srgbClr val="1F2933"/>
                </a:solidFill>
              </a:rPr>
              <a:t>라벨이 적을수록 이득이 크다</a:t>
            </a:r>
            <a:endParaRPr lang="en-US" sz="1500" dirty="0"/>
          </a:p>
          <a:p>
            <a:pPr marL="228600" indent="-228600">
              <a:spcAft>
                <a:spcPts val="800"/>
              </a:spcAft>
              <a:buSzPct val="100000"/>
              <a:buChar char="•"/>
            </a:pPr>
            <a:r>
              <a:rPr lang="en-US" sz="1500" dirty="0">
                <a:solidFill>
                  <a:srgbClr val="1F2933"/>
                </a:solidFill>
              </a:rPr>
              <a:t>두 SL의 차이는 작다</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결과 표: 평균 ± 표준편차 (3 시드)</a:t>
            </a:r>
            <a:endParaRPr lang="en-US" sz="30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291840"/>
                <a:gridCol w="1947672"/>
                <a:gridCol w="1947672"/>
                <a:gridCol w="1947672"/>
                <a:gridCol w="1956816"/>
              </a:tblGrid>
              <a:tr h="361188">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설정 / 방법</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fine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coarse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일관성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fine (MAP)</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r>
              <a:tr h="361188">
                <a:tc>
                  <a:txBody>
                    <a:bodyPr/>
                    <a:lstStyle/>
                    <a:p>
                      <a:pPr algn="l" indent="0" marL="0">
                        <a:buNone/>
                      </a:pPr>
                      <a:r>
                        <a:rPr lang="en-US" sz="1200" dirty="0">
                          <a:solidFill>
                            <a:srgbClr val="1F2933"/>
                          </a:solidFill>
                          <a:latin typeface="Malgun Gothic" pitchFamily="34" charset="0"/>
                          <a:ea typeface="Malgun Gothic" pitchFamily="34" charset="-122"/>
                          <a:cs typeface="Malgun Gothic" pitchFamily="34" charset="-120"/>
                        </a:rPr>
                        <a:t>full · fine CE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73.7 ± 0.3</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361188">
                <a:tc>
                  <a:txBody>
                    <a:bodyPr/>
                    <a:lstStyle/>
                    <a:p>
                      <a:pPr algn="l" indent="0" marL="0">
                        <a:buNone/>
                      </a:pPr>
                      <a:r>
                        <a:rPr lang="en-US" sz="1200" dirty="0">
                          <a:solidFill>
                            <a:srgbClr val="1F2933"/>
                          </a:solidFill>
                          <a:latin typeface="Malgun Gothic" pitchFamily="34" charset="0"/>
                          <a:ea typeface="Malgun Gothic" pitchFamily="34" charset="-122"/>
                          <a:cs typeface="Malgun Gothic" pitchFamily="34" charset="-120"/>
                        </a:rPr>
                        <a:t>full · fine+coarse CE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73.2 ± 0.2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82.6 ± 0.1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90.9 ± 0.3</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72.9 ± 0.2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r>
              <a:tr h="361188">
                <a:tc>
                  <a:txBody>
                    <a:bodyPr/>
                    <a:lstStyle/>
                    <a:p>
                      <a:pPr algn="l" indent="0" marL="0">
                        <a:buNone/>
                      </a:pPr>
                      <a:r>
                        <a:rPr lang="en-US" sz="1200" dirty="0">
                          <a:solidFill>
                            <a:srgbClr val="1F2933"/>
                          </a:solidFill>
                          <a:latin typeface="Malgun Gothic" pitchFamily="34" charset="0"/>
                          <a:ea typeface="Malgun Gothic" pitchFamily="34" charset="-122"/>
                          <a:cs typeface="Malgun Gothic" pitchFamily="34" charset="-120"/>
                        </a:rPr>
                        <a:t>full · + exactly-one SL</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74.1 ± 0.2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83.6 ± 0.4</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90.9 ± 0.2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73.8 ± 0.0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361188">
                <a:tc>
                  <a:txBody>
                    <a:bodyPr/>
                    <a:lstStyle/>
                    <a:p>
                      <a:pPr algn="l" indent="0" marL="0">
                        <a:buNone/>
                      </a:pPr>
                      <a:r>
                        <a:rPr lang="en-US" sz="1200" b="1" dirty="0">
                          <a:solidFill>
                            <a:srgbClr val="1F2933"/>
                          </a:solidFill>
                          <a:latin typeface="Malgun Gothic" pitchFamily="34" charset="0"/>
                          <a:ea typeface="Malgun Gothic" pitchFamily="34" charset="-122"/>
                          <a:cs typeface="Malgun Gothic" pitchFamily="34" charset="-120"/>
                        </a:rPr>
                        <a:t>full · + 계층 의미 손실</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200" b="1" dirty="0">
                          <a:solidFill>
                            <a:srgbClr val="1F2933"/>
                          </a:solidFill>
                          <a:latin typeface="Malgun Gothic" pitchFamily="34" charset="0"/>
                          <a:ea typeface="Malgun Gothic" pitchFamily="34" charset="-122"/>
                          <a:cs typeface="Malgun Gothic" pitchFamily="34" charset="-120"/>
                        </a:rPr>
                        <a:t>74.1 ± 0.0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83.9 ± 0.2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92.5 ± 0.3</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73.8 ± 0.1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r>
              <a:tr h="361188">
                <a:tc>
                  <a:txBody>
                    <a:bodyPr/>
                    <a:lstStyle/>
                    <a:p>
                      <a:pPr algn="l" indent="0" marL="0">
                        <a:buNone/>
                      </a:pPr>
                      <a:r>
                        <a:rPr lang="en-US" sz="1200" dirty="0">
                          <a:solidFill>
                            <a:srgbClr val="1F2933"/>
                          </a:solidFill>
                          <a:latin typeface="Malgun Gothic" pitchFamily="34" charset="0"/>
                          <a:ea typeface="Malgun Gothic" pitchFamily="34" charset="-122"/>
                          <a:cs typeface="Malgun Gothic" pitchFamily="34" charset="-120"/>
                        </a:rPr>
                        <a:t>semi · fine CE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36.8 ± 0.8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361188">
                <a:tc>
                  <a:txBody>
                    <a:bodyPr/>
                    <a:lstStyle/>
                    <a:p>
                      <a:pPr algn="l" indent="0" marL="0">
                        <a:buNone/>
                      </a:pPr>
                      <a:r>
                        <a:rPr lang="en-US" sz="1200" dirty="0">
                          <a:solidFill>
                            <a:srgbClr val="1F2933"/>
                          </a:solidFill>
                          <a:latin typeface="Malgun Gothic" pitchFamily="34" charset="0"/>
                          <a:ea typeface="Malgun Gothic" pitchFamily="34" charset="-122"/>
                          <a:cs typeface="Malgun Gothic" pitchFamily="34" charset="-120"/>
                        </a:rPr>
                        <a:t>semi · fine+coarse CE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36.3 ± 1.5</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50.7 ± 1.6</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71.2 ± 1.4</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35.9 ± 1.5</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r>
              <a:tr h="361188">
                <a:tc>
                  <a:txBody>
                    <a:bodyPr/>
                    <a:lstStyle/>
                    <a:p>
                      <a:pPr algn="l" indent="0" marL="0">
                        <a:buNone/>
                      </a:pPr>
                      <a:r>
                        <a:rPr lang="en-US" sz="1200" dirty="0">
                          <a:solidFill>
                            <a:srgbClr val="1F2933"/>
                          </a:solidFill>
                          <a:latin typeface="Malgun Gothic" pitchFamily="34" charset="0"/>
                          <a:ea typeface="Malgun Gothic" pitchFamily="34" charset="-122"/>
                          <a:cs typeface="Malgun Gothic" pitchFamily="34" charset="-120"/>
                        </a:rPr>
                        <a:t>semi · + exactly-one SL</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39.8 ± 0.9</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54.7 ± 0.6</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73.8 ± 0.1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39.2 ± 0.7</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361188">
                <a:tc>
                  <a:txBody>
                    <a:bodyPr/>
                    <a:lstStyle/>
                    <a:p>
                      <a:pPr algn="l" indent="0" marL="0">
                        <a:buNone/>
                      </a:pPr>
                      <a:r>
                        <a:rPr lang="en-US" sz="1200" b="1" dirty="0">
                          <a:solidFill>
                            <a:srgbClr val="1F2933"/>
                          </a:solidFill>
                          <a:latin typeface="Malgun Gothic" pitchFamily="34" charset="0"/>
                          <a:ea typeface="Malgun Gothic" pitchFamily="34" charset="-122"/>
                          <a:cs typeface="Malgun Gothic" pitchFamily="34" charset="-120"/>
                        </a:rPr>
                        <a:t>semi · + 계층 의미 손실</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200" b="1" dirty="0">
                          <a:solidFill>
                            <a:srgbClr val="1F2933"/>
                          </a:solidFill>
                          <a:latin typeface="Malgun Gothic" pitchFamily="34" charset="0"/>
                          <a:ea typeface="Malgun Gothic" pitchFamily="34" charset="-122"/>
                          <a:cs typeface="Malgun Gothic" pitchFamily="34" charset="-120"/>
                        </a:rPr>
                        <a:t>38.2 ± 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54.3 ± 0.5</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81.7 ± 0.2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37.6 ± 0.7</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r>
              <a:tr h="361188">
                <a:tc>
                  <a:txBody>
                    <a:bodyPr/>
                    <a:lstStyle/>
                    <a:p>
                      <a:pPr algn="l" indent="0" marL="0">
                        <a:buNone/>
                      </a:pPr>
                      <a:r>
                        <a:rPr lang="en-US" sz="1200" dirty="0">
                          <a:solidFill>
                            <a:srgbClr val="1F2933"/>
                          </a:solidFill>
                          <a:latin typeface="Malgun Gothic" pitchFamily="34" charset="0"/>
                          <a:ea typeface="Malgun Gothic" pitchFamily="34" charset="-122"/>
                          <a:cs typeface="Malgun Gothic" pitchFamily="34" charset="-120"/>
                        </a:rPr>
                        <a:t>weak · fine CE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36.8 ± 0.8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361188">
                <a:tc>
                  <a:txBody>
                    <a:bodyPr/>
                    <a:lstStyle/>
                    <a:p>
                      <a:pPr algn="l" indent="0" marL="0">
                        <a:buNone/>
                      </a:pPr>
                      <a:r>
                        <a:rPr lang="en-US" sz="1200" dirty="0">
                          <a:solidFill>
                            <a:srgbClr val="1F2933"/>
                          </a:solidFill>
                          <a:latin typeface="Malgun Gothic" pitchFamily="34" charset="0"/>
                          <a:ea typeface="Malgun Gothic" pitchFamily="34" charset="-122"/>
                          <a:cs typeface="Malgun Gothic" pitchFamily="34" charset="-120"/>
                        </a:rPr>
                        <a:t>weak · fine+coarse CE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52.2 ± 2.0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73.3 ± 1.4</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75.9 ± 1.4</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54.3 ± 1.7</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r>
              <a:tr h="361188">
                <a:tc>
                  <a:txBody>
                    <a:bodyPr/>
                    <a:lstStyle/>
                    <a:p>
                      <a:pPr algn="l" indent="0" marL="0">
                        <a:buNone/>
                      </a:pPr>
                      <a:r>
                        <a:rPr lang="en-US" sz="1200" dirty="0">
                          <a:solidFill>
                            <a:srgbClr val="1F2933"/>
                          </a:solidFill>
                          <a:latin typeface="Malgun Gothic" pitchFamily="34" charset="0"/>
                          <a:ea typeface="Malgun Gothic" pitchFamily="34" charset="-122"/>
                          <a:cs typeface="Malgun Gothic" pitchFamily="34" charset="-120"/>
                        </a:rPr>
                        <a:t>weak · + exactly-one SL</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57.4 ± 0.5</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76.7 ± 0.6</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82.6 ± 0.3</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58.9 ± 0.5</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361188">
                <a:tc>
                  <a:txBody>
                    <a:bodyPr/>
                    <a:lstStyle/>
                    <a:p>
                      <a:pPr algn="l" indent="0" marL="0">
                        <a:buNone/>
                      </a:pPr>
                      <a:r>
                        <a:rPr lang="en-US" sz="1200" b="1" dirty="0">
                          <a:solidFill>
                            <a:srgbClr val="1F2933"/>
                          </a:solidFill>
                          <a:latin typeface="Malgun Gothic" pitchFamily="34" charset="0"/>
                          <a:ea typeface="Malgun Gothic" pitchFamily="34" charset="-122"/>
                          <a:cs typeface="Malgun Gothic" pitchFamily="34" charset="-120"/>
                        </a:rPr>
                        <a:t>weak · + 계층 의미 손실</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200" b="1" dirty="0">
                          <a:solidFill>
                            <a:srgbClr val="1F2933"/>
                          </a:solidFill>
                          <a:latin typeface="Malgun Gothic" pitchFamily="34" charset="0"/>
                          <a:ea typeface="Malgun Gothic" pitchFamily="34" charset="-122"/>
                          <a:cs typeface="Malgun Gothic" pitchFamily="34" charset="-120"/>
                        </a:rPr>
                        <a:t>57.8 ± 0.5</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75.9 ± 0.4</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90.2 ± 0.4</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200" dirty="0">
                          <a:solidFill>
                            <a:srgbClr val="1F2933"/>
                          </a:solidFill>
                          <a:latin typeface="Malgun Gothic" pitchFamily="34" charset="0"/>
                          <a:ea typeface="Malgun Gothic" pitchFamily="34" charset="-122"/>
                          <a:cs typeface="Malgun Gothic" pitchFamily="34" charset="-120"/>
                        </a:rPr>
                        <a:t>58.1 ± 0.5</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규칙 준수: 일관성은 크게 오른다</a:t>
            </a:r>
            <a:endParaRPr lang="en-US" sz="3000" dirty="0"/>
          </a:p>
        </p:txBody>
      </p:sp>
      <p:graphicFrame>
        <p:nvGraphicFramePr>
          <p:cNvPr id="3" name="Chart 0" descr=""/>
          <p:cNvGraphicFramePr/>
          <p:nvPr/>
        </p:nvGraphicFramePr>
        <p:xfrm>
          <a:off x="548640" y="1325880"/>
          <a:ext cx="7863840" cy="461772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8686800" y="1325880"/>
            <a:ext cx="2953512" cy="4617720"/>
          </a:xfrm>
          <a:prstGeom prst="roundRect">
            <a:avLst>
              <a:gd name="adj" fmla="val 3715"/>
            </a:avLst>
          </a:prstGeom>
          <a:solidFill>
            <a:srgbClr val="FDEEE6"/>
          </a:solidFill>
          <a:ln w="12700">
            <a:solidFill>
              <a:srgbClr val="FDEEE6"/>
            </a:solidFill>
            <a:prstDash val="solid"/>
          </a:ln>
        </p:spPr>
      </p:sp>
      <p:sp>
        <p:nvSpPr>
          <p:cNvPr id="5" name="tag"/>
          <p:cNvSpPr/>
          <p:nvPr/>
        </p:nvSpPr>
        <p:spPr>
          <a:xfrm>
            <a:off x="8915400" y="1554480"/>
            <a:ext cx="384048" cy="384048"/>
          </a:xfrm>
          <a:prstGeom prst="ellipse">
            <a:avLst/>
          </a:prstGeom>
          <a:solidFill>
            <a:srgbClr val="EB6834"/>
          </a:solidFill>
          <a:ln w="12700">
            <a:solidFill>
              <a:srgbClr val="EB6834"/>
            </a:solidFill>
            <a:prstDash val="solid"/>
          </a:ln>
        </p:spPr>
      </p:sp>
      <p:sp>
        <p:nvSpPr>
          <p:cNvPr id="6" name="Text 3"/>
          <p:cNvSpPr txBox="1"/>
          <p:nvPr/>
        </p:nvSpPr>
        <p:spPr>
          <a:xfrm>
            <a:off x="8915400"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S</a:t>
            </a:r>
            <a:endParaRPr lang="en-US" sz="1300" dirty="0"/>
          </a:p>
        </p:txBody>
      </p:sp>
      <p:sp>
        <p:nvSpPr>
          <p:cNvPr id="7" name="Text 4"/>
          <p:cNvSpPr txBox="1"/>
          <p:nvPr/>
        </p:nvSpPr>
        <p:spPr>
          <a:xfrm>
            <a:off x="9418320" y="1527048"/>
            <a:ext cx="2039112" cy="438912"/>
          </a:xfrm>
          <a:prstGeom prst="rect">
            <a:avLst/>
          </a:prstGeom>
          <a:noFill/>
          <a:ln/>
        </p:spPr>
        <p:txBody>
          <a:bodyPr wrap="square" lIns="0" tIns="0" rIns="0" bIns="0" rtlCol="0" anchor="ctr"/>
          <a:lstStyle/>
          <a:p>
            <a:pPr indent="0" marL="0">
              <a:buNone/>
            </a:pPr>
            <a:r>
              <a:rPr lang="en-US" sz="1800" b="1" dirty="0">
                <a:solidFill>
                  <a:srgbClr val="1F2933"/>
                </a:solidFill>
              </a:rPr>
              <a:t>요약</a:t>
            </a:r>
            <a:endParaRPr lang="en-US" sz="1800" dirty="0"/>
          </a:p>
        </p:txBody>
      </p:sp>
      <p:sp>
        <p:nvSpPr>
          <p:cNvPr id="8" name="Text 5"/>
          <p:cNvSpPr txBox="1"/>
          <p:nvPr/>
        </p:nvSpPr>
        <p:spPr>
          <a:xfrm>
            <a:off x="8915400" y="2057400"/>
            <a:ext cx="2496312" cy="3749040"/>
          </a:xfrm>
          <a:prstGeom prst="rect">
            <a:avLst/>
          </a:prstGeom>
          <a:noFill/>
          <a:ln/>
        </p:spPr>
        <p:txBody>
          <a:bodyPr wrap="square" lIns="0" tIns="0" rIns="0" bIns="0" rtlCol="0" anchor="t"/>
          <a:lstStyle/>
          <a:p>
            <a:pPr marL="228600" indent="-228600">
              <a:spcAft>
                <a:spcPts val="800"/>
              </a:spcAft>
              <a:buSzPct val="100000"/>
              <a:buChar char="•"/>
            </a:pPr>
            <a:r>
              <a:rPr lang="en-US" sz="1500" b="1" dirty="0">
                <a:solidFill>
                  <a:srgbClr val="1F2933"/>
                </a:solidFill>
              </a:rPr>
              <a:t>CE → EO → 계층 SL</a:t>
            </a:r>
            <a:endParaRPr lang="en-US" sz="1500" dirty="0"/>
          </a:p>
          <a:p>
            <a:pPr marL="228600" indent="-228600">
              <a:spcAft>
                <a:spcPts val="800"/>
              </a:spcAft>
              <a:buSzPct val="100000"/>
              <a:buChar char="•"/>
            </a:pPr>
            <a:r>
              <a:rPr lang="en-US" sz="1500" dirty="0">
                <a:solidFill>
                  <a:srgbClr val="1F2933"/>
                </a:solidFill>
              </a:rPr>
              <a:t>weak: 75.9 → 82.6 → 90.2</a:t>
            </a:r>
            <a:endParaRPr lang="en-US" sz="1500" dirty="0"/>
          </a:p>
          <a:p>
            <a:pPr marL="228600" indent="-228600">
              <a:spcAft>
                <a:spcPts val="800"/>
              </a:spcAft>
              <a:buSzPct val="100000"/>
              <a:buChar char="•"/>
            </a:pPr>
            <a:r>
              <a:rPr lang="en-US" sz="1500" dirty="0">
                <a:solidFill>
                  <a:srgbClr val="1F2933"/>
                </a:solidFill>
              </a:rPr>
              <a:t>semi: 71.2 → 73.8 → 81.7</a:t>
            </a:r>
            <a:endParaRPr lang="en-US" sz="1500" dirty="0"/>
          </a:p>
          <a:p>
            <a:pPr marL="228600" indent="-228600">
              <a:spcAft>
                <a:spcPts val="800"/>
              </a:spcAft>
              <a:buSzPct val="100000"/>
              <a:buChar char="•"/>
            </a:pPr>
            <a:r>
              <a:rPr lang="en-US" sz="1500" dirty="0">
                <a:solidFill>
                  <a:srgbClr val="1F2933"/>
                </a:solidFill>
              </a:rPr>
              <a:t>full: 90.9 → 90.9 → 92.5</a:t>
            </a:r>
            <a:endParaRPr lang="en-US" sz="1500" dirty="0"/>
          </a:p>
          <a:p>
            <a:pPr lvl="1" marL="457200" indent="-228600">
              <a:spcAft>
                <a:spcPts val="800"/>
              </a:spcAft>
              <a:buSzPct val="100000"/>
              <a:buChar char="•"/>
            </a:pPr>
            <a:r>
              <a:rPr lang="en-US" sz="1400" dirty="0">
                <a:solidFill>
                  <a:srgbClr val="52606D"/>
                </a:solidFill>
              </a:rPr>
              <a:t>단위 %, y축이 50%에서 시작</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대조 실험 (RQ4): 함의 규칙은 무엇을 바꾸는가?</a:t>
            </a:r>
            <a:endParaRPr lang="en-US" sz="3000" dirty="0"/>
          </a:p>
        </p:txBody>
      </p:sp>
      <p:graphicFrame>
        <p:nvGraphicFramePr>
          <p:cNvPr id="3" name="Chart 0" descr=""/>
          <p:cNvGraphicFramePr/>
          <p:nvPr/>
        </p:nvGraphicFramePr>
        <p:xfrm>
          <a:off x="548640" y="1325880"/>
          <a:ext cx="374904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480560" y="1325880"/>
          <a:ext cx="3749040" cy="365760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120640"/>
            <a:ext cx="7680960" cy="731520"/>
          </a:xfrm>
          <a:prstGeom prst="rect">
            <a:avLst/>
          </a:prstGeom>
          <a:noFill/>
          <a:ln/>
        </p:spPr>
        <p:txBody>
          <a:bodyPr wrap="square" lIns="0" tIns="0" rIns="0" bIns="0" rtlCol="0" anchor="t"/>
          <a:lstStyle/>
          <a:p>
            <a:pPr indent="0" marL="0">
              <a:spcAft>
                <a:spcPts val="600"/>
              </a:spcAft>
              <a:buNone/>
            </a:pPr>
            <a:r>
              <a:rPr lang="en-US" sz="1200" dirty="0">
                <a:solidFill>
                  <a:srgbClr val="7B8794"/>
                </a:solidFill>
              </a:rPr>
              <a:t>막대 = 계층 SL − exactly-one SL (3시드 평균). 참고: 두 방법의 시드 간 표준편차를 합성한 값 — fine: full ±0.2, semi ±1.4, weak ±0.7</a:t>
            </a:r>
            <a:endParaRPr lang="en-US" sz="1200" dirty="0"/>
          </a:p>
        </p:txBody>
      </p:sp>
      <p:sp>
        <p:nvSpPr>
          <p:cNvPr id="6" name="card"/>
          <p:cNvSpPr/>
          <p:nvPr/>
        </p:nvSpPr>
        <p:spPr>
          <a:xfrm>
            <a:off x="8412480" y="1325880"/>
            <a:ext cx="3227832" cy="4617720"/>
          </a:xfrm>
          <a:prstGeom prst="roundRect">
            <a:avLst>
              <a:gd name="adj" fmla="val 3399"/>
            </a:avLst>
          </a:prstGeom>
          <a:solidFill>
            <a:srgbClr val="F1F4F8"/>
          </a:solidFill>
          <a:ln w="12700">
            <a:solidFill>
              <a:srgbClr val="F1F4F8"/>
            </a:solidFill>
            <a:prstDash val="solid"/>
          </a:ln>
        </p:spPr>
      </p:sp>
      <p:sp>
        <p:nvSpPr>
          <p:cNvPr id="7" name="tag"/>
          <p:cNvSpPr/>
          <p:nvPr/>
        </p:nvSpPr>
        <p:spPr>
          <a:xfrm>
            <a:off x="8641080" y="1554480"/>
            <a:ext cx="384048" cy="384048"/>
          </a:xfrm>
          <a:prstGeom prst="ellipse">
            <a:avLst/>
          </a:prstGeom>
          <a:solidFill>
            <a:srgbClr val="4A3AA7"/>
          </a:solidFill>
          <a:ln w="12700">
            <a:solidFill>
              <a:srgbClr val="4A3AA7"/>
            </a:solidFill>
            <a:prstDash val="solid"/>
          </a:ln>
        </p:spPr>
      </p:sp>
      <p:sp>
        <p:nvSpPr>
          <p:cNvPr id="8" name="Text 4"/>
          <p:cNvSpPr txBox="1"/>
          <p:nvPr/>
        </p:nvSpPr>
        <p:spPr>
          <a:xfrm>
            <a:off x="8641080"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9" name="Text 5"/>
          <p:cNvSpPr txBox="1"/>
          <p:nvPr/>
        </p:nvSpPr>
        <p:spPr>
          <a:xfrm>
            <a:off x="9144000" y="1527048"/>
            <a:ext cx="2313432" cy="438912"/>
          </a:xfrm>
          <a:prstGeom prst="rect">
            <a:avLst/>
          </a:prstGeom>
          <a:noFill/>
          <a:ln/>
        </p:spPr>
        <p:txBody>
          <a:bodyPr wrap="square" lIns="0" tIns="0" rIns="0" bIns="0" rtlCol="0" anchor="ctr"/>
          <a:lstStyle/>
          <a:p>
            <a:pPr indent="0" marL="0">
              <a:buNone/>
            </a:pPr>
            <a:r>
              <a:rPr lang="en-US" sz="1800" b="1" dirty="0">
                <a:solidFill>
                  <a:srgbClr val="1F2933"/>
                </a:solidFill>
              </a:rPr>
              <a:t>결론</a:t>
            </a:r>
            <a:endParaRPr lang="en-US" sz="1800" dirty="0"/>
          </a:p>
        </p:txBody>
      </p:sp>
      <p:sp>
        <p:nvSpPr>
          <p:cNvPr id="10" name="Text 6"/>
          <p:cNvSpPr txBox="1"/>
          <p:nvPr/>
        </p:nvSpPr>
        <p:spPr>
          <a:xfrm>
            <a:off x="8641080" y="2057400"/>
            <a:ext cx="2770632" cy="374904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rPr>
              <a:t>정확도 이득의 대부분은 exactly-one(확신) 효과</a:t>
            </a:r>
            <a:endParaRPr lang="en-US" sz="1400" dirty="0"/>
          </a:p>
          <a:p>
            <a:pPr marL="228600" indent="-228600">
              <a:spcAft>
                <a:spcPts val="800"/>
              </a:spcAft>
              <a:buSzPct val="100000"/>
              <a:buChar char="•"/>
            </a:pPr>
            <a:r>
              <a:rPr lang="en-US" sz="1400" dirty="0">
                <a:solidFill>
                  <a:srgbClr val="1F2933"/>
                </a:solidFill>
              </a:rPr>
              <a:t>함의 규칙의 정확도 기여: 노이즈 수준, semi에서는 음수</a:t>
            </a:r>
            <a:endParaRPr lang="en-US" sz="1400" dirty="0"/>
          </a:p>
          <a:p>
            <a:pPr marL="228600" indent="-228600">
              <a:spcAft>
                <a:spcPts val="800"/>
              </a:spcAft>
              <a:buSzPct val="100000"/>
              <a:buChar char="•"/>
            </a:pPr>
            <a:r>
              <a:rPr lang="en-US" sz="1400" dirty="0">
                <a:solidFill>
                  <a:srgbClr val="1F2933"/>
                </a:solidFill>
              </a:rPr>
              <a:t>함의 규칙은 일관성을 약 8%p 올린다 (semi·weak)</a:t>
            </a:r>
            <a:endParaRPr lang="en-US" sz="1400" dirty="0"/>
          </a:p>
          <a:p>
            <a:pPr marL="228600" indent="-228600">
              <a:spcAft>
                <a:spcPts val="800"/>
              </a:spcAft>
              <a:buSzPct val="100000"/>
              <a:buChar char="•"/>
            </a:pPr>
            <a:r>
              <a:rPr lang="en-US" sz="1400" dirty="0">
                <a:solidFill>
                  <a:srgbClr val="1F2933"/>
                </a:solidFill>
              </a:rPr>
              <a:t>처음 가설은 지지되지 않음 → 대조 실험의 가치</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오류의 질과 추론 시 규칙 적용</a:t>
            </a:r>
            <a:endParaRPr lang="en-US" sz="3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862072"/>
                <a:gridCol w="2057400"/>
                <a:gridCol w="2057400"/>
                <a:gridCol w="2057400"/>
                <a:gridCol w="2057400"/>
              </a:tblGrid>
              <a:tr h="502920">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weak 설정 (3시드 평균)</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fine 정확도</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fine (MAP)</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fine (masked)</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c>
                  <a:txBody>
                    <a:bodyPr/>
                    <a:lstStyle/>
                    <a:p>
                      <a:pPr algn="ctr" indent="0" marL="0">
                        <a:buNone/>
                      </a:pPr>
                      <a:r>
                        <a:rPr lang="en-US" sz="1400" b="1" dirty="0">
                          <a:solidFill>
                            <a:srgbClr val="FFFFFF"/>
                          </a:solidFill>
                          <a:latin typeface="Malgun Gothic" pitchFamily="34" charset="0"/>
                          <a:ea typeface="Malgun Gothic" pitchFamily="34" charset="-122"/>
                          <a:cs typeface="Malgun Gothic" pitchFamily="34" charset="-120"/>
                        </a:rPr>
                        <a:t>같은 상위 내 오류</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14202E"/>
                    </a:solidFill>
                  </a:tcPr>
                </a:tc>
              </a:tr>
              <a:tr h="502920">
                <a:tc>
                  <a:txBody>
                    <a:bodyPr/>
                    <a:lstStyle/>
                    <a:p>
                      <a:pPr algn="l" indent="0" marL="0">
                        <a:buNone/>
                      </a:pPr>
                      <a:r>
                        <a:rPr lang="en-US" sz="1400" dirty="0">
                          <a:solidFill>
                            <a:srgbClr val="1F2933"/>
                          </a:solidFill>
                          <a:latin typeface="Malgun Gothic" pitchFamily="34" charset="0"/>
                          <a:ea typeface="Malgun Gothic" pitchFamily="34" charset="-122"/>
                          <a:cs typeface="Malgun Gothic" pitchFamily="34" charset="-120"/>
                        </a:rPr>
                        <a:t>fine+coarse CE</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52.2 ± 2.0</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54.3 ± 1.7</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53.9 ± 1.8</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34.2 ± 1.2</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FFFFF"/>
                    </a:solidFill>
                  </a:tcPr>
                </a:tc>
              </a:tr>
              <a:tr h="502920">
                <a:tc>
                  <a:txBody>
                    <a:bodyPr/>
                    <a:lstStyle/>
                    <a:p>
                      <a:pPr algn="l" indent="0" marL="0">
                        <a:buNone/>
                      </a:pPr>
                      <a:r>
                        <a:rPr lang="en-US" sz="1400" dirty="0">
                          <a:solidFill>
                            <a:srgbClr val="1F2933"/>
                          </a:solidFill>
                          <a:latin typeface="Malgun Gothic" pitchFamily="34" charset="0"/>
                          <a:ea typeface="Malgun Gothic" pitchFamily="34" charset="-122"/>
                          <a:cs typeface="Malgun Gothic" pitchFamily="34" charset="-120"/>
                        </a:rPr>
                        <a:t>+ exactly-one SL</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57.4 ± 0.5</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58.9 ± 0.5</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58.7 ± 0.6</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36.1 ± 0.5</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7F9FB"/>
                    </a:solidFill>
                  </a:tcPr>
                </a:tc>
              </a:tr>
              <a:tr h="502920">
                <a:tc>
                  <a:txBody>
                    <a:bodyPr/>
                    <a:lstStyle/>
                    <a:p>
                      <a:pPr algn="l" indent="0" marL="0">
                        <a:buNone/>
                      </a:pPr>
                      <a:r>
                        <a:rPr lang="en-US" sz="1400" b="1" dirty="0">
                          <a:solidFill>
                            <a:srgbClr val="1F2933"/>
                          </a:solidFill>
                          <a:latin typeface="Malgun Gothic" pitchFamily="34" charset="0"/>
                          <a:ea typeface="Malgun Gothic" pitchFamily="34" charset="-122"/>
                          <a:cs typeface="Malgun Gothic" pitchFamily="34" charset="-120"/>
                        </a:rPr>
                        <a:t>+ 계층 의미 손실</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57.8 ± 0.5</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58.1 ± 0.5</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400" dirty="0">
                          <a:solidFill>
                            <a:srgbClr val="1F2933"/>
                          </a:solidFill>
                          <a:latin typeface="Malgun Gothic" pitchFamily="34" charset="0"/>
                          <a:ea typeface="Malgun Gothic" pitchFamily="34" charset="-122"/>
                          <a:cs typeface="Malgun Gothic" pitchFamily="34" charset="-120"/>
                        </a:rPr>
                        <a:t>58.0 ± 0.4</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c>
                  <a:txBody>
                    <a:bodyPr/>
                    <a:lstStyle/>
                    <a:p>
                      <a:pPr algn="ctr" indent="0" marL="0">
                        <a:buNone/>
                      </a:pPr>
                      <a:r>
                        <a:rPr lang="en-US" sz="1400" b="1" dirty="0">
                          <a:solidFill>
                            <a:srgbClr val="1F2933"/>
                          </a:solidFill>
                          <a:latin typeface="Malgun Gothic" pitchFamily="34" charset="0"/>
                          <a:ea typeface="Malgun Gothic" pitchFamily="34" charset="-122"/>
                          <a:cs typeface="Malgun Gothic" pitchFamily="34" charset="-120"/>
                        </a:rPr>
                        <a:t>40.2 ± 1.0</a:t>
                      </a:r>
                      <a:endParaRPr lang="en-US" sz="1400" dirty="0">
                        <a:latin typeface="Malgun Gothic" charset="0"/>
                        <a:ea typeface="Malgun Gothic" charset="0"/>
                        <a:cs typeface="Malgun Gothic" charset="0"/>
                      </a:endParaRPr>
                    </a:p>
                  </a:txBody>
                  <a:tcPr marL="76200" marR="76200" marT="25400" marB="25400" anchor="ctr">
                    <a:lnL w="9525" cap="flat" cmpd="sng" algn="ctr">
                      <a:solidFill>
                        <a:srgbClr val="D9DEE5"/>
                      </a:solidFill>
                      <a:prstDash val="solid"/>
                      <a:round/>
                      <a:headEnd type="none" w="med" len="med"/>
                      <a:tailEnd type="none" w="med" len="med"/>
                    </a:lnL>
                    <a:lnR w="9525" cap="flat" cmpd="sng" algn="ctr">
                      <a:solidFill>
                        <a:srgbClr val="D9DEE5"/>
                      </a:solidFill>
                      <a:prstDash val="solid"/>
                      <a:round/>
                      <a:headEnd type="none" w="med" len="med"/>
                      <a:tailEnd type="none" w="med" len="med"/>
                    </a:lnR>
                    <a:lnT w="9525" cap="flat" cmpd="sng" algn="ctr">
                      <a:solidFill>
                        <a:srgbClr val="D9DEE5"/>
                      </a:solidFill>
                      <a:prstDash val="solid"/>
                      <a:round/>
                      <a:headEnd type="none" w="med" len="med"/>
                      <a:tailEnd type="none" w="med" len="med"/>
                    </a:lnT>
                    <a:lnB w="9525" cap="flat" cmpd="sng" algn="ctr">
                      <a:solidFill>
                        <a:srgbClr val="D9DEE5"/>
                      </a:solidFill>
                      <a:prstDash val="solid"/>
                      <a:round/>
                      <a:headEnd type="none" w="med" len="med"/>
                      <a:tailEnd type="none" w="med" len="med"/>
                    </a:lnB>
                    <a:solidFill>
                      <a:srgbClr val="FDEEE6"/>
                    </a:solidFill>
                  </a:tcPr>
                </a:tc>
              </a:tr>
            </a:tbl>
          </a:graphicData>
        </a:graphic>
      </p:graphicFrame>
      <p:sp>
        <p:nvSpPr>
          <p:cNvPr id="4" name="card"/>
          <p:cNvSpPr/>
          <p:nvPr/>
        </p:nvSpPr>
        <p:spPr>
          <a:xfrm>
            <a:off x="548640" y="3657600"/>
            <a:ext cx="5394960" cy="2240280"/>
          </a:xfrm>
          <a:prstGeom prst="roundRect">
            <a:avLst>
              <a:gd name="adj" fmla="val 4898"/>
            </a:avLst>
          </a:prstGeom>
          <a:solidFill>
            <a:srgbClr val="FDEEE6"/>
          </a:solidFill>
          <a:ln w="12700">
            <a:solidFill>
              <a:srgbClr val="FDEEE6"/>
            </a:solidFill>
            <a:prstDash val="solid"/>
          </a:ln>
        </p:spPr>
      </p:sp>
      <p:sp>
        <p:nvSpPr>
          <p:cNvPr id="5" name="tag"/>
          <p:cNvSpPr/>
          <p:nvPr/>
        </p:nvSpPr>
        <p:spPr>
          <a:xfrm>
            <a:off x="777240" y="3886200"/>
            <a:ext cx="384048" cy="384048"/>
          </a:xfrm>
          <a:prstGeom prst="ellipse">
            <a:avLst/>
          </a:prstGeom>
          <a:solidFill>
            <a:srgbClr val="EB6834"/>
          </a:solidFill>
          <a:ln w="12700">
            <a:solidFill>
              <a:srgbClr val="EB6834"/>
            </a:solidFill>
            <a:prstDash val="solid"/>
          </a:ln>
        </p:spPr>
      </p:sp>
      <p:sp>
        <p:nvSpPr>
          <p:cNvPr id="6" name="Text 3"/>
          <p:cNvSpPr txBox="1"/>
          <p:nvPr/>
        </p:nvSpPr>
        <p:spPr>
          <a:xfrm>
            <a:off x="77724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4"/>
          <p:cNvSpPr txBox="1"/>
          <p:nvPr/>
        </p:nvSpPr>
        <p:spPr>
          <a:xfrm>
            <a:off x="1280160" y="3858768"/>
            <a:ext cx="4480560" cy="438912"/>
          </a:xfrm>
          <a:prstGeom prst="rect">
            <a:avLst/>
          </a:prstGeom>
          <a:noFill/>
          <a:ln/>
        </p:spPr>
        <p:txBody>
          <a:bodyPr wrap="square" lIns="0" tIns="0" rIns="0" bIns="0" rtlCol="0" anchor="ctr"/>
          <a:lstStyle/>
          <a:p>
            <a:pPr indent="0" marL="0">
              <a:buNone/>
            </a:pPr>
            <a:r>
              <a:rPr lang="en-US" sz="1800" b="1" dirty="0">
                <a:solidFill>
                  <a:srgbClr val="1F2933"/>
                </a:solidFill>
              </a:rPr>
              <a:t>틀려도 덜 심하게 틀린다</a:t>
            </a:r>
            <a:endParaRPr lang="en-US" sz="1800" dirty="0"/>
          </a:p>
        </p:txBody>
      </p:sp>
      <p:sp>
        <p:nvSpPr>
          <p:cNvPr id="8" name="Text 5"/>
          <p:cNvSpPr txBox="1"/>
          <p:nvPr/>
        </p:nvSpPr>
        <p:spPr>
          <a:xfrm>
            <a:off x="777240" y="4389120"/>
            <a:ext cx="4937760" cy="13716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rPr>
              <a:t>같은 상위 클래스 안의 오답 비율: CE &lt; exactly-one &lt; 계층</a:t>
            </a:r>
            <a:endParaRPr lang="en-US" sz="1400" dirty="0"/>
          </a:p>
          <a:p>
            <a:pPr marL="228600" indent="-228600">
              <a:spcAft>
                <a:spcPts val="800"/>
              </a:spcAft>
              <a:buSzPct val="100000"/>
              <a:buChar char="•"/>
            </a:pPr>
            <a:r>
              <a:rPr lang="en-US" sz="1400" dirty="0">
                <a:solidFill>
                  <a:srgbClr val="1F2933"/>
                </a:solidFill>
              </a:rPr>
              <a:t>예: lion을 tiger로 틀리지, truck으로 틀리지 않는다</a:t>
            </a:r>
            <a:endParaRPr lang="en-US" sz="1400" dirty="0"/>
          </a:p>
        </p:txBody>
      </p:sp>
      <p:sp>
        <p:nvSpPr>
          <p:cNvPr id="9" name="card"/>
          <p:cNvSpPr/>
          <p:nvPr/>
        </p:nvSpPr>
        <p:spPr>
          <a:xfrm>
            <a:off x="6217920" y="3657600"/>
            <a:ext cx="5394960" cy="2240280"/>
          </a:xfrm>
          <a:prstGeom prst="roundRect">
            <a:avLst>
              <a:gd name="adj" fmla="val 4898"/>
            </a:avLst>
          </a:prstGeom>
          <a:solidFill>
            <a:srgbClr val="F1F4F8"/>
          </a:solidFill>
          <a:ln w="12700">
            <a:solidFill>
              <a:srgbClr val="F1F4F8"/>
            </a:solidFill>
            <a:prstDash val="solid"/>
          </a:ln>
        </p:spPr>
      </p:sp>
      <p:sp>
        <p:nvSpPr>
          <p:cNvPr id="10" name="tag"/>
          <p:cNvSpPr/>
          <p:nvPr/>
        </p:nvSpPr>
        <p:spPr>
          <a:xfrm>
            <a:off x="6446520" y="3886200"/>
            <a:ext cx="384048" cy="384048"/>
          </a:xfrm>
          <a:prstGeom prst="ellipse">
            <a:avLst/>
          </a:prstGeom>
          <a:solidFill>
            <a:srgbClr val="4A3AA7"/>
          </a:solidFill>
          <a:ln w="12700">
            <a:solidFill>
              <a:srgbClr val="4A3AA7"/>
            </a:solidFill>
            <a:prstDash val="solid"/>
          </a:ln>
        </p:spPr>
      </p:sp>
      <p:sp>
        <p:nvSpPr>
          <p:cNvPr id="11" name="Text 8"/>
          <p:cNvSpPr txBox="1"/>
          <p:nvPr/>
        </p:nvSpPr>
        <p:spPr>
          <a:xfrm>
            <a:off x="644652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9"/>
          <p:cNvSpPr txBox="1"/>
          <p:nvPr/>
        </p:nvSpPr>
        <p:spPr>
          <a:xfrm>
            <a:off x="6949440" y="3858768"/>
            <a:ext cx="4480560" cy="438912"/>
          </a:xfrm>
          <a:prstGeom prst="rect">
            <a:avLst/>
          </a:prstGeom>
          <a:noFill/>
          <a:ln/>
        </p:spPr>
        <p:txBody>
          <a:bodyPr wrap="square" lIns="0" tIns="0" rIns="0" bIns="0" rtlCol="0" anchor="ctr"/>
          <a:lstStyle/>
          <a:p>
            <a:pPr indent="0" marL="0">
              <a:buNone/>
            </a:pPr>
            <a:r>
              <a:rPr lang="en-US" sz="1800" b="1" dirty="0">
                <a:solidFill>
                  <a:srgbClr val="1F2933"/>
                </a:solidFill>
              </a:rPr>
              <a:t>학습 시 주입 &gt; 추론 시 적용</a:t>
            </a:r>
            <a:endParaRPr lang="en-US" sz="1800" dirty="0"/>
          </a:p>
        </p:txBody>
      </p:sp>
      <p:sp>
        <p:nvSpPr>
          <p:cNvPr id="13" name="Text 10"/>
          <p:cNvSpPr txBox="1"/>
          <p:nvPr/>
        </p:nvSpPr>
        <p:spPr>
          <a:xfrm>
            <a:off x="6446520" y="4389120"/>
            <a:ext cx="4937760" cy="13716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rPr>
              <a:t>MAP·마스킹은 CE 모델의 정확도를 약 2%p 올린다</a:t>
            </a:r>
            <a:endParaRPr lang="en-US" sz="1400" dirty="0"/>
          </a:p>
          <a:p>
            <a:pPr marL="228600" indent="-228600">
              <a:spcAft>
                <a:spcPts val="800"/>
              </a:spcAft>
              <a:buSzPct val="100000"/>
              <a:buChar char="•"/>
            </a:pPr>
            <a:r>
              <a:rPr lang="en-US" sz="1400" dirty="0">
                <a:solidFill>
                  <a:srgbClr val="1F2933"/>
                </a:solidFill>
              </a:rPr>
              <a:t>그래도 학습 시 의미 손실을 쓴 모델보다 낮다</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토론: 한계와 주의할 점</a:t>
            </a:r>
            <a:endParaRPr lang="en-US" sz="3000" dirty="0"/>
          </a:p>
        </p:txBody>
      </p:sp>
      <p:sp>
        <p:nvSpPr>
          <p:cNvPr id="3" name="card"/>
          <p:cNvSpPr/>
          <p:nvPr/>
        </p:nvSpPr>
        <p:spPr>
          <a:xfrm>
            <a:off x="548640" y="1371600"/>
            <a:ext cx="5440680" cy="2057400"/>
          </a:xfrm>
          <a:prstGeom prst="roundRect">
            <a:avLst>
              <a:gd name="adj" fmla="val 5333"/>
            </a:avLst>
          </a:prstGeom>
          <a:solidFill>
            <a:srgbClr val="F1F4F8"/>
          </a:solidFill>
          <a:ln w="12700">
            <a:solidFill>
              <a:srgbClr val="F1F4F8"/>
            </a:solidFill>
            <a:prstDash val="solid"/>
          </a:ln>
        </p:spPr>
      </p:sp>
      <p:sp>
        <p:nvSpPr>
          <p:cNvPr id="4" name="tag"/>
          <p:cNvSpPr/>
          <p:nvPr/>
        </p:nvSpPr>
        <p:spPr>
          <a:xfrm>
            <a:off x="777240" y="1600200"/>
            <a:ext cx="384048" cy="384048"/>
          </a:xfrm>
          <a:prstGeom prst="ellipse">
            <a:avLst/>
          </a:prstGeom>
          <a:solidFill>
            <a:srgbClr val="EB6834"/>
          </a:solidFill>
          <a:ln w="12700">
            <a:solidFill>
              <a:srgbClr val="EB6834"/>
            </a:solidFill>
            <a:prstDash val="solid"/>
          </a:ln>
        </p:spPr>
      </p:sp>
      <p:sp>
        <p:nvSpPr>
          <p:cNvPr id="5" name="Text 3"/>
          <p:cNvSpPr txBox="1"/>
          <p:nvPr/>
        </p:nvSpPr>
        <p:spPr>
          <a:xfrm>
            <a:off x="77724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280160" y="157276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정확도 이득의 원천</a:t>
            </a:r>
            <a:endParaRPr lang="en-US" sz="1800" dirty="0"/>
          </a:p>
        </p:txBody>
      </p:sp>
      <p:sp>
        <p:nvSpPr>
          <p:cNvPr id="7" name="Text 5"/>
          <p:cNvSpPr txBox="1"/>
          <p:nvPr/>
        </p:nvSpPr>
        <p:spPr>
          <a:xfrm>
            <a:off x="777240" y="2103120"/>
            <a:ext cx="4983480" cy="118872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대부분 exactly-one(확신) 효과 — 엔트로피 최소화 같은 일반 준지도 기법과 비교가 필요</a:t>
            </a:r>
            <a:endParaRPr lang="en-US" sz="1400" dirty="0"/>
          </a:p>
        </p:txBody>
      </p:sp>
      <p:sp>
        <p:nvSpPr>
          <p:cNvPr id="8" name="card"/>
          <p:cNvSpPr/>
          <p:nvPr/>
        </p:nvSpPr>
        <p:spPr>
          <a:xfrm>
            <a:off x="6172200" y="1371600"/>
            <a:ext cx="5440680" cy="2057400"/>
          </a:xfrm>
          <a:prstGeom prst="roundRect">
            <a:avLst>
              <a:gd name="adj" fmla="val 5333"/>
            </a:avLst>
          </a:prstGeom>
          <a:solidFill>
            <a:srgbClr val="F1F4F8"/>
          </a:solidFill>
          <a:ln w="12700">
            <a:solidFill>
              <a:srgbClr val="F1F4F8"/>
            </a:solidFill>
            <a:prstDash val="solid"/>
          </a:ln>
        </p:spPr>
      </p:sp>
      <p:sp>
        <p:nvSpPr>
          <p:cNvPr id="9" name="tag"/>
          <p:cNvSpPr/>
          <p:nvPr/>
        </p:nvSpPr>
        <p:spPr>
          <a:xfrm>
            <a:off x="6400800" y="1600200"/>
            <a:ext cx="384048" cy="384048"/>
          </a:xfrm>
          <a:prstGeom prst="ellipse">
            <a:avLst/>
          </a:prstGeom>
          <a:solidFill>
            <a:srgbClr val="4A3AA7"/>
          </a:solidFill>
          <a:ln w="12700">
            <a:solidFill>
              <a:srgbClr val="4A3AA7"/>
            </a:solidFill>
            <a:prstDash val="solid"/>
          </a:ln>
        </p:spPr>
      </p:sp>
      <p:sp>
        <p:nvSpPr>
          <p:cNvPr id="10" name="Text 8"/>
          <p:cNvSpPr txBox="1"/>
          <p:nvPr/>
        </p:nvSpPr>
        <p:spPr>
          <a:xfrm>
            <a:off x="640080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txBox="1"/>
          <p:nvPr/>
        </p:nvSpPr>
        <p:spPr>
          <a:xfrm>
            <a:off x="6903720" y="157276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λ 민감도</a:t>
            </a:r>
            <a:endParaRPr lang="en-US" sz="1800" dirty="0"/>
          </a:p>
        </p:txBody>
      </p:sp>
      <p:sp>
        <p:nvSpPr>
          <p:cNvPr id="12" name="Text 10"/>
          <p:cNvSpPr txBox="1"/>
          <p:nvPr/>
        </p:nvSpPr>
        <p:spPr>
          <a:xfrm>
            <a:off x="6400800" y="2103120"/>
            <a:ext cx="4983480" cy="118872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최적 λ 근처에 붕괴 구간 (λ=5). 검증셋 튜닝과 웜업이 필수</a:t>
            </a:r>
            <a:endParaRPr lang="en-US" sz="1400" dirty="0"/>
          </a:p>
        </p:txBody>
      </p:sp>
      <p:sp>
        <p:nvSpPr>
          <p:cNvPr id="13" name="card"/>
          <p:cNvSpPr/>
          <p:nvPr/>
        </p:nvSpPr>
        <p:spPr>
          <a:xfrm>
            <a:off x="548640" y="3657600"/>
            <a:ext cx="5440680" cy="2057400"/>
          </a:xfrm>
          <a:prstGeom prst="roundRect">
            <a:avLst>
              <a:gd name="adj" fmla="val 5333"/>
            </a:avLst>
          </a:prstGeom>
          <a:solidFill>
            <a:srgbClr val="F1F4F8"/>
          </a:solidFill>
          <a:ln w="12700">
            <a:solidFill>
              <a:srgbClr val="F1F4F8"/>
            </a:solidFill>
            <a:prstDash val="solid"/>
          </a:ln>
        </p:spPr>
      </p:sp>
      <p:sp>
        <p:nvSpPr>
          <p:cNvPr id="14" name="tag"/>
          <p:cNvSpPr/>
          <p:nvPr/>
        </p:nvSpPr>
        <p:spPr>
          <a:xfrm>
            <a:off x="777240" y="3886200"/>
            <a:ext cx="384048" cy="384048"/>
          </a:xfrm>
          <a:prstGeom prst="ellipse">
            <a:avLst/>
          </a:prstGeom>
          <a:solidFill>
            <a:srgbClr val="2A78D6"/>
          </a:solidFill>
          <a:ln w="12700">
            <a:solidFill>
              <a:srgbClr val="2A78D6"/>
            </a:solidFill>
            <a:prstDash val="solid"/>
          </a:ln>
        </p:spPr>
      </p:sp>
      <p:sp>
        <p:nvSpPr>
          <p:cNvPr id="15" name="Text 13"/>
          <p:cNvSpPr txBox="1"/>
          <p:nvPr/>
        </p:nvSpPr>
        <p:spPr>
          <a:xfrm>
            <a:off x="77724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4"/>
          <p:cNvSpPr txBox="1"/>
          <p:nvPr/>
        </p:nvSpPr>
        <p:spPr>
          <a:xfrm>
            <a:off x="1280160" y="385876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확률 보정</a:t>
            </a:r>
            <a:endParaRPr lang="en-US" sz="1800" dirty="0"/>
          </a:p>
        </p:txBody>
      </p:sp>
      <p:sp>
        <p:nvSpPr>
          <p:cNvPr id="17" name="Text 15"/>
          <p:cNvSpPr txBox="1"/>
          <p:nvPr/>
        </p:nvSpPr>
        <p:spPr>
          <a:xfrm>
            <a:off x="777240" y="4389120"/>
            <a:ext cx="4983480" cy="118872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CE(소프트맥스)만 쓴 모델의 시그모이드는 확률로 보정되지 않음 → log Pr(α) ≈ −200은 비교 불가</a:t>
            </a:r>
            <a:endParaRPr lang="en-US" sz="1400" dirty="0"/>
          </a:p>
        </p:txBody>
      </p:sp>
      <p:sp>
        <p:nvSpPr>
          <p:cNvPr id="18" name="card"/>
          <p:cNvSpPr/>
          <p:nvPr/>
        </p:nvSpPr>
        <p:spPr>
          <a:xfrm>
            <a:off x="6172200" y="3657600"/>
            <a:ext cx="5440680" cy="2057400"/>
          </a:xfrm>
          <a:prstGeom prst="roundRect">
            <a:avLst>
              <a:gd name="adj" fmla="val 5333"/>
            </a:avLst>
          </a:prstGeom>
          <a:solidFill>
            <a:srgbClr val="F1F4F8"/>
          </a:solidFill>
          <a:ln w="12700">
            <a:solidFill>
              <a:srgbClr val="F1F4F8"/>
            </a:solidFill>
            <a:prstDash val="solid"/>
          </a:ln>
        </p:spPr>
      </p:sp>
      <p:sp>
        <p:nvSpPr>
          <p:cNvPr id="19" name="tag"/>
          <p:cNvSpPr/>
          <p:nvPr/>
        </p:nvSpPr>
        <p:spPr>
          <a:xfrm>
            <a:off x="6400800" y="3886200"/>
            <a:ext cx="384048" cy="384048"/>
          </a:xfrm>
          <a:prstGeom prst="ellipse">
            <a:avLst/>
          </a:prstGeom>
          <a:solidFill>
            <a:srgbClr val="52606D"/>
          </a:solidFill>
          <a:ln w="12700">
            <a:solidFill>
              <a:srgbClr val="52606D"/>
            </a:solidFill>
            <a:prstDash val="solid"/>
          </a:ln>
        </p:spPr>
      </p:sp>
      <p:sp>
        <p:nvSpPr>
          <p:cNvPr id="20" name="Text 18"/>
          <p:cNvSpPr txBox="1"/>
          <p:nvPr/>
        </p:nvSpPr>
        <p:spPr>
          <a:xfrm>
            <a:off x="640080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Text 19"/>
          <p:cNvSpPr txBox="1"/>
          <p:nvPr/>
        </p:nvSpPr>
        <p:spPr>
          <a:xfrm>
            <a:off x="6903720" y="385876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범위</a:t>
            </a:r>
            <a:endParaRPr lang="en-US" sz="1800" dirty="0"/>
          </a:p>
        </p:txBody>
      </p:sp>
      <p:sp>
        <p:nvSpPr>
          <p:cNvPr id="22" name="Text 20"/>
          <p:cNvSpPr txBox="1"/>
          <p:nvPr/>
        </p:nvSpPr>
        <p:spPr>
          <a:xfrm>
            <a:off x="6400800" y="4389120"/>
            <a:ext cx="4983480" cy="118872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닫힌 형태가 있는 단순한 제약, 데이터셋·모델 1개, 30 에폭, 시드 3개. 일반 CNF는 지식 컴파일 필요</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핵심 정리</a:t>
            </a:r>
            <a:endParaRPr lang="en-US" sz="3000" dirty="0"/>
          </a:p>
        </p:txBody>
      </p:sp>
      <p:sp>
        <p:nvSpPr>
          <p:cNvPr id="3" name="num"/>
          <p:cNvSpPr/>
          <p:nvPr/>
        </p:nvSpPr>
        <p:spPr>
          <a:xfrm>
            <a:off x="548640" y="1463040"/>
            <a:ext cx="731520" cy="731520"/>
          </a:xfrm>
          <a:prstGeom prst="ellipse">
            <a:avLst/>
          </a:prstGeom>
          <a:solidFill>
            <a:srgbClr val="EB6834"/>
          </a:solidFill>
          <a:ln w="12700">
            <a:solidFill>
              <a:srgbClr val="EB6834"/>
            </a:solidFill>
            <a:prstDash val="solid"/>
          </a:ln>
        </p:spPr>
      </p:sp>
      <p:sp>
        <p:nvSpPr>
          <p:cNvPr id="4" name="Text 2"/>
          <p:cNvSpPr txBox="1"/>
          <p:nvPr/>
        </p:nvSpPr>
        <p:spPr>
          <a:xfrm>
            <a:off x="548640" y="146304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rPr>
              <a:t>1</a:t>
            </a:r>
            <a:endParaRPr lang="en-US" sz="2600" dirty="0"/>
          </a:p>
        </p:txBody>
      </p:sp>
      <p:sp>
        <p:nvSpPr>
          <p:cNvPr id="5" name="Text 3"/>
          <p:cNvSpPr txBox="1"/>
          <p:nvPr/>
        </p:nvSpPr>
        <p:spPr>
          <a:xfrm>
            <a:off x="1554480" y="1371600"/>
            <a:ext cx="10088575" cy="502920"/>
          </a:xfrm>
          <a:prstGeom prst="rect">
            <a:avLst/>
          </a:prstGeom>
          <a:noFill/>
          <a:ln/>
        </p:spPr>
        <p:txBody>
          <a:bodyPr wrap="square" lIns="0" tIns="0" rIns="0" bIns="0" rtlCol="0" anchor="ctr"/>
          <a:lstStyle/>
          <a:p>
            <a:pPr indent="0" marL="0">
              <a:buNone/>
            </a:pPr>
            <a:r>
              <a:rPr lang="en-US" sz="2100" b="1" dirty="0">
                <a:solidFill>
                  <a:srgbClr val="1F2933"/>
                </a:solidFill>
              </a:rPr>
              <a:t>의미 손실 = −log Pr(규칙 만족)</a:t>
            </a:r>
            <a:endParaRPr lang="en-US" sz="2100" dirty="0"/>
          </a:p>
        </p:txBody>
      </p:sp>
      <p:sp>
        <p:nvSpPr>
          <p:cNvPr id="6" name="Text 4"/>
          <p:cNvSpPr txBox="1"/>
          <p:nvPr/>
        </p:nvSpPr>
        <p:spPr>
          <a:xfrm>
            <a:off x="1554480" y="1901952"/>
            <a:ext cx="10088575" cy="731520"/>
          </a:xfrm>
          <a:prstGeom prst="rect">
            <a:avLst/>
          </a:prstGeom>
          <a:noFill/>
          <a:ln/>
        </p:spPr>
        <p:txBody>
          <a:bodyPr wrap="square" lIns="0" tIns="0" rIns="0" bIns="0" rtlCol="0" anchor="t"/>
          <a:lstStyle/>
          <a:p>
            <a:pPr indent="0" marL="0">
              <a:buNone/>
            </a:pPr>
            <a:r>
              <a:rPr lang="en-US" sz="1500" dirty="0">
                <a:solidFill>
                  <a:srgbClr val="52606D"/>
                </a:solidFill>
              </a:rPr>
              <a:t>신경망 출력을 독립 확률로 보고, 규칙을 만족하는 세계들의 확률 합을 최대화한다. 미분 가능하고 라벨이 필요 없다.</a:t>
            </a:r>
            <a:endParaRPr lang="en-US" sz="1500" dirty="0"/>
          </a:p>
        </p:txBody>
      </p:sp>
      <p:sp>
        <p:nvSpPr>
          <p:cNvPr id="7" name="num"/>
          <p:cNvSpPr/>
          <p:nvPr/>
        </p:nvSpPr>
        <p:spPr>
          <a:xfrm>
            <a:off x="548640" y="2971800"/>
            <a:ext cx="731520" cy="731520"/>
          </a:xfrm>
          <a:prstGeom prst="ellipse">
            <a:avLst/>
          </a:prstGeom>
          <a:solidFill>
            <a:srgbClr val="4A3AA7"/>
          </a:solidFill>
          <a:ln w="12700">
            <a:solidFill>
              <a:srgbClr val="4A3AA7"/>
            </a:solidFill>
            <a:prstDash val="solid"/>
          </a:ln>
        </p:spPr>
      </p:sp>
      <p:sp>
        <p:nvSpPr>
          <p:cNvPr id="8" name="Text 6"/>
          <p:cNvSpPr txBox="1"/>
          <p:nvPr/>
        </p:nvSpPr>
        <p:spPr>
          <a:xfrm>
            <a:off x="548640" y="297180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rPr>
              <a:t>2</a:t>
            </a:r>
            <a:endParaRPr lang="en-US" sz="2600" dirty="0"/>
          </a:p>
        </p:txBody>
      </p:sp>
      <p:sp>
        <p:nvSpPr>
          <p:cNvPr id="9" name="Text 7"/>
          <p:cNvSpPr txBox="1"/>
          <p:nvPr/>
        </p:nvSpPr>
        <p:spPr>
          <a:xfrm>
            <a:off x="1554480" y="2880360"/>
            <a:ext cx="10088575" cy="502920"/>
          </a:xfrm>
          <a:prstGeom prst="rect">
            <a:avLst/>
          </a:prstGeom>
          <a:noFill/>
          <a:ln/>
        </p:spPr>
        <p:txBody>
          <a:bodyPr wrap="square" lIns="0" tIns="0" rIns="0" bIns="0" rtlCol="0" anchor="ctr"/>
          <a:lstStyle/>
          <a:p>
            <a:pPr indent="0" marL="0">
              <a:buNone/>
            </a:pPr>
            <a:r>
              <a:rPr lang="en-US" sz="2100" b="1" dirty="0">
                <a:solidFill>
                  <a:srgbClr val="1F2933"/>
                </a:solidFill>
              </a:rPr>
              <a:t>기울기가 논리 추론을 수행한다</a:t>
            </a:r>
            <a:endParaRPr lang="en-US" sz="2100" dirty="0"/>
          </a:p>
        </p:txBody>
      </p:sp>
      <p:sp>
        <p:nvSpPr>
          <p:cNvPr id="10" name="Text 8"/>
          <p:cNvSpPr txBox="1"/>
          <p:nvPr/>
        </p:nvSpPr>
        <p:spPr>
          <a:xfrm>
            <a:off x="1554480" y="3410712"/>
            <a:ext cx="10088575" cy="731520"/>
          </a:xfrm>
          <a:prstGeom prst="rect">
            <a:avLst/>
          </a:prstGeom>
          <a:noFill/>
          <a:ln/>
        </p:spPr>
        <p:txBody>
          <a:bodyPr wrap="square" lIns="0" tIns="0" rIns="0" bIns="0" rtlCol="0" anchor="t"/>
          <a:lstStyle/>
          <a:p>
            <a:pPr indent="0" marL="0">
              <a:buNone/>
            </a:pPr>
            <a:r>
              <a:rPr lang="en-US" sz="1500" dirty="0">
                <a:solidFill>
                  <a:srgbClr val="52606D"/>
                </a:solidFill>
              </a:rPr>
              <a:t>깨진 규칙에 기울기가 집중되고(전건 긍정), 모순 해소의 방향은 데이터(CE)와의 균형이 정한다.</a:t>
            </a:r>
            <a:endParaRPr lang="en-US" sz="1500" dirty="0"/>
          </a:p>
        </p:txBody>
      </p:sp>
      <p:sp>
        <p:nvSpPr>
          <p:cNvPr id="11" name="num"/>
          <p:cNvSpPr/>
          <p:nvPr/>
        </p:nvSpPr>
        <p:spPr>
          <a:xfrm>
            <a:off x="548640" y="4480560"/>
            <a:ext cx="731520" cy="731520"/>
          </a:xfrm>
          <a:prstGeom prst="ellipse">
            <a:avLst/>
          </a:prstGeom>
          <a:solidFill>
            <a:srgbClr val="2A78D6"/>
          </a:solidFill>
          <a:ln w="12700">
            <a:solidFill>
              <a:srgbClr val="2A78D6"/>
            </a:solidFill>
            <a:prstDash val="solid"/>
          </a:ln>
        </p:spPr>
      </p:sp>
      <p:sp>
        <p:nvSpPr>
          <p:cNvPr id="12" name="Text 10"/>
          <p:cNvSpPr txBox="1"/>
          <p:nvPr/>
        </p:nvSpPr>
        <p:spPr>
          <a:xfrm>
            <a:off x="548640" y="4480560"/>
            <a:ext cx="731520" cy="731520"/>
          </a:xfrm>
          <a:prstGeom prst="rect">
            <a:avLst/>
          </a:prstGeom>
          <a:noFill/>
          <a:ln/>
        </p:spPr>
        <p:txBody>
          <a:bodyPr wrap="square" lIns="0" tIns="0" rIns="0" bIns="0" rtlCol="0" anchor="ctr"/>
          <a:lstStyle/>
          <a:p>
            <a:pPr algn="ctr" indent="0" marL="0">
              <a:buNone/>
            </a:pPr>
            <a:r>
              <a:rPr lang="en-US" sz="2600" b="1" dirty="0">
                <a:solidFill>
                  <a:srgbClr val="FFFFFF"/>
                </a:solidFill>
              </a:rPr>
              <a:t>3</a:t>
            </a:r>
            <a:endParaRPr lang="en-US" sz="2600" dirty="0"/>
          </a:p>
        </p:txBody>
      </p:sp>
      <p:sp>
        <p:nvSpPr>
          <p:cNvPr id="13" name="Text 11"/>
          <p:cNvSpPr txBox="1"/>
          <p:nvPr/>
        </p:nvSpPr>
        <p:spPr>
          <a:xfrm>
            <a:off x="1554480" y="4389120"/>
            <a:ext cx="10088575" cy="502920"/>
          </a:xfrm>
          <a:prstGeom prst="rect">
            <a:avLst/>
          </a:prstGeom>
          <a:noFill/>
          <a:ln/>
        </p:spPr>
        <p:txBody>
          <a:bodyPr wrap="square" lIns="0" tIns="0" rIns="0" bIns="0" rtlCol="0" anchor="ctr"/>
          <a:lstStyle/>
          <a:p>
            <a:pPr indent="0" marL="0">
              <a:buNone/>
            </a:pPr>
            <a:r>
              <a:rPr lang="en-US" sz="2100" b="1" dirty="0">
                <a:solidFill>
                  <a:srgbClr val="1F2933"/>
                </a:solidFill>
              </a:rPr>
              <a:t>정확도는 확신이, 규칙 준수는 함의 규칙이 만든다</a:t>
            </a:r>
            <a:endParaRPr lang="en-US" sz="2100" dirty="0"/>
          </a:p>
        </p:txBody>
      </p:sp>
      <p:sp>
        <p:nvSpPr>
          <p:cNvPr id="14" name="Text 12"/>
          <p:cNvSpPr txBox="1"/>
          <p:nvPr/>
        </p:nvSpPr>
        <p:spPr>
          <a:xfrm>
            <a:off x="1554480" y="4919472"/>
            <a:ext cx="10088575" cy="731520"/>
          </a:xfrm>
          <a:prstGeom prst="rect">
            <a:avLst/>
          </a:prstGeom>
          <a:noFill/>
          <a:ln/>
        </p:spPr>
        <p:txBody>
          <a:bodyPr wrap="square" lIns="0" tIns="0" rIns="0" bIns="0" rtlCol="0" anchor="t"/>
          <a:lstStyle/>
          <a:p>
            <a:pPr indent="0" marL="0">
              <a:buNone/>
            </a:pPr>
            <a:r>
              <a:rPr lang="en-US" sz="1500" dirty="0">
                <a:solidFill>
                  <a:srgbClr val="52606D"/>
                </a:solidFill>
              </a:rPr>
              <a:t>라벨이 적을수록 의미 손실의 정확도 이득이 크다(weak +5.7%p). 그 대부분은 exactly-one 효과이고, 함의 규칙은 일관성을 약 8%p 올린다. 대조 실험 없이는 알 수 없었던 결론.</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이해 확인 문제</a:t>
            </a:r>
            <a:endParaRPr lang="en-US" sz="3000" dirty="0"/>
          </a:p>
        </p:txBody>
      </p:sp>
      <p:sp>
        <p:nvSpPr>
          <p:cNvPr id="3" name="pill"/>
          <p:cNvSpPr/>
          <p:nvPr/>
        </p:nvSpPr>
        <p:spPr>
          <a:xfrm>
            <a:off x="548640" y="1600200"/>
            <a:ext cx="822960" cy="365760"/>
          </a:xfrm>
          <a:prstGeom prst="roundRect">
            <a:avLst>
              <a:gd name="adj" fmla="val 50000"/>
            </a:avLst>
          </a:prstGeom>
          <a:solidFill>
            <a:srgbClr val="EB6834"/>
          </a:solidFill>
          <a:ln w="12700">
            <a:solidFill>
              <a:srgbClr val="EB6834"/>
            </a:solidFill>
            <a:prstDash val="solid"/>
          </a:ln>
        </p:spPr>
      </p:sp>
      <p:sp>
        <p:nvSpPr>
          <p:cNvPr id="4" name="Text 2"/>
          <p:cNvSpPr txBox="1"/>
          <p:nvPr/>
        </p:nvSpPr>
        <p:spPr>
          <a:xfrm>
            <a:off x="548640" y="1600200"/>
            <a:ext cx="822960" cy="365760"/>
          </a:xfrm>
          <a:prstGeom prst="rect">
            <a:avLst/>
          </a:prstGeom>
          <a:noFill/>
          <a:ln/>
        </p:spPr>
        <p:txBody>
          <a:bodyPr wrap="square" lIns="0" tIns="0" rIns="0" bIns="0" rtlCol="0" anchor="ctr"/>
          <a:lstStyle/>
          <a:p>
            <a:pPr algn="ctr" indent="0" marL="0">
              <a:buNone/>
            </a:pPr>
            <a:r>
              <a:rPr lang="en-US" sz="1300" b="1" dirty="0">
                <a:solidFill>
                  <a:srgbClr val="FFFFFF"/>
                </a:solidFill>
              </a:rPr>
              <a:t>Q1</a:t>
            </a:r>
            <a:endParaRPr lang="en-US" sz="1300" dirty="0"/>
          </a:p>
        </p:txBody>
      </p:sp>
      <p:sp>
        <p:nvSpPr>
          <p:cNvPr id="5" name="Text 3"/>
          <p:cNvSpPr txBox="1"/>
          <p:nvPr/>
        </p:nvSpPr>
        <p:spPr>
          <a:xfrm>
            <a:off x="1645920" y="1481328"/>
            <a:ext cx="9997135" cy="822960"/>
          </a:xfrm>
          <a:prstGeom prst="rect">
            <a:avLst/>
          </a:prstGeom>
          <a:noFill/>
          <a:ln/>
        </p:spPr>
        <p:txBody>
          <a:bodyPr wrap="square" lIns="0" tIns="0" rIns="0" bIns="0" rtlCol="0" anchor="ctr"/>
          <a:lstStyle/>
          <a:p>
            <a:pPr indent="0" marL="0">
              <a:spcAft>
                <a:spcPts val="600"/>
              </a:spcAft>
              <a:buNone/>
            </a:pPr>
            <a:r>
              <a:rPr lang="en-US" sz="1700" dirty="0">
                <a:solidFill>
                  <a:srgbClr val="1F2933"/>
                </a:solidFill>
              </a:rPr>
              <a:t>출력 p = (0.5, 0.5, 0.5)일 때 exactly-one 제약의 Pr(α)와 의미 손실은?</a:t>
            </a:r>
            <a:endParaRPr lang="en-US" sz="1700" dirty="0"/>
          </a:p>
        </p:txBody>
      </p:sp>
      <p:sp>
        <p:nvSpPr>
          <p:cNvPr id="6" name="pill"/>
          <p:cNvSpPr/>
          <p:nvPr/>
        </p:nvSpPr>
        <p:spPr>
          <a:xfrm>
            <a:off x="548640" y="2743200"/>
            <a:ext cx="822960" cy="365760"/>
          </a:xfrm>
          <a:prstGeom prst="roundRect">
            <a:avLst>
              <a:gd name="adj" fmla="val 50000"/>
            </a:avLst>
          </a:prstGeom>
          <a:solidFill>
            <a:srgbClr val="EB6834"/>
          </a:solidFill>
          <a:ln w="12700">
            <a:solidFill>
              <a:srgbClr val="EB6834"/>
            </a:solidFill>
            <a:prstDash val="solid"/>
          </a:ln>
        </p:spPr>
      </p:sp>
      <p:sp>
        <p:nvSpPr>
          <p:cNvPr id="7" name="Text 5"/>
          <p:cNvSpPr txBox="1"/>
          <p:nvPr/>
        </p:nvSpPr>
        <p:spPr>
          <a:xfrm>
            <a:off x="548640" y="2743200"/>
            <a:ext cx="822960" cy="365760"/>
          </a:xfrm>
          <a:prstGeom prst="rect">
            <a:avLst/>
          </a:prstGeom>
          <a:noFill/>
          <a:ln/>
        </p:spPr>
        <p:txBody>
          <a:bodyPr wrap="square" lIns="0" tIns="0" rIns="0" bIns="0" rtlCol="0" anchor="ctr"/>
          <a:lstStyle/>
          <a:p>
            <a:pPr algn="ctr" indent="0" marL="0">
              <a:buNone/>
            </a:pPr>
            <a:r>
              <a:rPr lang="en-US" sz="1300" b="1" dirty="0">
                <a:solidFill>
                  <a:srgbClr val="FFFFFF"/>
                </a:solidFill>
              </a:rPr>
              <a:t>Q2</a:t>
            </a:r>
            <a:endParaRPr lang="en-US" sz="1300" dirty="0"/>
          </a:p>
        </p:txBody>
      </p:sp>
      <p:sp>
        <p:nvSpPr>
          <p:cNvPr id="8" name="Text 6"/>
          <p:cNvSpPr txBox="1"/>
          <p:nvPr/>
        </p:nvSpPr>
        <p:spPr>
          <a:xfrm>
            <a:off x="1645920" y="2624328"/>
            <a:ext cx="9997135" cy="822960"/>
          </a:xfrm>
          <a:prstGeom prst="rect">
            <a:avLst/>
          </a:prstGeom>
          <a:noFill/>
          <a:ln/>
        </p:spPr>
        <p:txBody>
          <a:bodyPr wrap="square" lIns="0" tIns="0" rIns="0" bIns="0" rtlCol="0" anchor="ctr"/>
          <a:lstStyle/>
          <a:p>
            <a:pPr indent="0" marL="0">
              <a:spcAft>
                <a:spcPts val="600"/>
              </a:spcAft>
              <a:buNone/>
            </a:pPr>
            <a:r>
              <a:rPr lang="en-US" sz="1700" dirty="0">
                <a:solidFill>
                  <a:srgbClr val="1F2933"/>
                </a:solidFill>
              </a:rPr>
              <a:t>펭귄 규칙에서 p_P = 0 (확실히 펭귄이 아님)이면 Pr(α)는? 이때 p_B, p_F에 대한 기울기는?</a:t>
            </a:r>
            <a:endParaRPr lang="en-US" sz="1700" dirty="0"/>
          </a:p>
        </p:txBody>
      </p:sp>
      <p:sp>
        <p:nvSpPr>
          <p:cNvPr id="9" name="pill"/>
          <p:cNvSpPr/>
          <p:nvPr/>
        </p:nvSpPr>
        <p:spPr>
          <a:xfrm>
            <a:off x="548640" y="3886200"/>
            <a:ext cx="822960" cy="365760"/>
          </a:xfrm>
          <a:prstGeom prst="roundRect">
            <a:avLst>
              <a:gd name="adj" fmla="val 50000"/>
            </a:avLst>
          </a:prstGeom>
          <a:solidFill>
            <a:srgbClr val="EB6834"/>
          </a:solidFill>
          <a:ln w="12700">
            <a:solidFill>
              <a:srgbClr val="EB6834"/>
            </a:solidFill>
            <a:prstDash val="solid"/>
          </a:ln>
        </p:spPr>
      </p:sp>
      <p:sp>
        <p:nvSpPr>
          <p:cNvPr id="10" name="Text 8"/>
          <p:cNvSpPr txBox="1"/>
          <p:nvPr/>
        </p:nvSpPr>
        <p:spPr>
          <a:xfrm>
            <a:off x="548640" y="3886200"/>
            <a:ext cx="822960" cy="365760"/>
          </a:xfrm>
          <a:prstGeom prst="rect">
            <a:avLst/>
          </a:prstGeom>
          <a:noFill/>
          <a:ln/>
        </p:spPr>
        <p:txBody>
          <a:bodyPr wrap="square" lIns="0" tIns="0" rIns="0" bIns="0" rtlCol="0" anchor="ctr"/>
          <a:lstStyle/>
          <a:p>
            <a:pPr algn="ctr" indent="0" marL="0">
              <a:buNone/>
            </a:pPr>
            <a:r>
              <a:rPr lang="en-US" sz="1300" b="1" dirty="0">
                <a:solidFill>
                  <a:srgbClr val="FFFFFF"/>
                </a:solidFill>
              </a:rPr>
              <a:t>Q3</a:t>
            </a:r>
            <a:endParaRPr lang="en-US" sz="1300" dirty="0"/>
          </a:p>
        </p:txBody>
      </p:sp>
      <p:sp>
        <p:nvSpPr>
          <p:cNvPr id="11" name="Text 9"/>
          <p:cNvSpPr txBox="1"/>
          <p:nvPr/>
        </p:nvSpPr>
        <p:spPr>
          <a:xfrm>
            <a:off x="1645920" y="3767328"/>
            <a:ext cx="9997135" cy="822960"/>
          </a:xfrm>
          <a:prstGeom prst="rect">
            <a:avLst/>
          </a:prstGeom>
          <a:noFill/>
          <a:ln/>
        </p:spPr>
        <p:txBody>
          <a:bodyPr wrap="square" lIns="0" tIns="0" rIns="0" bIns="0" rtlCol="0" anchor="ctr"/>
          <a:lstStyle/>
          <a:p>
            <a:pPr indent="0" marL="0">
              <a:spcAft>
                <a:spcPts val="600"/>
              </a:spcAft>
              <a:buNone/>
            </a:pPr>
            <a:r>
              <a:rPr lang="en-US" sz="1700" dirty="0">
                <a:solidFill>
                  <a:srgbClr val="1F2933"/>
                </a:solidFill>
              </a:rPr>
              <a:t>semi 설정에서 라벨이 없는 이미지는 어떤 손실 항으로부터 학습 신호를 받는가? λ가 너무 크면 왜 붕괴하는가?</a:t>
            </a:r>
            <a:endParaRPr lang="en-US" sz="1700" dirty="0"/>
          </a:p>
        </p:txBody>
      </p:sp>
      <p:sp>
        <p:nvSpPr>
          <p:cNvPr id="12" name="pill"/>
          <p:cNvSpPr/>
          <p:nvPr/>
        </p:nvSpPr>
        <p:spPr>
          <a:xfrm>
            <a:off x="548640" y="5029200"/>
            <a:ext cx="822960" cy="365760"/>
          </a:xfrm>
          <a:prstGeom prst="roundRect">
            <a:avLst>
              <a:gd name="adj" fmla="val 50000"/>
            </a:avLst>
          </a:prstGeom>
          <a:solidFill>
            <a:srgbClr val="4A3AA7"/>
          </a:solidFill>
          <a:ln w="12700">
            <a:solidFill>
              <a:srgbClr val="4A3AA7"/>
            </a:solidFill>
            <a:prstDash val="solid"/>
          </a:ln>
        </p:spPr>
      </p:sp>
      <p:sp>
        <p:nvSpPr>
          <p:cNvPr id="13" name="Text 11"/>
          <p:cNvSpPr txBox="1"/>
          <p:nvPr/>
        </p:nvSpPr>
        <p:spPr>
          <a:xfrm>
            <a:off x="548640" y="5029200"/>
            <a:ext cx="822960" cy="365760"/>
          </a:xfrm>
          <a:prstGeom prst="rect">
            <a:avLst/>
          </a:prstGeom>
          <a:noFill/>
          <a:ln/>
        </p:spPr>
        <p:txBody>
          <a:bodyPr wrap="square" lIns="0" tIns="0" rIns="0" bIns="0" rtlCol="0" anchor="ctr"/>
          <a:lstStyle/>
          <a:p>
            <a:pPr algn="ctr" indent="0" marL="0">
              <a:buNone/>
            </a:pPr>
            <a:r>
              <a:rPr lang="en-US" sz="1300" b="1" dirty="0">
                <a:solidFill>
                  <a:srgbClr val="FFFFFF"/>
                </a:solidFill>
              </a:rPr>
              <a:t>Q4</a:t>
            </a:r>
            <a:endParaRPr lang="en-US" sz="1300" dirty="0"/>
          </a:p>
        </p:txBody>
      </p:sp>
      <p:sp>
        <p:nvSpPr>
          <p:cNvPr id="14" name="Text 12"/>
          <p:cNvSpPr txBox="1"/>
          <p:nvPr/>
        </p:nvSpPr>
        <p:spPr>
          <a:xfrm>
            <a:off x="1645920" y="4910328"/>
            <a:ext cx="9997135" cy="822960"/>
          </a:xfrm>
          <a:prstGeom prst="rect">
            <a:avLst/>
          </a:prstGeom>
          <a:noFill/>
          <a:ln/>
        </p:spPr>
        <p:txBody>
          <a:bodyPr wrap="square" lIns="0" tIns="0" rIns="0" bIns="0" rtlCol="0" anchor="ctr"/>
          <a:lstStyle/>
          <a:p>
            <a:pPr indent="0" marL="0">
              <a:spcAft>
                <a:spcPts val="600"/>
              </a:spcAft>
              <a:buNone/>
            </a:pPr>
            <a:r>
              <a:rPr lang="en-US" sz="1700" dirty="0">
                <a:solidFill>
                  <a:srgbClr val="1F2933"/>
                </a:solidFill>
              </a:rPr>
              <a:t>규칙 "maple_tree와 oak_tree는 동시에 참일 수 없다"를 추가하면 계층 제약의 만족 세계 수와 닫힌 형태는 어떻게 바뀌는가?</a:t>
            </a:r>
            <a:endParaRPr lang="en-US" sz="17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정답과 해설</a:t>
            </a:r>
            <a:endParaRPr lang="en-US" sz="3000" dirty="0"/>
          </a:p>
        </p:txBody>
      </p:sp>
      <p:pic>
        <p:nvPicPr>
          <p:cNvPr id="3" name="equation" descr="\text{Q1: } \Pr = 3 \cdot 0.5 \cdot 0.5^2 = 0.375,\quad Lˢ = -\log 0.375 \approx 0.98">    </p:cNvPr>
          <p:cNvPicPr>
            <a:picLocks noChangeAspect="1"/>
          </p:cNvPicPr>
          <p:nvPr/>
        </p:nvPicPr>
        <p:blipFill>
          <a:blip r:embed="rId1"/>
          <a:stretch>
            <a:fillRect/>
          </a:stretch>
        </p:blipFill>
        <p:spPr>
          <a:xfrm>
            <a:off x="548640" y="1371600"/>
            <a:ext cx="6290601" cy="276853"/>
          </a:xfrm>
          <a:prstGeom prst="rect">
            <a:avLst/>
          </a:prstGeom>
        </p:spPr>
      </p:pic>
      <p:pic>
        <p:nvPicPr>
          <p:cNvPr id="4" name="equation" descr="\text{Q2: } \Pr = (1 - 0) + 0 = 1,\quad \partial\Pr/\partial p_B = \partial\Pr/\partial p_F = 0">    </p:cNvPr>
          <p:cNvPicPr>
            <a:picLocks noChangeAspect="1"/>
          </p:cNvPicPr>
          <p:nvPr/>
        </p:nvPicPr>
        <p:blipFill>
          <a:blip r:embed="rId2"/>
          <a:stretch>
            <a:fillRect/>
          </a:stretch>
        </p:blipFill>
        <p:spPr>
          <a:xfrm>
            <a:off x="548640" y="2240280"/>
            <a:ext cx="6061013" cy="253950"/>
          </a:xfrm>
          <a:prstGeom prst="rect">
            <a:avLst/>
          </a:prstGeom>
        </p:spPr>
      </p:pic>
      <p:sp>
        <p:nvSpPr>
          <p:cNvPr id="5" name="Text 1"/>
          <p:cNvSpPr txBox="1"/>
          <p:nvPr/>
        </p:nvSpPr>
        <p:spPr>
          <a:xfrm>
            <a:off x="548640" y="2926080"/>
            <a:ext cx="11094415" cy="457200"/>
          </a:xfrm>
          <a:prstGeom prst="rect">
            <a:avLst/>
          </a:prstGeom>
          <a:noFill/>
          <a:ln/>
        </p:spPr>
        <p:txBody>
          <a:bodyPr wrap="square" lIns="0" tIns="0" rIns="0" bIns="0" rtlCol="0" anchor="t"/>
          <a:lstStyle/>
          <a:p>
            <a:pPr indent="0" marL="0">
              <a:spcAft>
                <a:spcPts val="600"/>
              </a:spcAft>
              <a:buNone/>
            </a:pPr>
            <a:r>
              <a:rPr lang="en-US" sz="1500" dirty="0">
                <a:solidFill>
                  <a:srgbClr val="52606D"/>
                </a:solidFill>
              </a:rPr>
              <a:t>펭귄이 아니면 규칙이 자동으로 만족된다(공허한 참) → 손실 0, 다른 출력에 아무 신호도 주지 않는다.</a:t>
            </a:r>
            <a:endParaRPr lang="en-US" sz="1500" dirty="0"/>
          </a:p>
        </p:txBody>
      </p:sp>
      <p:sp>
        <p:nvSpPr>
          <p:cNvPr id="6" name="Text 2"/>
          <p:cNvSpPr txBox="1"/>
          <p:nvPr/>
        </p:nvSpPr>
        <p:spPr>
          <a:xfrm>
            <a:off x="548640" y="3520440"/>
            <a:ext cx="11094415" cy="914400"/>
          </a:xfrm>
          <a:prstGeom prst="rect">
            <a:avLst/>
          </a:prstGeom>
          <a:noFill/>
          <a:ln/>
        </p:spPr>
        <p:txBody>
          <a:bodyPr wrap="square" lIns="0" tIns="0" rIns="0" bIns="0" rtlCol="0" anchor="t"/>
          <a:lstStyle/>
          <a:p>
            <a:pPr indent="0" marL="0">
              <a:spcAft>
                <a:spcPts val="600"/>
              </a:spcAft>
              <a:buNone/>
            </a:pPr>
            <a:r>
              <a:rPr lang="en-US" sz="1600" b="1" dirty="0">
                <a:solidFill>
                  <a:srgbClr val="1F2933"/>
                </a:solidFill>
              </a:rPr>
              <a:t>Q3: </a:t>
            </a:r>
            <a:pPr indent="0" marL="0">
              <a:spcAft>
                <a:spcPts val="600"/>
              </a:spcAft>
              <a:buNone/>
            </a:pPr>
            <a:r>
              <a:rPr lang="en-US" sz="1600" dirty="0">
                <a:solidFill>
                  <a:srgbClr val="1F2933"/>
                </a:solidFill>
              </a:rPr>
              <a:t>의미 손실 항만 (CE는 라벨이 있어야 한다). λ가 크면 CE가 정해 주는 방향보다 "아무 만족 세계로나 확신"하는 쪽이 이겨서, 라벨과 무관한 자명한 해로 수렴한다.</a:t>
            </a:r>
            <a:endParaRPr lang="en-US" sz="1600" dirty="0"/>
          </a:p>
        </p:txBody>
      </p:sp>
      <p:sp>
        <p:nvSpPr>
          <p:cNvPr id="7" name="Text 3"/>
          <p:cNvSpPr txBox="1"/>
          <p:nvPr/>
        </p:nvSpPr>
        <p:spPr>
          <a:xfrm>
            <a:off x="548640" y="4526280"/>
            <a:ext cx="11094415" cy="1188720"/>
          </a:xfrm>
          <a:prstGeom prst="rect">
            <a:avLst/>
          </a:prstGeom>
          <a:noFill/>
          <a:ln/>
        </p:spPr>
        <p:txBody>
          <a:bodyPr wrap="square" lIns="0" tIns="0" rIns="0" bIns="0" rtlCol="0" anchor="t"/>
          <a:lstStyle/>
          <a:p>
            <a:pPr indent="0" marL="0">
              <a:spcAft>
                <a:spcPts val="600"/>
              </a:spcAft>
              <a:buNone/>
            </a:pPr>
            <a:r>
              <a:rPr lang="en-US" sz="1600" b="1" dirty="0">
                <a:solidFill>
                  <a:srgbClr val="1F2933"/>
                </a:solidFill>
              </a:rPr>
              <a:t>Q4: </a:t>
            </a:r>
            <a:pPr indent="0" marL="0">
              <a:spcAft>
                <a:spcPts val="600"/>
              </a:spcAft>
              <a:buNone/>
            </a:pPr>
            <a:r>
              <a:rPr lang="en-US" sz="1600" dirty="0">
                <a:solidFill>
                  <a:srgbClr val="1F2933"/>
                </a:solidFill>
              </a:rPr>
              <a:t>변하지 않는다. EO(f)가 이미 ¬maple ∨ ¬oak 절을 포함하므로 새 규칙은 중복이다. 논리적으로 동치인 제약은 같은 의미 손실을 갖는다 — 의미 손실이 "의미에만 의존"하는 성질의 예.</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참고문헌</a:t>
            </a:r>
            <a:endParaRPr lang="en-US" sz="3000" dirty="0"/>
          </a:p>
        </p:txBody>
      </p:sp>
      <p:sp>
        <p:nvSpPr>
          <p:cNvPr id="3" name="Text 1"/>
          <p:cNvSpPr txBox="1"/>
          <p:nvPr/>
        </p:nvSpPr>
        <p:spPr>
          <a:xfrm>
            <a:off x="548640" y="1371600"/>
            <a:ext cx="11094415" cy="45720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rPr>
              <a:t>J. Xu, Z. Zhang, T. Friedman, Y. Liang, G. Van den Broeck. A Semantic Loss Function for Deep Learning with Symbolic Knowledge. ICML 2018.</a:t>
            </a:r>
            <a:endParaRPr lang="en-US" sz="1400" dirty="0"/>
          </a:p>
          <a:p>
            <a:pPr marL="228600" indent="-228600">
              <a:spcAft>
                <a:spcPts val="800"/>
              </a:spcAft>
              <a:buSzPct val="100000"/>
              <a:buChar char="•"/>
            </a:pPr>
            <a:r>
              <a:rPr lang="en-US" sz="1400" dirty="0">
                <a:solidFill>
                  <a:srgbClr val="1F2933"/>
                </a:solidFill>
              </a:rPr>
              <a:t>A. Krizhevsky. Learning Multiple Layers of Features from Tiny Images. Tech. report, Univ. of Toronto, 2009. (CIFAR-100)</a:t>
            </a:r>
            <a:endParaRPr lang="en-US" sz="1400" dirty="0"/>
          </a:p>
          <a:p>
            <a:pPr marL="228600" indent="-228600">
              <a:spcAft>
                <a:spcPts val="800"/>
              </a:spcAft>
              <a:buSzPct val="100000"/>
              <a:buChar char="•"/>
            </a:pPr>
            <a:r>
              <a:rPr lang="en-US" sz="1400" dirty="0">
                <a:solidFill>
                  <a:srgbClr val="1F2933"/>
                </a:solidFill>
              </a:rPr>
              <a:t>A. Darwiche, P. Marquis. A Knowledge Compilation Map. JAIR 17, 2002. (d-DNNF, SDD)</a:t>
            </a:r>
            <a:endParaRPr lang="en-US" sz="1400" dirty="0"/>
          </a:p>
          <a:p>
            <a:pPr marL="228600" indent="-228600">
              <a:spcAft>
                <a:spcPts val="800"/>
              </a:spcAft>
              <a:buSzPct val="100000"/>
              <a:buChar char="•"/>
            </a:pPr>
            <a:r>
              <a:rPr lang="en-US" sz="1400" dirty="0">
                <a:solidFill>
                  <a:srgbClr val="1F2933"/>
                </a:solidFill>
              </a:rPr>
              <a:t>R. Manhaeve et al. DeepProbLog: Neural Probabilistic Logic Programming. NeurIPS 2018.</a:t>
            </a:r>
            <a:endParaRPr lang="en-US" sz="1400" dirty="0"/>
          </a:p>
          <a:p>
            <a:pPr marL="228600" indent="-228600">
              <a:spcAft>
                <a:spcPts val="800"/>
              </a:spcAft>
              <a:buSzPct val="100000"/>
              <a:buChar char="•"/>
            </a:pPr>
            <a:r>
              <a:rPr lang="en-US" sz="1400" dirty="0">
                <a:solidFill>
                  <a:srgbClr val="1F2933"/>
                </a:solidFill>
              </a:rPr>
              <a:t>S. Badreddine, A. d'Avila Garcez, L. Serafini, M. Spranger. Logic Tensor Networks. Artificial Intelligence 303, 2022.</a:t>
            </a:r>
            <a:endParaRPr lang="en-US" sz="1400" dirty="0"/>
          </a:p>
          <a:p>
            <a:pPr marL="228600" indent="-228600">
              <a:spcAft>
                <a:spcPts val="800"/>
              </a:spcAft>
              <a:buSzPct val="100000"/>
              <a:buChar char="•"/>
            </a:pPr>
            <a:r>
              <a:rPr lang="en-US" sz="1400" dirty="0">
                <a:solidFill>
                  <a:srgbClr val="1F2933"/>
                </a:solidFill>
              </a:rPr>
              <a:t>K. Ahmed, S. Teso, K.-W. Chang, G. Van den Broeck, A. Vergari. Semantic Probabilistic Layers for Neuro-Symbolic Learning. NeurIPS 2022.</a:t>
            </a:r>
            <a:endParaRPr lang="en-US" sz="1400" dirty="0"/>
          </a:p>
          <a:p>
            <a:pPr marL="228600" indent="-228600">
              <a:spcAft>
                <a:spcPts val="800"/>
              </a:spcAft>
              <a:buSzPct val="100000"/>
              <a:buChar char="•"/>
            </a:pPr>
            <a:r>
              <a:rPr lang="en-US" sz="1400" dirty="0">
                <a:solidFill>
                  <a:srgbClr val="1F2933"/>
                </a:solidFill>
              </a:rPr>
              <a:t>E. Giunchiglia, M. C. Stoian, T. Lukasiewicz. Deep Learning with Logical Constraints. IJCAI 2022 (survey).</a:t>
            </a:r>
            <a:endParaRPr lang="en-US" sz="1400" dirty="0"/>
          </a:p>
          <a:p>
            <a:pPr marL="228600" indent="-228600">
              <a:spcAft>
                <a:spcPts val="800"/>
              </a:spcAft>
              <a:buSzPct val="100000"/>
              <a:buChar char="•"/>
            </a:pPr>
            <a:r>
              <a:rPr lang="en-US" sz="1400" dirty="0">
                <a:solidFill>
                  <a:srgbClr val="1F2933"/>
                </a:solidFill>
              </a:rPr>
              <a:t>D. Page. How to Train Your ResNet (ResNet-9 / DAWNBench), Myrtle.ai blog, 2018.</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ection-number"/>
          <p:cNvSpPr txBox="1"/>
          <p:nvPr/>
        </p:nvSpPr>
        <p:spPr>
          <a:xfrm>
            <a:off x="548640" y="1737360"/>
            <a:ext cx="4572000" cy="822960"/>
          </a:xfrm>
          <a:prstGeom prst="rect">
            <a:avLst/>
          </a:prstGeom>
          <a:noFill/>
          <a:ln/>
        </p:spPr>
        <p:txBody>
          <a:bodyPr wrap="square" lIns="0" tIns="0" rIns="0" bIns="0" rtlCol="0" anchor="ctr"/>
          <a:lstStyle/>
          <a:p>
            <a:pPr indent="0" marL="0">
              <a:buNone/>
            </a:pPr>
            <a:r>
              <a:rPr lang="en-US" sz="5400" b="1" dirty="0">
                <a:solidFill>
                  <a:srgbClr val="EB6834"/>
                </a:solidFill>
              </a:rPr>
              <a:t>부록</a:t>
            </a:r>
            <a:endParaRPr lang="en-US" sz="5400" dirty="0"/>
          </a:p>
        </p:txBody>
      </p:sp>
      <p:sp>
        <p:nvSpPr>
          <p:cNvPr id="3" name="Text 0"/>
          <p:cNvSpPr/>
          <p:nvPr>
            <p:ph idx="100" type="title" hasCustomPrompt="1"/>
          </p:nvPr>
        </p:nvSpPr>
        <p:spPr>
          <a:xfrm>
            <a:off x="548640" y="2651760"/>
            <a:ext cx="10607040" cy="1005840"/>
          </a:xfrm>
          <a:prstGeom prst="rect">
            <a:avLst/>
          </a:prstGeom>
          <a:noFill/>
          <a:ln/>
        </p:spPr>
        <p:txBody>
          <a:bodyPr wrap="square" lIns="0" tIns="0" rIns="0" bIns="0" rtlCol="0" anchor="t"/>
          <a:lstStyle/>
          <a:p>
            <a:pPr algn="l" indent="0" marL="0">
              <a:buNone/>
            </a:pPr>
            <a:r>
              <a:rPr lang="en-US" sz="4000" b="1" dirty="0">
                <a:solidFill>
                  <a:schemeClr val="bg1"/>
                </a:solidFill>
              </a:rPr>
              <a:t>실습</a:t>
            </a:r>
            <a:endParaRPr lang="en-US" sz="4000" dirty="0"/>
          </a:p>
        </p:txBody>
      </p:sp>
      <p:sp>
        <p:nvSpPr>
          <p:cNvPr id="4" name="Text 0"/>
          <p:cNvSpPr/>
          <p:nvPr>
            <p:ph idx="101" type="body" hasCustomPrompt="1"/>
          </p:nvPr>
        </p:nvSpPr>
        <p:spPr>
          <a:xfrm>
            <a:off x="548640" y="3749040"/>
            <a:ext cx="10607040" cy="1280160"/>
          </a:xfrm>
          <a:prstGeom prst="rect">
            <a:avLst/>
          </a:prstGeom>
          <a:noFill/>
          <a:ln/>
        </p:spPr>
        <p:txBody>
          <a:bodyPr wrap="square" lIns="0" tIns="0" rIns="0" bIns="0" rtlCol="0" anchor="t"/>
          <a:lstStyle/>
          <a:p>
            <a:pPr algn="l" indent="0" marL="0">
              <a:buNone/>
            </a:pPr>
            <a:r>
              <a:rPr lang="en-US" sz="1800" dirty="0">
                <a:solidFill>
                  <a:srgbClr val="BCCCDC"/>
                </a:solidFill>
              </a:rPr>
              <a:t>직접 돌려 보기</a:t>
            </a:r>
            <a:endParaRPr lang="en-US" sz="18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AA5B1"/>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부록 A: 실습 환경과 실행</a:t>
            </a:r>
            <a:endParaRPr lang="en-US" sz="3000" dirty="0"/>
          </a:p>
        </p:txBody>
      </p:sp>
      <p:sp>
        <p:nvSpPr>
          <p:cNvPr id="3" name="card"/>
          <p:cNvSpPr/>
          <p:nvPr/>
        </p:nvSpPr>
        <p:spPr>
          <a:xfrm>
            <a:off x="548640" y="1371600"/>
            <a:ext cx="3749040" cy="4526280"/>
          </a:xfrm>
          <a:prstGeom prst="roundRect">
            <a:avLst>
              <a:gd name="adj" fmla="val 2927"/>
            </a:avLst>
          </a:prstGeom>
          <a:solidFill>
            <a:srgbClr val="F1F4F8"/>
          </a:solidFill>
          <a:ln w="12700">
            <a:solidFill>
              <a:srgbClr val="F1F4F8"/>
            </a:solidFill>
            <a:prstDash val="solid"/>
          </a:ln>
        </p:spPr>
      </p:sp>
      <p:sp>
        <p:nvSpPr>
          <p:cNvPr id="4" name="tag"/>
          <p:cNvSpPr/>
          <p:nvPr/>
        </p:nvSpPr>
        <p:spPr>
          <a:xfrm>
            <a:off x="777240" y="1600200"/>
            <a:ext cx="384048" cy="384048"/>
          </a:xfrm>
          <a:prstGeom prst="ellipse">
            <a:avLst/>
          </a:prstGeom>
          <a:solidFill>
            <a:srgbClr val="2A78D6"/>
          </a:solidFill>
          <a:ln w="12700">
            <a:solidFill>
              <a:srgbClr val="2A78D6"/>
            </a:solidFill>
            <a:prstDash val="solid"/>
          </a:ln>
        </p:spPr>
      </p:sp>
      <p:sp>
        <p:nvSpPr>
          <p:cNvPr id="5" name="Text 3"/>
          <p:cNvSpPr txBox="1"/>
          <p:nvPr/>
        </p:nvSpPr>
        <p:spPr>
          <a:xfrm>
            <a:off x="77724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280160" y="1572768"/>
            <a:ext cx="2834640" cy="438912"/>
          </a:xfrm>
          <a:prstGeom prst="rect">
            <a:avLst/>
          </a:prstGeom>
          <a:noFill/>
          <a:ln/>
        </p:spPr>
        <p:txBody>
          <a:bodyPr wrap="square" lIns="0" tIns="0" rIns="0" bIns="0" rtlCol="0" anchor="ctr"/>
          <a:lstStyle/>
          <a:p>
            <a:pPr indent="0" marL="0">
              <a:buNone/>
            </a:pPr>
            <a:r>
              <a:rPr lang="en-US" sz="1800" b="1" dirty="0">
                <a:solidFill>
                  <a:srgbClr val="1F2933"/>
                </a:solidFill>
              </a:rPr>
              <a:t>환경</a:t>
            </a:r>
            <a:endParaRPr lang="en-US" sz="1800" dirty="0"/>
          </a:p>
        </p:txBody>
      </p:sp>
      <p:sp>
        <p:nvSpPr>
          <p:cNvPr id="7" name="Text 5"/>
          <p:cNvSpPr txBox="1"/>
          <p:nvPr/>
        </p:nvSpPr>
        <p:spPr>
          <a:xfrm>
            <a:off x="777240" y="2103120"/>
            <a:ext cx="3291840" cy="36576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F2933"/>
                </a:solidFill>
              </a:rPr>
              <a:t>Python 3.10+, PyTorch 2.x, NumPy</a:t>
            </a:r>
            <a:endParaRPr lang="en-US" sz="1400" dirty="0"/>
          </a:p>
          <a:p>
            <a:pPr marL="228600" indent="-228600">
              <a:spcAft>
                <a:spcPts val="800"/>
              </a:spcAft>
              <a:buSzPct val="100000"/>
              <a:buChar char="•"/>
            </a:pPr>
            <a:r>
              <a:rPr lang="en-US" sz="1400" dirty="0">
                <a:solidFill>
                  <a:srgbClr val="1F2933"/>
                </a:solidFill>
              </a:rPr>
              <a:t>torchvision 불필요</a:t>
            </a:r>
            <a:endParaRPr lang="en-US" sz="1400" dirty="0"/>
          </a:p>
          <a:p>
            <a:pPr marL="228600" indent="-228600">
              <a:spcAft>
                <a:spcPts val="800"/>
              </a:spcAft>
              <a:buSzPct val="100000"/>
              <a:buChar char="•"/>
            </a:pPr>
            <a:r>
              <a:rPr lang="en-US" sz="1400" dirty="0">
                <a:solidFill>
                  <a:srgbClr val="1F2933"/>
                </a:solidFill>
              </a:rPr>
              <a:t>GPU: CUDA 또는 Apple MPS (자동 선택)</a:t>
            </a:r>
            <a:endParaRPr lang="en-US" sz="1400" dirty="0"/>
          </a:p>
          <a:p>
            <a:pPr marL="228600" indent="-228600">
              <a:spcAft>
                <a:spcPts val="800"/>
              </a:spcAft>
              <a:buSzPct val="100000"/>
              <a:buChar char="•"/>
            </a:pPr>
            <a:r>
              <a:rPr lang="en-US" sz="1400" dirty="0">
                <a:solidFill>
                  <a:srgbClr val="1F2933"/>
                </a:solidFill>
              </a:rPr>
              <a:t>CIFAR-100은 첫 실행 시 자동 다운로드 (약 160MB, MD5 검증)</a:t>
            </a:r>
            <a:endParaRPr lang="en-US" sz="1400" dirty="0"/>
          </a:p>
          <a:p>
            <a:pPr marL="228600" indent="-228600">
              <a:spcAft>
                <a:spcPts val="800"/>
              </a:spcAft>
              <a:buSzPct val="100000"/>
              <a:buChar char="•"/>
            </a:pPr>
            <a:r>
              <a:rPr lang="en-US" sz="1400" dirty="0">
                <a:solidFill>
                  <a:srgbClr val="1F2933"/>
                </a:solidFill>
              </a:rPr>
              <a:t>전체 실험: 1회 약 5.5분 × 66회 (M4 Max 기준)</a:t>
            </a:r>
            <a:endParaRPr lang="en-US" sz="1400" dirty="0"/>
          </a:p>
        </p:txBody>
      </p:sp>
      <p:sp>
        <p:nvSpPr>
          <p:cNvPr id="8" name="code-panel"/>
          <p:cNvSpPr/>
          <p:nvPr/>
        </p:nvSpPr>
        <p:spPr>
          <a:xfrm>
            <a:off x="4526280" y="1371600"/>
            <a:ext cx="7114032" cy="4526280"/>
          </a:xfrm>
          <a:prstGeom prst="roundRect">
            <a:avLst>
              <a:gd name="adj" fmla="val 2020"/>
            </a:avLst>
          </a:prstGeom>
          <a:solidFill>
            <a:srgbClr val="1B2430"/>
          </a:solidFill>
          <a:ln w="12700">
            <a:solidFill>
              <a:srgbClr val="1B2430"/>
            </a:solidFill>
            <a:prstDash val="solid"/>
          </a:ln>
        </p:spPr>
      </p:sp>
      <p:sp>
        <p:nvSpPr>
          <p:cNvPr id="9" name="Text 7"/>
          <p:cNvSpPr txBox="1"/>
          <p:nvPr/>
        </p:nvSpPr>
        <p:spPr>
          <a:xfrm>
            <a:off x="4800600" y="1508760"/>
            <a:ext cx="6565392" cy="274320"/>
          </a:xfrm>
          <a:prstGeom prst="rect">
            <a:avLst/>
          </a:prstGeom>
          <a:noFill/>
          <a:ln/>
        </p:spPr>
        <p:txBody>
          <a:bodyPr wrap="square" lIns="0" tIns="0" rIns="0" bIns="0" rtlCol="0" anchor="ctr"/>
          <a:lstStyle/>
          <a:p>
            <a:pPr indent="0" marL="0">
              <a:buNone/>
            </a:pPr>
            <a:r>
              <a:rPr lang="en-US" sz="1100" dirty="0">
                <a:solidFill>
                  <a:srgbClr val="8B98A5"/>
                </a:solidFill>
                <a:latin typeface="Consolas" pitchFamily="34" charset="0"/>
                <a:ea typeface="Consolas" pitchFamily="34" charset="-122"/>
                <a:cs typeface="Consolas" pitchFamily="34" charset="-120"/>
              </a:rPr>
              <a:t>터미널</a:t>
            </a:r>
            <a:endParaRPr lang="en-US" sz="1100" dirty="0"/>
          </a:p>
        </p:txBody>
      </p:sp>
      <p:sp>
        <p:nvSpPr>
          <p:cNvPr id="10" name="code"/>
          <p:cNvSpPr txBox="1"/>
          <p:nvPr/>
        </p:nvSpPr>
        <p:spPr>
          <a:xfrm>
            <a:off x="4800600" y="1828800"/>
            <a:ext cx="6565392" cy="3931920"/>
          </a:xfrm>
          <a:prstGeom prst="rect">
            <a:avLst/>
          </a:prstGeom>
          <a:noFill/>
          <a:ln/>
        </p:spPr>
        <p:txBody>
          <a:bodyPr wrap="square" lIns="0" tIns="0" rIns="0" bIns="0" rtlCol="0" anchor="t"/>
          <a:lstStyle/>
          <a:p>
            <a:pPr indent="0" marL="0">
              <a:lnSpc>
                <a:spcPct val="105000"/>
              </a:lnSpc>
              <a:buNone/>
            </a:pPr>
            <a:r>
              <a:rPr lang="en-US" sz="1400" dirty="0">
                <a:solidFill>
                  <a:srgbClr val="7F8C9A"/>
                </a:solidFill>
                <a:latin typeface="Consolas" pitchFamily="34" charset="0"/>
                <a:ea typeface="Consolas" pitchFamily="34" charset="-122"/>
                <a:cs typeface="Consolas" pitchFamily="34" charset="-120"/>
              </a:rPr>
              <a:t># 1. 손실 함수 단위 테스트 (1초)</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python3</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m</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pytest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q</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tests</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7F8C9A"/>
                </a:solidFill>
                <a:latin typeface="Consolas" pitchFamily="34" charset="0"/>
                <a:ea typeface="Consolas" pitchFamily="34" charset="-122"/>
                <a:cs typeface="Consolas" pitchFamily="34" charset="-120"/>
              </a:rPr>
              <a:t># 2. 논문 예제 재현: 표, 펭귄, 경사하강 궤적 (1초)</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python3</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demo_paper_examples</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py</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7F8C9A"/>
                </a:solidFill>
                <a:latin typeface="Consolas" pitchFamily="34" charset="0"/>
                <a:ea typeface="Consolas" pitchFamily="34" charset="-122"/>
                <a:cs typeface="Consolas" pitchFamily="34" charset="-120"/>
              </a:rPr>
              <a:t># 3. 전체 실험 (λ 튜닝 → 본 실험 → 대조 실험)</a:t>
            </a:r>
            <a:endParaRPr lang="en-US" sz="1400" dirty="0"/>
          </a:p>
          <a:p>
            <a:pPr indent="0" marL="0">
              <a:lnSpc>
                <a:spcPct val="105000"/>
              </a:lnSpc>
              <a:buNone/>
            </a:pPr>
            <a:r>
              <a:rPr lang="en-US" sz="1400" dirty="0">
                <a:solidFill>
                  <a:srgbClr val="7F8C9A"/>
                </a:solidFill>
                <a:latin typeface="Consolas" pitchFamily="34" charset="0"/>
                <a:ea typeface="Consolas" pitchFamily="34" charset="-122"/>
                <a:cs typeface="Consolas" pitchFamily="34" charset="-120"/>
              </a:rPr>
              <a:t>#    결과는 results/*.json 에 캐시 → 중단 후 재실행하면 이어서 진행</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python3</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run_experiments</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py</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epochs</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F7A072"/>
                </a:solidFill>
                <a:latin typeface="Consolas" pitchFamily="34" charset="0"/>
                <a:ea typeface="Consolas" pitchFamily="34" charset="-122"/>
                <a:cs typeface="Consolas" pitchFamily="34" charset="-120"/>
              </a:rPr>
              <a:t>30</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label</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frac</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F7A072"/>
                </a:solidFill>
                <a:latin typeface="Consolas" pitchFamily="34" charset="0"/>
                <a:ea typeface="Consolas" pitchFamily="34" charset="-122"/>
                <a:cs typeface="Consolas" pitchFamily="34" charset="-120"/>
              </a:rPr>
              <a:t>0.1</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endParaRPr lang="en-US" sz="1400" dirty="0"/>
          </a:p>
          <a:p>
            <a:pPr indent="0" marL="0">
              <a:lnSpc>
                <a:spcPct val="105000"/>
              </a:lnSpc>
              <a:buNone/>
            </a:pPr>
            <a:r>
              <a:rPr lang="en-US" sz="1400" dirty="0">
                <a:solidFill>
                  <a:srgbClr val="7F8C9A"/>
                </a:solidFill>
                <a:latin typeface="Consolas" pitchFamily="34" charset="0"/>
                <a:ea typeface="Consolas" pitchFamily="34" charset="-122"/>
                <a:cs typeface="Consolas" pitchFamily="34" charset="-120"/>
              </a:rPr>
              <a:t># 4. 결과 표 생성 → results/summary.md</a:t>
            </a:r>
            <a:endParaRPr lang="en-US" sz="1400" dirty="0"/>
          </a:p>
          <a:p>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python3</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 </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summarize</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a:t>
            </a:r>
            <a:pPr indent="0" marL="0">
              <a:lnSpc>
                <a:spcPct val="105000"/>
              </a:lnSpc>
              <a:buNone/>
            </a:pPr>
            <a:r>
              <a:rPr lang="en-US" sz="1400" dirty="0">
                <a:solidFill>
                  <a:srgbClr val="E6EDF3"/>
                </a:solidFill>
                <a:latin typeface="Consolas" pitchFamily="34" charset="0"/>
                <a:ea typeface="Consolas" pitchFamily="34" charset="-122"/>
                <a:cs typeface="Consolas" pitchFamily="34" charset="-120"/>
              </a:rPr>
              <a:t>py</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algn="l" indent="0" marL="0">
              <a:buNone/>
            </a:pPr>
            <a:r>
              <a:rPr lang="en-US" sz="3000" b="1" dirty="0">
                <a:solidFill>
                  <a:schemeClr val="tx1"/>
                </a:solidFill>
              </a:rPr>
              <a:t>부록 B: 실습 과제</a:t>
            </a:r>
            <a:endParaRPr lang="en-US" sz="3000" dirty="0"/>
          </a:p>
        </p:txBody>
      </p:sp>
      <p:sp>
        <p:nvSpPr>
          <p:cNvPr id="3" name="card"/>
          <p:cNvSpPr/>
          <p:nvPr/>
        </p:nvSpPr>
        <p:spPr>
          <a:xfrm>
            <a:off x="548640" y="1371600"/>
            <a:ext cx="5440680" cy="2057400"/>
          </a:xfrm>
          <a:prstGeom prst="roundRect">
            <a:avLst>
              <a:gd name="adj" fmla="val 5333"/>
            </a:avLst>
          </a:prstGeom>
          <a:solidFill>
            <a:srgbClr val="F1F4F8"/>
          </a:solidFill>
          <a:ln w="12700">
            <a:solidFill>
              <a:srgbClr val="F1F4F8"/>
            </a:solidFill>
            <a:prstDash val="solid"/>
          </a:ln>
        </p:spPr>
      </p:sp>
      <p:sp>
        <p:nvSpPr>
          <p:cNvPr id="4" name="tag"/>
          <p:cNvSpPr/>
          <p:nvPr/>
        </p:nvSpPr>
        <p:spPr>
          <a:xfrm>
            <a:off x="777240" y="1600200"/>
            <a:ext cx="384048" cy="384048"/>
          </a:xfrm>
          <a:prstGeom prst="ellipse">
            <a:avLst/>
          </a:prstGeom>
          <a:solidFill>
            <a:srgbClr val="2A78D6"/>
          </a:solidFill>
          <a:ln w="12700">
            <a:solidFill>
              <a:srgbClr val="2A78D6"/>
            </a:solidFill>
            <a:prstDash val="solid"/>
          </a:ln>
        </p:spPr>
      </p:sp>
      <p:sp>
        <p:nvSpPr>
          <p:cNvPr id="5" name="Text 3"/>
          <p:cNvSpPr txBox="1"/>
          <p:nvPr/>
        </p:nvSpPr>
        <p:spPr>
          <a:xfrm>
            <a:off x="77724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B</a:t>
            </a:r>
            <a:endParaRPr lang="en-US" sz="1300" dirty="0"/>
          </a:p>
        </p:txBody>
      </p:sp>
      <p:sp>
        <p:nvSpPr>
          <p:cNvPr id="6" name="Text 4"/>
          <p:cNvSpPr txBox="1"/>
          <p:nvPr/>
        </p:nvSpPr>
        <p:spPr>
          <a:xfrm>
            <a:off x="1280160" y="157276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λ 바꿔 보기</a:t>
            </a:r>
            <a:endParaRPr lang="en-US" sz="1800" dirty="0"/>
          </a:p>
        </p:txBody>
      </p:sp>
      <p:sp>
        <p:nvSpPr>
          <p:cNvPr id="7" name="Text 5"/>
          <p:cNvSpPr txBox="1"/>
          <p:nvPr/>
        </p:nvSpPr>
        <p:spPr>
          <a:xfrm>
            <a:off x="777240" y="2103120"/>
            <a:ext cx="4983480" cy="118872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--epochs 10으로 줄이고 weak 설정에서 λ ∈ {0.1, 1, 10}을 비교하라. λ=10에서 무엇이 일어나는가? 학습 로그의 sl, ce_f 값으로 설명하라.</a:t>
            </a:r>
            <a:endParaRPr lang="en-US" sz="1400" dirty="0"/>
          </a:p>
        </p:txBody>
      </p:sp>
      <p:sp>
        <p:nvSpPr>
          <p:cNvPr id="8" name="card"/>
          <p:cNvSpPr/>
          <p:nvPr/>
        </p:nvSpPr>
        <p:spPr>
          <a:xfrm>
            <a:off x="6172200" y="1371600"/>
            <a:ext cx="5440680" cy="2057400"/>
          </a:xfrm>
          <a:prstGeom prst="roundRect">
            <a:avLst>
              <a:gd name="adj" fmla="val 5333"/>
            </a:avLst>
          </a:prstGeom>
          <a:solidFill>
            <a:srgbClr val="F1F4F8"/>
          </a:solidFill>
          <a:ln w="12700">
            <a:solidFill>
              <a:srgbClr val="F1F4F8"/>
            </a:solidFill>
            <a:prstDash val="solid"/>
          </a:ln>
        </p:spPr>
      </p:sp>
      <p:sp>
        <p:nvSpPr>
          <p:cNvPr id="9" name="tag"/>
          <p:cNvSpPr/>
          <p:nvPr/>
        </p:nvSpPr>
        <p:spPr>
          <a:xfrm>
            <a:off x="6400800" y="1600200"/>
            <a:ext cx="384048" cy="384048"/>
          </a:xfrm>
          <a:prstGeom prst="ellipse">
            <a:avLst/>
          </a:prstGeom>
          <a:solidFill>
            <a:srgbClr val="2A78D6"/>
          </a:solidFill>
          <a:ln w="12700">
            <a:solidFill>
              <a:srgbClr val="2A78D6"/>
            </a:solidFill>
            <a:prstDash val="solid"/>
          </a:ln>
        </p:spPr>
      </p:sp>
      <p:sp>
        <p:nvSpPr>
          <p:cNvPr id="10" name="Text 8"/>
          <p:cNvSpPr txBox="1"/>
          <p:nvPr/>
        </p:nvSpPr>
        <p:spPr>
          <a:xfrm>
            <a:off x="640080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B</a:t>
            </a:r>
            <a:endParaRPr lang="en-US" sz="1300" dirty="0"/>
          </a:p>
        </p:txBody>
      </p:sp>
      <p:sp>
        <p:nvSpPr>
          <p:cNvPr id="11" name="Text 9"/>
          <p:cNvSpPr txBox="1"/>
          <p:nvPr/>
        </p:nvSpPr>
        <p:spPr>
          <a:xfrm>
            <a:off x="6903720" y="157276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라벨 비율 곡선</a:t>
            </a:r>
            <a:endParaRPr lang="en-US" sz="1800" dirty="0"/>
          </a:p>
        </p:txBody>
      </p:sp>
      <p:sp>
        <p:nvSpPr>
          <p:cNvPr id="12" name="Text 10"/>
          <p:cNvSpPr txBox="1"/>
          <p:nvPr/>
        </p:nvSpPr>
        <p:spPr>
          <a:xfrm>
            <a:off x="6400800" y="2103120"/>
            <a:ext cx="4983480" cy="118872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--label-frac을 0.05, 0.1, 0.25로 바꿔 semi 설정에서 ce_both와 ce_both_sl의 차이를 그래프로 그려라. 라벨이 많아질수록 이득은 어떻게 변하는가?</a:t>
            </a:r>
            <a:endParaRPr lang="en-US" sz="1400" dirty="0"/>
          </a:p>
        </p:txBody>
      </p:sp>
      <p:sp>
        <p:nvSpPr>
          <p:cNvPr id="13" name="card"/>
          <p:cNvSpPr/>
          <p:nvPr/>
        </p:nvSpPr>
        <p:spPr>
          <a:xfrm>
            <a:off x="548640" y="3657600"/>
            <a:ext cx="5440680" cy="2057400"/>
          </a:xfrm>
          <a:prstGeom prst="roundRect">
            <a:avLst>
              <a:gd name="adj" fmla="val 5333"/>
            </a:avLst>
          </a:prstGeom>
          <a:solidFill>
            <a:srgbClr val="F1F4F8"/>
          </a:solidFill>
          <a:ln w="12700">
            <a:solidFill>
              <a:srgbClr val="F1F4F8"/>
            </a:solidFill>
            <a:prstDash val="solid"/>
          </a:ln>
        </p:spPr>
      </p:sp>
      <p:sp>
        <p:nvSpPr>
          <p:cNvPr id="14" name="tag"/>
          <p:cNvSpPr/>
          <p:nvPr/>
        </p:nvSpPr>
        <p:spPr>
          <a:xfrm>
            <a:off x="777240" y="3886200"/>
            <a:ext cx="384048" cy="384048"/>
          </a:xfrm>
          <a:prstGeom prst="ellipse">
            <a:avLst/>
          </a:prstGeom>
          <a:solidFill>
            <a:srgbClr val="EB6834"/>
          </a:solidFill>
          <a:ln w="12700">
            <a:solidFill>
              <a:srgbClr val="EB6834"/>
            </a:solidFill>
            <a:prstDash val="solid"/>
          </a:ln>
        </p:spPr>
      </p:sp>
      <p:sp>
        <p:nvSpPr>
          <p:cNvPr id="15" name="Text 13"/>
          <p:cNvSpPr txBox="1"/>
          <p:nvPr/>
        </p:nvSpPr>
        <p:spPr>
          <a:xfrm>
            <a:off x="77724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a:t>
            </a:r>
            <a:endParaRPr lang="en-US" sz="1300" dirty="0"/>
          </a:p>
        </p:txBody>
      </p:sp>
      <p:sp>
        <p:nvSpPr>
          <p:cNvPr id="16" name="Text 14"/>
          <p:cNvSpPr txBox="1"/>
          <p:nvPr/>
        </p:nvSpPr>
        <p:spPr>
          <a:xfrm>
            <a:off x="1280160" y="385876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새 규칙의 닫힌 형태</a:t>
            </a:r>
            <a:endParaRPr lang="en-US" sz="1800" dirty="0"/>
          </a:p>
        </p:txBody>
      </p:sp>
      <p:sp>
        <p:nvSpPr>
          <p:cNvPr id="17" name="Text 15"/>
          <p:cNvSpPr txBox="1"/>
          <p:nvPr/>
        </p:nvSpPr>
        <p:spPr>
          <a:xfrm>
            <a:off x="777240" y="4389120"/>
            <a:ext cx="4983480" cy="118872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"at-most-one" 제약(최대 하나만 참)의 log Pr를 logsumexp/softplus로 유도하고, wmc_bruteforce와 대조하는 테스트를 작성하라.</a:t>
            </a:r>
            <a:endParaRPr lang="en-US" sz="1400" dirty="0"/>
          </a:p>
        </p:txBody>
      </p:sp>
      <p:sp>
        <p:nvSpPr>
          <p:cNvPr id="18" name="card"/>
          <p:cNvSpPr/>
          <p:nvPr/>
        </p:nvSpPr>
        <p:spPr>
          <a:xfrm>
            <a:off x="6172200" y="3657600"/>
            <a:ext cx="5440680" cy="2057400"/>
          </a:xfrm>
          <a:prstGeom prst="roundRect">
            <a:avLst>
              <a:gd name="adj" fmla="val 5333"/>
            </a:avLst>
          </a:prstGeom>
          <a:solidFill>
            <a:srgbClr val="F1F4F8"/>
          </a:solidFill>
          <a:ln w="12700">
            <a:solidFill>
              <a:srgbClr val="F1F4F8"/>
            </a:solidFill>
            <a:prstDash val="solid"/>
          </a:ln>
        </p:spPr>
      </p:sp>
      <p:sp>
        <p:nvSpPr>
          <p:cNvPr id="19" name="tag"/>
          <p:cNvSpPr/>
          <p:nvPr/>
        </p:nvSpPr>
        <p:spPr>
          <a:xfrm>
            <a:off x="6400800" y="3886200"/>
            <a:ext cx="384048" cy="384048"/>
          </a:xfrm>
          <a:prstGeom prst="ellipse">
            <a:avLst/>
          </a:prstGeom>
          <a:solidFill>
            <a:srgbClr val="EB6834"/>
          </a:solidFill>
          <a:ln w="12700">
            <a:solidFill>
              <a:srgbClr val="EB6834"/>
            </a:solidFill>
            <a:prstDash val="solid"/>
          </a:ln>
        </p:spPr>
      </p:sp>
      <p:sp>
        <p:nvSpPr>
          <p:cNvPr id="20" name="Text 18"/>
          <p:cNvSpPr txBox="1"/>
          <p:nvPr/>
        </p:nvSpPr>
        <p:spPr>
          <a:xfrm>
            <a:off x="6400800" y="3886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A</a:t>
            </a:r>
            <a:endParaRPr lang="en-US" sz="1300" dirty="0"/>
          </a:p>
        </p:txBody>
      </p:sp>
      <p:sp>
        <p:nvSpPr>
          <p:cNvPr id="21" name="Text 19"/>
          <p:cNvSpPr txBox="1"/>
          <p:nvPr/>
        </p:nvSpPr>
        <p:spPr>
          <a:xfrm>
            <a:off x="6903720" y="3858768"/>
            <a:ext cx="4526280" cy="438912"/>
          </a:xfrm>
          <a:prstGeom prst="rect">
            <a:avLst/>
          </a:prstGeom>
          <a:noFill/>
          <a:ln/>
        </p:spPr>
        <p:txBody>
          <a:bodyPr wrap="square" lIns="0" tIns="0" rIns="0" bIns="0" rtlCol="0" anchor="ctr"/>
          <a:lstStyle/>
          <a:p>
            <a:pPr indent="0" marL="0">
              <a:buNone/>
            </a:pPr>
            <a:r>
              <a:rPr lang="en-US" sz="1800" b="1" dirty="0">
                <a:solidFill>
                  <a:srgbClr val="1F2933"/>
                </a:solidFill>
              </a:rPr>
              <a:t>다른 지식 베이스</a:t>
            </a:r>
            <a:endParaRPr lang="en-US" sz="1800" dirty="0"/>
          </a:p>
        </p:txBody>
      </p:sp>
      <p:sp>
        <p:nvSpPr>
          <p:cNvPr id="22" name="Text 20"/>
          <p:cNvSpPr txBox="1"/>
          <p:nvPr/>
        </p:nvSpPr>
        <p:spPr>
          <a:xfrm>
            <a:off x="6400800" y="4389120"/>
            <a:ext cx="4983480" cy="1188720"/>
          </a:xfrm>
          <a:prstGeom prst="rect">
            <a:avLst/>
          </a:prstGeom>
          <a:noFill/>
          <a:ln/>
        </p:spPr>
        <p:txBody>
          <a:bodyPr wrap="square" lIns="0" tIns="0" rIns="0" bIns="0" rtlCol="0" anchor="t"/>
          <a:lstStyle/>
          <a:p>
            <a:pPr indent="0" marL="0">
              <a:spcAft>
                <a:spcPts val="600"/>
              </a:spcAft>
              <a:buNone/>
            </a:pPr>
            <a:r>
              <a:rPr lang="en-US" sz="1400" dirty="0">
                <a:solidFill>
                  <a:srgbClr val="1F2933"/>
                </a:solidFill>
              </a:rPr>
              <a:t>AwA2(동물-속성 행렬)에서 "bat → flys" 같은 함의 규칙을 생성해 같은 실험 틀을 적용하라. 닫힌 형태가 없으면 어떻게 계산할 것인가?</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B8794"/>
                </a:solidFill>
              </a:defRPr>
            </a:lvl1pPr>
          </a:lstStyle>
          <a:p>
            <a:pPr algn="r"/>
            <a:fld id="{F7021451-1387-4CA6-816F-3879F97B5CBC}" type="slidenum">
              <a:rPr b="0" lang="en-US"/>
              <a:t>60</a:t>
            </a:fld>
            <a:endParaRPr lang="en-US"/>
          </a:p>
        </p:txBody>
      </p:sp>
    </p:spTree>
  </p:cSld>
  <p:clrMapOvr>
    <a:masterClrMapping/>
  </p:clrMapOvr>
</p:sld>
</file>

<file path=ppt/theme/theme1.xml><?xml version="1.0" encoding="utf-8"?>
<a:theme xmlns:a="http://schemas.openxmlformats.org/drawingml/2006/main" name="Semantic Loss Lecture">
  <a:themeElements>
    <a:clrScheme name="Semantic Loss Lecture">
      <a:dk1>
        <a:srgbClr val="1F2933"/>
      </a:dk1>
      <a:lt1>
        <a:srgbClr val="FFFFFF"/>
      </a:lt1>
      <a:dk2>
        <a:srgbClr val="14202E"/>
      </a:dk2>
      <a:lt2>
        <a:srgbClr val="F1F4F8"/>
      </a:lt2>
      <a:accent1>
        <a:srgbClr val="2A78D6"/>
      </a:accent1>
      <a:accent2>
        <a:srgbClr val="EB6834"/>
      </a:accent2>
      <a:accent3>
        <a:srgbClr val="1BAF7A"/>
      </a:accent3>
      <a:accent4>
        <a:srgbClr val="4A3AA7"/>
      </a:accent4>
      <a:accent5>
        <a:srgbClr val="EDA100"/>
      </a:accent5>
      <a:accent6>
        <a:srgbClr val="52606D"/>
      </a:accent6>
      <a:hlink>
        <a:srgbClr val="2A78D6"/>
      </a:hlink>
      <a:folHlink>
        <a:srgbClr val="4A3AA7"/>
      </a:folHlink>
    </a:clrScheme>
    <a:fontScheme name="Semantic Loss Lectur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의미 손실(Semantic Loss)로 규칙을 학습하는 신경망</dc:title>
  <dc:subject>PptxGenJS Presentation</dc:subject>
  <dc:creator>Sangun Park</dc:creator>
  <cp:lastModifiedBy>Sangun Park</cp:lastModifiedBy>
  <cp:revision>1</cp:revision>
  <dcterms:created xsi:type="dcterms:W3CDTF">2026-10-05T05:26:06Z</dcterms:created>
  <dcterms:modified xsi:type="dcterms:W3CDTF">2026-10-05T05:26:06Z</dcterms:modified>
</cp:coreProperties>
</file>